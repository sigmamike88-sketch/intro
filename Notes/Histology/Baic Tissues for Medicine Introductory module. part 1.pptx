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notesMasters/notesMaster1.xml" ContentType="application/vnd.openxmlformats-officedocument.presentationml.notesMaster+xml"/>
  <Override PartName="/ppt/theme/theme6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7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  <p:sldMasterId id="2147483660" r:id="rId2"/>
    <p:sldMasterId id="2147483661" r:id="rId3"/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1" snapVertSplitter="0" vertBarState="restored" horzBarState="restored" preferSingleView="0">
    <p:restoredLeft sz="15620"/>
    <p:restoredTop sz="98255" autoAdjust="0"/>
  </p:normalViewPr>
  <p:slideViewPr>
    <p:cSldViewPr showGuides="0" snapToGrid="1" snapToObjects="0">
      <p:cViewPr varScale="0">
        <p:scale>
          <a:sx n="69" d="100"/>
          <a:sy n="69" d="100"/>
        </p:scale>
        <p:origin x="-1314" y="-120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tableStyles" Target="tableStyles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258" name="Header Placeholder 1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9259" name="Date Placeholder 2"/>
          <p:cNvSpPr/>
          <p:nvPr>
            <p:ph type="dt" sz="full" idx="1"/>
          </p:nvPr>
        </p:nvSpPr>
        <p:spPr>
          <a:xfrm rot="0"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vl="0"/>
            <a:fld id="{566ABCEB-ACFC-4714-9973-3DA970169C29}" type="datetime1">
              <a:rPr altLang="en-US" sz="1200" lang="en-US"/>
              <a:pPr algn="r" eaLnBrk="1" hangingPunct="1" lvl="0"/>
            </a:fld>
            <a:endParaRPr altLang="en-US" sz="1200" lang="en-US"/>
          </a:p>
        </p:txBody>
      </p:sp>
      <p:sp>
        <p:nvSpPr>
          <p:cNvPr id="1049260" name="Slide Image Placeholder 3"/>
          <p:cNvSpPr/>
          <p:nvPr>
            <p:ph type="sldImg" sz="full" idx="2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9261" name="Notes Placeholder 4"/>
          <p:cNvSpPr/>
          <p:nvPr>
            <p:ph type="body" sz="quarter" idx="3"/>
          </p:nvPr>
        </p:nvSpPr>
        <p:spPr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9262" name="Footer Placeholder 5"/>
          <p:cNvSpPr/>
          <p:nvPr>
            <p:ph type="ftr" sz="quarter" idx="4"/>
          </p:nvPr>
        </p:nvSpPr>
        <p:spPr>
          <a:xfrm rot="0"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9263" name="Slide Number Placeholder 6"/>
          <p:cNvSpPr/>
          <p:nvPr>
            <p:ph type="sldNum" sz="quarter" idx="5"/>
          </p:nvPr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/>
              <a:pPr algn="r" eaLnBrk="1" hangingPunct="1" lvl="0"/>
            </a:fld>
            <a:endParaRPr altLang="en-US" sz="1200" lang="en-US"/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Arial" pitchFamily="0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2" name="Slide Image Placeholder 1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583" name="Notes Placeholder 2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>
              <a:spcBef>
                <a:spcPct val="0"/>
              </a:spcBef>
            </a:pPr>
            <a:endParaRPr altLang="en-US" lang="en-US"/>
          </a:p>
        </p:txBody>
      </p:sp>
      <p:sp>
        <p:nvSpPr>
          <p:cNvPr id="1048584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>
              <a:spcBef>
                <a:spcPct val="0"/>
              </a:spcBef>
            </a:pPr>
            <a:fld id="{566ABCEB-ACFC-4714-9973-3DA970169C29}" type="slidenum">
              <a:rPr altLang="en-US" lang="en-US">
                <a:latin typeface="Arial" pitchFamily="0" charset="0"/>
                <a:ea typeface="Arial" pitchFamily="0" charset="0"/>
              </a:rPr>
              <a:pPr algn="r" eaLnBrk="1" hangingPunct="1" lvl="0">
                <a:spcBef>
                  <a:spcPct val="0"/>
                </a:spcBef>
              </a:pPr>
            </a:fld>
            <a:endParaRPr altLang="en-US" lang="en-US">
              <a:latin typeface="Arial" pitchFamily="0" charset="0"/>
              <a:ea typeface="Arial" pitchFamily="0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4" name="Slide Image Placeholder 1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65" name="Notes Placeholder 2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66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>
              <a:spcBef>
                <a:spcPct val="0"/>
              </a:spcBef>
            </a:pPr>
            <a:fld id="{566ABCEB-ACFC-4714-9973-3DA970169C29}" type="slidenum">
              <a:rPr altLang="en-US" lang="en-US">
                <a:latin typeface="Arial" pitchFamily="0" charset="0"/>
                <a:ea typeface="Arial" pitchFamily="0" charset="0"/>
              </a:rPr>
              <a:pPr algn="r" eaLnBrk="1" hangingPunct="1" lvl="0">
                <a:spcBef>
                  <a:spcPct val="0"/>
                </a:spcBef>
              </a:pPr>
            </a:fld>
            <a:endParaRPr altLang="en-US" lang="en-US">
              <a:latin typeface="Arial" pitchFamily="0" charset="0"/>
              <a:ea typeface="Arial" pitchFamily="0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8" name="Slide Image Placeholder 1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69" name="Notes Placeholder 2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70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>
              <a:spcBef>
                <a:spcPct val="0"/>
              </a:spcBef>
            </a:pPr>
            <a:fld id="{566ABCEB-ACFC-4714-9973-3DA970169C29}" type="slidenum">
              <a:rPr altLang="en-US" lang="en-US">
                <a:latin typeface="Arial" pitchFamily="0" charset="0"/>
                <a:ea typeface="Arial" pitchFamily="0" charset="0"/>
              </a:rPr>
              <a:pPr algn="r" eaLnBrk="1" hangingPunct="1" lvl="0">
                <a:spcBef>
                  <a:spcPct val="0"/>
                </a:spcBef>
              </a:pPr>
            </a:fld>
            <a:endParaRPr altLang="en-US" lang="en-US">
              <a:latin typeface="Arial" pitchFamily="0" charset="0"/>
              <a:ea typeface="Arial" pitchFamily="0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5" name="Rectangle 7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>
              <a:spcBef>
                <a:spcPct val="0"/>
              </a:spcBef>
            </a:pPr>
            <a:fld id="{566ABCEB-ACFC-4714-9973-3DA970169C29}" type="slidenum">
              <a:rPr altLang="en-US" lang="en-US">
                <a:latin typeface="Arial" pitchFamily="0" charset="0"/>
                <a:ea typeface="Arial" pitchFamily="0" charset="0"/>
              </a:rPr>
              <a:pPr algn="r" eaLnBrk="1" hangingPunct="1" lvl="0">
                <a:spcBef>
                  <a:spcPct val="0"/>
                </a:spcBef>
              </a:pPr>
            </a:fld>
            <a:endParaRPr altLang="en-US" lang="en-US">
              <a:latin typeface="Arial" pitchFamily="0" charset="0"/>
              <a:ea typeface="Arial" pitchFamily="0" charset="0"/>
            </a:endParaRPr>
          </a:p>
        </p:txBody>
      </p:sp>
      <p:sp>
        <p:nvSpPr>
          <p:cNvPr id="1048796" name="Rectangle 2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97" name="Rectangle 3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lang="af-Z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4" name="Rectangle 7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>
              <a:spcBef>
                <a:spcPct val="0"/>
              </a:spcBef>
            </a:pPr>
            <a:fld id="{566ABCEB-ACFC-4714-9973-3DA970169C29}" type="slidenum">
              <a:rPr altLang="en-US" lang="en-US">
                <a:latin typeface="Arial" pitchFamily="0" charset="0"/>
                <a:ea typeface="Arial" pitchFamily="0" charset="0"/>
              </a:rPr>
              <a:pPr algn="r" eaLnBrk="1" hangingPunct="1" lvl="0">
                <a:spcBef>
                  <a:spcPct val="0"/>
                </a:spcBef>
              </a:pPr>
            </a:fld>
            <a:endParaRPr altLang="en-US" lang="en-US">
              <a:latin typeface="Arial" pitchFamily="0" charset="0"/>
              <a:ea typeface="Arial" pitchFamily="0" charset="0"/>
            </a:endParaRPr>
          </a:p>
        </p:txBody>
      </p:sp>
      <p:sp>
        <p:nvSpPr>
          <p:cNvPr id="1048855" name="Rectangle 2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56" name="Rectangle 3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lang="af-ZA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5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4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5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5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4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4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4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3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3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4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24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5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3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3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2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593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594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59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9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7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94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95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96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6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58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59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60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6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6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6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71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72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73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7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7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7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94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95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96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0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0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9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9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6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07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08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2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03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04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6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219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20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21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2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2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2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7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01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02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03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0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0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rtlCol="0" tIns="45720" vert="horz" wrap="square">
            <a:prstTxWarp prst="textNoShape"/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</a:pPr>
            <a:endParaRPr baseline="0" b="0" cap="none" sz="3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00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3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3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3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4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9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00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01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0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0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2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10" name="Rectangle 6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11" name="Rectangle 7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12" name="Rectangle 8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1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14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1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19" name="Rectangle 4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20" name="Rectangle 5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21" name="Rectangle 6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2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2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2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52" name="Rectangle 4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53" name="Rectangle 5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54" name="Rectangle 6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55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2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83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84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8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8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1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1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2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3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85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86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87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8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8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3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74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75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1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00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01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02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0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0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0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0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4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4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4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4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6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27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28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55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56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57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6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5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5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44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45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46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4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4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rtlCol="0" tIns="45720" vert="horz" wrap="square">
            <a:prstTxWarp prst="textNoShape"/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</a:pPr>
            <a:endParaRPr baseline="0" b="0" cap="none" sz="3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94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3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2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93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94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9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12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13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14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1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92" name="Rectangle 6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93" name="Rectangle 7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94" name="Rectangle 8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9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96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9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3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38" name="Rectangle 4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39" name="Rectangle 5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40" name="Rectangle 6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44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43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42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4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24" name="Rectangle 4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25" name="Rectangle 5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26" name="Rectangle 6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27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7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63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64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65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6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6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3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54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55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5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4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73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74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75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7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7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79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80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81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8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8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22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2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2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3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3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3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3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6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65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66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67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6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4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75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76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9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53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54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55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5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5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5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5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86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87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88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9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9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rtlCol="0" tIns="45720" vert="horz" wrap="square">
            <a:prstTxWarp prst="textNoShape"/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</a:pPr>
            <a:endParaRPr baseline="0" b="0" cap="none" sz="3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18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8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8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8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9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0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6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6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6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7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204" name="Rectangle 6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05" name="Rectangle 7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06" name="Rectangle 8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0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08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0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28" name="Rectangle 4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29" name="Rectangle 5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30" name="Rectangle 6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934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33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32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61" name="Rectangle 4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62" name="Rectangle 5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63" name="Rectangle 6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64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1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3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3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883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840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0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24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25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8826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2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8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09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10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011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1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1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0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74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75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076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7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7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7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63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64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165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7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6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6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6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80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81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182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8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1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5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6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8847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4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4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14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5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5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15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30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31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132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3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13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rtlCol="0" tIns="45720" vert="horz" wrap="square">
            <a:prstTxWarp prst="textNoShape"/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</a:pPr>
            <a:endParaRPr baseline="0" b="0" cap="none" sz="3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13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8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16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17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018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2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5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212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13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214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2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9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30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31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032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36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35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34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33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9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39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40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041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4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4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18" name="Date Placeholder 2"/>
          <p:cNvSpPr/>
          <p:nvPr>
            <p:ph type="dt" sz="half" idx="2"/>
          </p:nvPr>
        </p:nvSpPr>
        <p:spPr>
          <a:xfrm rot="0">
            <a:off x="457200" y="6248400"/>
            <a:ext cx="2133600" cy="4572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19" name="Footer Placeholder 3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120" name="Slide Number Placeholder 4"/>
          <p:cNvSpPr/>
          <p:nvPr>
            <p:ph type="sldNum" sz="quarter" idx="4"/>
          </p:nvPr>
        </p:nvSpPr>
        <p:spPr>
          <a:xfrm rot="0">
            <a:off x="6553200" y="6248400"/>
            <a:ext cx="2133600" cy="4572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121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21362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23" name="Rectangle 4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24" name="Rectangle 5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GB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025" name="Rectangle 6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GB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GB">
              <a:solidFill>
                <a:srgbClr val="898989"/>
              </a:solidFill>
            </a:endParaRPr>
          </a:p>
        </p:txBody>
      </p:sp>
      <p:sp>
        <p:nvSpPr>
          <p:cNvPr id="1049027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 anchor="t" anchorCtr="0" bIns="45720" compatLnSpc="1" lIns="91440" numCol="1" rIns="91440" rtlCol="0" tIns="45720" vert="horz" wrap="square">
            <a:prstTxWarp prst="textNoShape"/>
            <a:normAutofit/>
          </a:bodyPr>
          <a:p>
            <a:pPr algn="l" defTabSz="914400" eaLnBrk="0" fontAlgn="base" hangingPunct="0" indent="-342900" latinLnBrk="0" lvl="0" marL="34290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</a:pPr>
            <a:endParaRPr baseline="0" b="0" cap="none" sz="3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0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1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82" name="Rectangle 4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9083" name="Rectangle 5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9084" name="Rectangle 6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ar-SA">
                <a:solidFill>
                  <a:srgbClr val="898989"/>
                </a:solidFill>
              </a:rPr>
              <a:pPr algn="r" eaLnBrk="1" hangingPunct="1" lvl="0"/>
            </a:fld>
            <a:endParaRPr altLang="en-US" sz="1200" lang="ar-SA">
              <a:solidFill>
                <a:srgbClr val="898989"/>
              </a:solidFill>
            </a:endParaRPr>
          </a:p>
        </p:txBody>
      </p:sp>
      <p:sp>
        <p:nvSpPr>
          <p:cNvPr id="1049089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88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87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8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85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theme" Target="../theme/theme3.xml"/></Relationships>
</file>

<file path=ppt/slideMasters/_rels/slideMaster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9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3.xml"/><Relationship Id="rId15" Type="http://schemas.openxmlformats.org/officeDocument/2006/relationships/theme" Target="../theme/theme4.xml"/></Relationships>
</file>

<file path=ppt/slideMasters/_rels/slideMaster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blipFill rotWithShape="0">
          <a:blip xmlns:r="http://schemas.openxmlformats.org/officeDocument/2006/relationships" r:embed="rId12">
            <a:alphaModFix amt="100000"/>
          </a:blip>
          <a:srcRect/>
          <a:tile algn="tl" flip="none" sx="100000" sy="100000" tx="0" ty="0"/>
        </a:blipFill>
      </p:bgPr>
    </p:bg>
    <p:spTree>
      <p:nvGrpSpPr>
        <p:cNvPr id="8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2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77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1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5" name="Title Placeholder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86" name="Text Placeholder 2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87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588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589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1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0" name="Title Placeholder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611" name="Text Placeholder 2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612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13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614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1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6" name="Title Placeholder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747" name="Text Placeholder 2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748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49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750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20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17" name="Title Placeholder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818" name="Text Placeholder 2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819" name="Date Placeholder 3"/>
          <p:cNvSpPr/>
          <p:nvPr>
            <p:ph type="dt" sz="half" idx="2"/>
          </p:nvPr>
        </p:nvSpPr>
        <p:spPr>
          <a:xfrm rot="0"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20" name="Footer Placeholder 4"/>
          <p:cNvSpPr/>
          <p:nvPr>
            <p:ph type="ftr" sz="quarter" idx="3"/>
          </p:nvPr>
        </p:nvSpPr>
        <p:spPr>
          <a:xfrm rot="0"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ctr" eaLnBrk="1" hangingPunct="1" lvl="0"/>
            <a:r>
              <a:rPr altLang="en-US" sz="1200" lang="en-US">
                <a:solidFill>
                  <a:srgbClr val="898989"/>
                </a:solidFill>
              </a:rPr>
              <a:t>Assist. Prof. Kesorn Sripaoraya</a:t>
            </a:r>
          </a:p>
        </p:txBody>
      </p:sp>
      <p:sp>
        <p:nvSpPr>
          <p:cNvPr id="1048821" name="Slide Number Placeholder 5"/>
          <p:cNvSpPr/>
          <p:nvPr>
            <p:ph type="sldNum" sz="quarter" idx="4"/>
          </p:nvPr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</p:sldLayoutIdLst>
  <p:hf dt="0" ftr="0" hd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2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29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image" Target="../media/image22.jpeg"/><Relationship Id="rId5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28.wmf"/><Relationship Id="rId2" Type="http://schemas.openxmlformats.org/officeDocument/2006/relationships/slideLayout" Target="../slideLayouts/slideLayout4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46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jpeg"/><Relationship Id="rId3" Type="http://schemas.openxmlformats.org/officeDocument/2006/relationships/slideLayout" Target="../slideLayouts/slideLayout4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4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4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4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46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46.xml"/><Relationship Id="rId3" Type="http://schemas.openxmlformats.org/officeDocument/2006/relationships/notesSlide" Target="../notesSlides/notesSlide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4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4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55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5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60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60.xml"/><Relationship Id="rId3" Type="http://schemas.openxmlformats.org/officeDocument/2006/relationships/notesSlide" Target="../notesSlides/notesSlide5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5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55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60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1" name="TextBox 4"/>
          <p:cNvSpPr txBox="1"/>
          <p:nvPr/>
        </p:nvSpPr>
        <p:spPr>
          <a:xfrm rot="0">
            <a:off x="1912937" y="2041525"/>
            <a:ext cx="4107181" cy="815341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FontTx/>
              <a:buNone/>
            </a:pPr>
            <a:r>
              <a:rPr altLang="en-US" sz="4800" lang="en-US">
                <a:solidFill>
                  <a:srgbClr val="003399"/>
                </a:solidFill>
                <a:latin typeface="Cooper Black" pitchFamily="18" charset="0"/>
              </a:rPr>
              <a:t>Basic Tissues </a:t>
            </a:r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3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7" name="Title 1"/>
          <p:cNvSpPr/>
          <p:nvPr>
            <p:ph type="ctrTitle" sz="full" idx="0"/>
          </p:nvPr>
        </p:nvSpPr>
        <p:spPr>
          <a:xfrm rot="0">
            <a:off x="619125" y="0"/>
            <a:ext cx="8524875" cy="571500"/>
          </a:xfrm>
          <a:prstGeom prst="rect"/>
          <a:gradFill rotWithShape="1">
            <a:gsLst>
              <a:gs pos="0">
                <a:srgbClr val="A3C4FF">
                  <a:alpha val="100000"/>
                </a:srgbClr>
              </a:gs>
              <a:gs pos="0">
                <a:srgbClr val="A3C4FF">
                  <a:alpha val="100000"/>
                </a:srgbClr>
              </a:gs>
              <a:gs pos="35001">
                <a:srgbClr val="BFD5FF">
                  <a:alpha val="100000"/>
                </a:srgbClr>
              </a:gs>
              <a:gs pos="100000">
                <a:srgbClr val="E5EEFF">
                  <a:alpha val="100000"/>
                </a:srgbClr>
              </a:gs>
            </a:gsLst>
            <a:lin ang="16200000" scaled="1"/>
          </a:gradFill>
          <a:ln>
            <a:noFill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t" bIns="45720" lIns="91440" rIns="91440" tIns="45720" vert="horz"/>
          <a:lstStyle>
            <a:lvl1pPr algn="ctr">
              <a:defRPr sz="4400"/>
            </a:lvl1pPr>
          </a:lstStyle>
          <a:p>
            <a:pPr lvl="0"/>
            <a:r>
              <a:rPr altLang="en-US" b="1" sz="3600" lang="en-US">
                <a:solidFill>
                  <a:srgbClr val="FF0000"/>
                </a:solidFill>
              </a:rPr>
              <a:t>TISSUE </a:t>
            </a:r>
            <a:r>
              <a:rPr altLang="en-US" b="1" sz="2800" lang="en-GB">
                <a:solidFill>
                  <a:srgbClr val="FF0000"/>
                </a:solidFill>
              </a:rPr>
              <a:t>[Fr. Tissu, Woven; L. Texo, to Weave] </a:t>
            </a:r>
          </a:p>
        </p:txBody>
      </p:sp>
      <p:sp>
        <p:nvSpPr>
          <p:cNvPr id="1048598" name="Subtitle 2"/>
          <p:cNvSpPr/>
          <p:nvPr>
            <p:ph type="subTitle" sz="full" idx="1"/>
          </p:nvPr>
        </p:nvSpPr>
        <p:spPr>
          <a:xfrm rot="0">
            <a:off x="50800" y="830262"/>
            <a:ext cx="9001125" cy="6027737"/>
          </a:xfrm>
          <a:prstGeom prst="rect"/>
          <a:gradFill rotWithShape="1">
            <a:gsLst>
              <a:gs pos="0">
                <a:srgbClr val="9EEAFF">
                  <a:alpha val="100000"/>
                </a:srgbClr>
              </a:gs>
              <a:gs pos="0">
                <a:srgbClr val="9EEAFF">
                  <a:alpha val="100000"/>
                </a:srgbClr>
              </a:gs>
              <a:gs pos="35001">
                <a:srgbClr val="BBEFFF">
                  <a:alpha val="100000"/>
                </a:srgbClr>
              </a:gs>
              <a:gs pos="100000">
                <a:srgbClr val="E4F9FF">
                  <a:alpha val="100000"/>
                </a:srgbClr>
              </a:gs>
            </a:gsLst>
            <a:lin ang="16200000" scaled="1"/>
          </a:gradFill>
          <a:ln w="9525" cap="flat" cmpd="sng">
            <a:solidFill>
              <a:srgbClr val="46AAC5">
                <a:alpha val="100000"/>
              </a:srgbClr>
            </a:solidFill>
            <a:prstDash val="solid"/>
            <a:round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t" bIns="45720" lIns="91440" rIns="91440" tIns="45720" vert="horz"/>
          <a:lstStyle>
            <a:lvl1pPr algn="ctr" marL="0"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None/>
            </a:lvl2pPr>
            <a:lvl3pPr algn="ctr" marL="914400">
              <a:buNone/>
            </a:lvl3pPr>
            <a:lvl4pPr algn="ctr" marL="1371600">
              <a:buNone/>
            </a:lvl4pPr>
            <a:lvl5pPr algn="ctr" marL="1828800">
              <a:buNone/>
            </a:lvl5pPr>
          </a:lstStyle>
          <a:p>
            <a:pPr algn="l" indent="-463550" lvl="0" marL="463550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400" lang="en-US">
                <a:solidFill>
                  <a:srgbClr val="FF0066"/>
                </a:solidFill>
              </a:rPr>
              <a:t>is a group of structurally and functionally closely related cells and their product (intercellular substance = ECM) specialized to perform specific function(s).</a:t>
            </a:r>
            <a:endParaRPr sz="2000"/>
          </a:p>
          <a:p>
            <a:pPr algn="l" indent="-463550" lvl="0" marL="463550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400" lang="en-US">
                <a:solidFill>
                  <a:srgbClr val="061DCA"/>
                </a:solidFill>
              </a:rPr>
              <a:t>Tissues are made of two interacting components: </a:t>
            </a:r>
            <a:r>
              <a:rPr altLang="en-US" b="1" sz="2400" lang="en-US">
                <a:solidFill>
                  <a:srgbClr val="061DCA"/>
                </a:solidFill>
              </a:rPr>
              <a:t>cells</a:t>
            </a:r>
            <a:r>
              <a:rPr altLang="en-US" sz="2400" lang="en-US">
                <a:solidFill>
                  <a:srgbClr val="061DCA"/>
                </a:solidFill>
              </a:rPr>
              <a:t> and intercellular substance known as </a:t>
            </a:r>
            <a:r>
              <a:rPr altLang="en-US" b="1" sz="2400" lang="en-US">
                <a:solidFill>
                  <a:srgbClr val="061DCA"/>
                </a:solidFill>
              </a:rPr>
              <a:t>extracellular matrix (ECM)</a:t>
            </a:r>
            <a:r>
              <a:rPr altLang="en-US" sz="2400" lang="en-US">
                <a:solidFill>
                  <a:srgbClr val="061DCA"/>
                </a:solidFill>
              </a:rPr>
              <a:t>.</a:t>
            </a:r>
            <a:endParaRPr sz="2000"/>
          </a:p>
          <a:p>
            <a:pPr algn="l" indent="-463550" lvl="0" marL="463550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400" lang="en-US">
                <a:solidFill>
                  <a:srgbClr val="9900FF"/>
                </a:solidFill>
              </a:rPr>
              <a:t>The </a:t>
            </a:r>
            <a:r>
              <a:rPr altLang="en-US" b="1" sz="2400" lang="en-US">
                <a:solidFill>
                  <a:srgbClr val="9900FF"/>
                </a:solidFill>
              </a:rPr>
              <a:t>ECM </a:t>
            </a:r>
            <a:r>
              <a:rPr altLang="en-US" sz="2400" lang="en-US">
                <a:solidFill>
                  <a:srgbClr val="9900FF"/>
                </a:solidFill>
              </a:rPr>
              <a:t>consists of many kinds of molecules, including </a:t>
            </a:r>
            <a:r>
              <a:rPr altLang="en-US" b="1" sz="2400" lang="en-US">
                <a:solidFill>
                  <a:srgbClr val="FF33CC"/>
                </a:solidFill>
              </a:rPr>
              <a:t>fibers</a:t>
            </a:r>
            <a:r>
              <a:rPr altLang="en-US" sz="2400" lang="en-US">
                <a:solidFill>
                  <a:srgbClr val="9900FF"/>
                </a:solidFill>
              </a:rPr>
              <a:t>, </a:t>
            </a:r>
            <a:r>
              <a:rPr altLang="en-US" b="1" sz="2400" lang="en-US">
                <a:solidFill>
                  <a:srgbClr val="FF33CC"/>
                </a:solidFill>
              </a:rPr>
              <a:t>ground substance </a:t>
            </a:r>
            <a:r>
              <a:rPr altLang="en-US" sz="2400" lang="en-US">
                <a:solidFill>
                  <a:srgbClr val="9900FF"/>
                </a:solidFill>
              </a:rPr>
              <a:t>(glycosaminoglycans, proteoglycans, glycoproteins) &amp; </a:t>
            </a:r>
            <a:r>
              <a:rPr altLang="en-US" b="1" sz="2400" lang="en-US">
                <a:solidFill>
                  <a:srgbClr val="FF33CC"/>
                </a:solidFill>
              </a:rPr>
              <a:t>tissue fluid.</a:t>
            </a:r>
            <a:endParaRPr sz="2000"/>
          </a:p>
          <a:p>
            <a:pPr algn="l" indent="-463550" lvl="0" marL="463550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b="1" sz="2400" lang="en-US">
                <a:solidFill>
                  <a:srgbClr val="FF33CC"/>
                </a:solidFill>
              </a:rPr>
              <a:t>Fibrillar ECM components usually organize and </a:t>
            </a:r>
            <a:r>
              <a:rPr altLang="en-US" sz="2400" lang="en-US">
                <a:solidFill>
                  <a:srgbClr val="9900FF"/>
                </a:solidFill>
              </a:rPr>
              <a:t>form complex structures, such as collagenous and elastic fibers bundles, external laminae </a:t>
            </a:r>
            <a:r>
              <a:rPr altLang="en-US" sz="2400" lang="en-US">
                <a:solidFill>
                  <a:srgbClr val="9900FF"/>
                </a:solidFill>
              </a:rPr>
              <a:t>and </a:t>
            </a:r>
            <a:r>
              <a:rPr altLang="en-US" sz="2400" lang="en-US">
                <a:solidFill>
                  <a:srgbClr val="9900FF"/>
                </a:solidFill>
              </a:rPr>
              <a:t>basement membranes. </a:t>
            </a:r>
            <a:endParaRPr sz="2000"/>
          </a:p>
          <a:p>
            <a:pPr algn="l" indent="-463550" lvl="0" marL="463550">
              <a:spcBef>
                <a:spcPts val="1800"/>
              </a:spcBef>
              <a:buFont typeface="Calibri" pitchFamily="34" charset="0"/>
              <a:buChar char="–"/>
            </a:pPr>
            <a:endParaRPr altLang="en-US" sz="2400" lang="en-US">
              <a:solidFill>
                <a:srgbClr val="FF0066"/>
              </a:solidFill>
            </a:endParaRPr>
          </a:p>
          <a:p>
            <a:pPr algn="l" indent="-463550" lvl="0" marL="463550">
              <a:spcBef>
                <a:spcPts val="1800"/>
              </a:spcBef>
              <a:buFont typeface="Calibri" pitchFamily="34" charset="0"/>
              <a:buChar char="–"/>
            </a:pPr>
            <a:endParaRPr altLang="en-US" b="1" sz="2400" lang="en-US">
              <a:solidFill>
                <a:srgbClr val="327666"/>
              </a:solidFill>
            </a:endParaRPr>
          </a:p>
          <a:p>
            <a:pPr algn="just" indent="-463550" lvl="0" marL="463550">
              <a:spcBef>
                <a:spcPts val="1800"/>
              </a:spcBef>
              <a:buFont typeface="Calibri" pitchFamily="34" charset="0"/>
              <a:buChar char="–"/>
            </a:pPr>
            <a:endParaRPr altLang="en-US" sz="2800" lang="en-US"/>
          </a:p>
        </p:txBody>
      </p:sp>
    </p:spTree>
  </p:cSld>
  <p:clrMapOvr>
    <a:masterClrMapping/>
  </p:clrMapOvr>
  <p:transition spd="med" advClick="1" advTm="22000"/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9" name="Subtitle 2"/>
          <p:cNvSpPr/>
          <p:nvPr>
            <p:ph type="subTitle" sz="full" idx="1"/>
          </p:nvPr>
        </p:nvSpPr>
        <p:spPr>
          <a:xfrm rot="21596352">
            <a:off x="115887" y="95250"/>
            <a:ext cx="8929688" cy="6637337"/>
          </a:xfrm>
          <a:prstGeom prst="rect"/>
          <a:gradFill rotWithShape="1">
            <a:gsLst>
              <a:gs pos="0">
                <a:srgbClr val="9EEAFF">
                  <a:alpha val="100000"/>
                </a:srgbClr>
              </a:gs>
              <a:gs pos="0">
                <a:srgbClr val="9EEAFF">
                  <a:alpha val="100000"/>
                </a:srgbClr>
              </a:gs>
              <a:gs pos="35001">
                <a:srgbClr val="BBEFFF">
                  <a:alpha val="100000"/>
                </a:srgbClr>
              </a:gs>
              <a:gs pos="100000">
                <a:srgbClr val="E4F9FF">
                  <a:alpha val="100000"/>
                </a:srgbClr>
              </a:gs>
            </a:gsLst>
            <a:lin ang="16200000" scaled="1"/>
          </a:gradFill>
          <a:ln w="9525" cap="flat" cmpd="sng">
            <a:solidFill>
              <a:srgbClr val="46AAC5">
                <a:alpha val="100000"/>
              </a:srgbClr>
            </a:solidFill>
            <a:prstDash val="solid"/>
            <a:round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t" bIns="45720" lIns="91440" rIns="91440" tIns="45720" vert="horz"/>
          <a:lstStyle>
            <a:lvl1pPr algn="ctr" marL="0"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None/>
            </a:lvl2pPr>
            <a:lvl3pPr algn="ctr" marL="914400">
              <a:buNone/>
            </a:lvl3pPr>
            <a:lvl4pPr algn="ctr" marL="1371600">
              <a:buNone/>
            </a:lvl4pPr>
            <a:lvl5pPr algn="ctr" marL="1828800">
              <a:buNone/>
            </a:lvl5pPr>
          </a:lstStyle>
          <a:p>
            <a:pPr algn="l" indent="0" lvl="0" marL="0">
              <a:spcBef>
                <a:spcPts val="1800"/>
              </a:spcBef>
              <a:buNone/>
            </a:pPr>
            <a:r>
              <a:rPr altLang="en-US" b="1" sz="2800" lang="en-US">
                <a:solidFill>
                  <a:srgbClr val="31859C"/>
                </a:solidFill>
              </a:rPr>
              <a:t>The Four</a:t>
            </a:r>
            <a:r>
              <a:rPr altLang="en-US" sz="2800" lang="en-US"/>
              <a:t> fundamental types of tissues are: </a:t>
            </a:r>
            <a:r>
              <a:rPr altLang="en-US" b="1" sz="2800" lang="en-US">
                <a:solidFill>
                  <a:srgbClr val="0070C0"/>
                </a:solidFill>
              </a:rPr>
              <a:t>epithelial  tissue, connective tissue, muscle tissue, and nervous tissue.</a:t>
            </a:r>
            <a:endParaRPr altLang="en-US" b="1" sz="2800" lang="en-US">
              <a:solidFill>
                <a:srgbClr val="0070C0"/>
              </a:solidFill>
            </a:endParaRPr>
          </a:p>
          <a:p>
            <a:pPr algn="l" lvl="0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b="1" sz="2800" lang="en-US">
                <a:solidFill>
                  <a:srgbClr val="9900FF"/>
                </a:solidFill>
              </a:rPr>
              <a:t> Each of the fundamental tissues:</a:t>
            </a:r>
            <a:endParaRPr altLang="en-US" b="1" sz="2800" lang="en-US">
              <a:solidFill>
                <a:srgbClr val="9900FF"/>
              </a:solidFill>
            </a:endParaRPr>
          </a:p>
          <a:p>
            <a:pPr algn="l" indent="-457200" lvl="2" marL="1082675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0070C0"/>
                </a:solidFill>
              </a:rPr>
              <a:t>is formed by several types of related cells and specific associations of cells and the extracellular matrix</a:t>
            </a:r>
            <a:endParaRPr altLang="en-US" sz="2800" lang="en-US">
              <a:solidFill>
                <a:srgbClr val="0070C0"/>
              </a:solidFill>
            </a:endParaRPr>
          </a:p>
          <a:p>
            <a:pPr algn="l" indent="-457200" lvl="2" marL="1082675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0070C0"/>
                </a:solidFill>
              </a:rPr>
              <a:t>exists not as isolated units but rather in association with one another and in variable proportions, forming different organs and systems of the body.</a:t>
            </a:r>
            <a:endParaRPr altLang="en-US" sz="2800" lang="en-US">
              <a:solidFill>
                <a:srgbClr val="0070C0"/>
              </a:solidFill>
            </a:endParaRPr>
          </a:p>
          <a:p>
            <a:pPr algn="l" lvl="0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800" lang="en-US"/>
              <a:t>These characteristic associations facilitate the recognition of the many subtypes of tissues. </a:t>
            </a:r>
            <a:endParaRPr altLang="en-US" sz="2800" lang="en-US"/>
          </a:p>
          <a:p>
            <a:pPr algn="l" lvl="0">
              <a:spcBef>
                <a:spcPts val="1800"/>
              </a:spcBef>
            </a:pPr>
            <a:endParaRPr altLang="en-US" sz="2800" lang="en-US"/>
          </a:p>
        </p:txBody>
      </p:sp>
    </p:spTree>
  </p:cSld>
  <p:clrMapOvr>
    <a:masterClrMapping/>
  </p:clrMapOvr>
  <p:transition spd="med" advClick="1"/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5" name="Text Box 4"/>
          <p:cNvSpPr txBox="1"/>
          <p:nvPr/>
        </p:nvSpPr>
        <p:spPr>
          <a:xfrm rot="0">
            <a:off x="357187" y="490537"/>
            <a:ext cx="8786812" cy="56413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342900" lvl="0" marL="342900">
              <a:spcBef>
                <a:spcPts val="1800"/>
              </a:spcBef>
            </a:pPr>
            <a:r>
              <a:rPr altLang="en-US" b="1" sz="4400" lang="en-US">
                <a:solidFill>
                  <a:srgbClr val="FF0066"/>
                </a:solidFill>
                <a:latin typeface="Calibri" pitchFamily="34" charset="0"/>
              </a:rPr>
              <a:t>The four basic types of tissues from superficial to deep are:</a:t>
            </a:r>
          </a:p>
          <a:p>
            <a:pPr eaLnBrk="1" hangingPunct="1" indent="-342900" lvl="0" marL="342900">
              <a:spcBef>
                <a:spcPts val="1800"/>
              </a:spcBef>
              <a:buFont typeface="Calibri" pitchFamily="34" charset="0"/>
              <a:buAutoNum type="arabicPeriod" startAt="1"/>
            </a:pPr>
            <a:r>
              <a:rPr altLang="en-US" b="1" sz="5400" lang="en-US">
                <a:solidFill>
                  <a:srgbClr val="9900FF"/>
                </a:solidFill>
                <a:latin typeface="Calibri" pitchFamily="34" charset="0"/>
              </a:rPr>
              <a:t>Epithelial tissue</a:t>
            </a:r>
          </a:p>
          <a:p>
            <a:pPr eaLnBrk="1" hangingPunct="1" indent="-342900" lvl="0" marL="342900">
              <a:buFont typeface="Calibri" pitchFamily="34" charset="0"/>
              <a:buAutoNum type="arabicPeriod" startAt="1"/>
            </a:pPr>
            <a:r>
              <a:rPr altLang="en-US" b="1" sz="5400" lang="en-US">
                <a:solidFill>
                  <a:srgbClr val="9900FF"/>
                </a:solidFill>
                <a:latin typeface="Calibri" pitchFamily="34" charset="0"/>
              </a:rPr>
              <a:t>Connective tissue</a:t>
            </a:r>
          </a:p>
          <a:p>
            <a:pPr eaLnBrk="1" hangingPunct="1" indent="-342900" lvl="0" marL="342900">
              <a:buFont typeface="Calibri" pitchFamily="34" charset="0"/>
              <a:buAutoNum type="arabicPeriod" startAt="1"/>
            </a:pPr>
            <a:r>
              <a:rPr altLang="en-US" b="1" sz="5400" lang="en-US">
                <a:solidFill>
                  <a:srgbClr val="9900FF"/>
                </a:solidFill>
                <a:latin typeface="Calibri" pitchFamily="34" charset="0"/>
              </a:rPr>
              <a:t>Nervous tissue</a:t>
            </a:r>
          </a:p>
          <a:p>
            <a:pPr eaLnBrk="1" hangingPunct="1" indent="-342900" lvl="0" marL="342900">
              <a:buFont typeface="Calibri" pitchFamily="34" charset="0"/>
              <a:buAutoNum type="arabicPeriod" startAt="1"/>
            </a:pPr>
            <a:r>
              <a:rPr altLang="en-US" b="1" sz="5400" lang="en-US">
                <a:solidFill>
                  <a:srgbClr val="9900FF"/>
                </a:solidFill>
                <a:latin typeface="Calibri" pitchFamily="34" charset="0"/>
              </a:rPr>
              <a:t>Muscle tissue</a:t>
            </a:r>
          </a:p>
          <a:p>
            <a:pPr eaLnBrk="1" hangingPunct="1" indent="-342900" lvl="0" marL="342900"/>
            <a:endParaRPr altLang="en-US" b="1" sz="5400" lang="en-US">
              <a:solidFill>
                <a:srgbClr val="9900FF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 advClick="1"/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6" name="WordArt 2"/>
          <p:cNvSpPr/>
          <p:nvPr/>
        </p:nvSpPr>
        <p:spPr>
          <a:xfrm rot="0">
            <a:off x="762000" y="609600"/>
            <a:ext cx="2886075" cy="533400"/>
          </a:xfrm>
          <a:prstGeom prst="rect"/>
        </p:spPr>
        <p:txBody>
          <a:bodyPr anchor="t" bIns="45720" fromWordArt="1" lIns="91440" rIns="91440" tIns="45720" vert="horz" wrap="none">
            <a:prstTxWarp prst="textPlain">
              <a:avLst>
                <a:gd fmla="val 50000" name="adj"/>
              </a:avLst>
            </a:prstTxWarp>
          </a:bodyPr>
          <a:p>
            <a:pPr algn="ctr"/>
            <a:r>
              <a:rPr b="0" sz="3600" i="0" kern="10" normalizeH="0" spc="0">
                <a:ln w="12700" cap="flat" cmpd="sng">
                  <a:solidFill>
                    <a:srgbClr val="EAEAEA">
                      <a:alpha val="100000"/>
                    </a:srgbClr>
                  </a:solidFill>
                  <a:prstDash val="solid"/>
                  <a:round/>
                </a:ln>
                <a:gradFill rotWithShape="0">
                  <a:gsLst>
                    <a:gs pos="0">
                      <a:srgbClr val="A603AB">
                        <a:alpha val="100000"/>
                      </a:srgbClr>
                    </a:gs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</a:gradFill>
                <a:effectLst>
                  <a:outerShdw algn="bl" dir="2699999" dist="35921" kx="2115830" sx="100000" sy="50000">
                    <a:srgbClr val="C0C0C0">
                      <a:alpha val="79999"/>
                    </a:srgbClr>
                  </a:outerShdw>
                </a:effectLst>
                <a:latin typeface="Rockwell Extra Bold"/>
                <a:ea typeface="Rockwell Extra Bold"/>
              </a:rPr>
              <a:t>Objectives</a:t>
            </a:r>
          </a:p>
        </p:txBody>
      </p:sp>
      <p:sp>
        <p:nvSpPr>
          <p:cNvPr id="1048607" name="Text Box 3"/>
          <p:cNvSpPr txBox="1"/>
          <p:nvPr/>
        </p:nvSpPr>
        <p:spPr>
          <a:xfrm rot="0">
            <a:off x="990600" y="1371600"/>
            <a:ext cx="7848600" cy="345948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633412" lvl="0" marL="633412">
              <a:spcBef>
                <a:spcPct val="50000"/>
              </a:spcBef>
              <a:buBlip>
                <a:blip xmlns:r="http://schemas.openxmlformats.org/officeDocument/2006/relationships" r:embed="rId1"/>
              </a:buBlip>
            </a:pPr>
            <a:r>
              <a:rPr altLang="en-US" b="1" sz="2800" lang="en-US">
                <a:solidFill>
                  <a:srgbClr val="003399"/>
                </a:solidFill>
                <a:latin typeface="Calibri" pitchFamily="34" charset="0"/>
              </a:rPr>
              <a:t>Characterizing and identifying various types of tissues of the human body</a:t>
            </a:r>
          </a:p>
          <a:p>
            <a:pPr eaLnBrk="1" hangingPunct="1" indent="-571500" lvl="2" marL="1428750">
              <a:spcBef>
                <a:spcPct val="50000"/>
              </a:spcBef>
              <a:buSzPct val="85000"/>
              <a:buFontTx/>
              <a:buAutoNum type="arabicPeriod" startAt="1"/>
            </a:pPr>
            <a:r>
              <a:rPr altLang="en-US" sz="2800" lang="en-US">
                <a:solidFill>
                  <a:srgbClr val="003399"/>
                </a:solidFill>
                <a:latin typeface="Calibri" pitchFamily="34" charset="0"/>
              </a:rPr>
              <a:t>  </a:t>
            </a:r>
            <a:r>
              <a:rPr altLang="en-US" b="1" sz="2800" lang="en-US">
                <a:solidFill>
                  <a:srgbClr val="003399"/>
                </a:solidFill>
                <a:latin typeface="Calibri" pitchFamily="34" charset="0"/>
              </a:rPr>
              <a:t>Epithelial tissue</a:t>
            </a:r>
          </a:p>
          <a:p>
            <a:pPr eaLnBrk="1" hangingPunct="1" indent="-571500" lvl="2" marL="1428750">
              <a:spcBef>
                <a:spcPct val="50000"/>
              </a:spcBef>
              <a:buSzPct val="85000"/>
              <a:buFontTx/>
              <a:buAutoNum type="arabicPeriod" startAt="1"/>
            </a:pPr>
            <a:r>
              <a:rPr altLang="en-US" b="1" sz="2800" lang="en-US">
                <a:solidFill>
                  <a:srgbClr val="003399"/>
                </a:solidFill>
                <a:latin typeface="Calibri" pitchFamily="34" charset="0"/>
              </a:rPr>
              <a:t>  Connective tissue</a:t>
            </a:r>
          </a:p>
          <a:p>
            <a:pPr eaLnBrk="1" hangingPunct="1" indent="-571500" lvl="2" marL="1428750">
              <a:spcBef>
                <a:spcPct val="50000"/>
              </a:spcBef>
              <a:buSzPct val="85000"/>
              <a:buFontTx/>
              <a:buAutoNum type="arabicPeriod" startAt="1"/>
            </a:pPr>
            <a:r>
              <a:rPr altLang="en-US" b="1" sz="2800" lang="en-US">
                <a:solidFill>
                  <a:srgbClr val="003399"/>
                </a:solidFill>
                <a:latin typeface="Calibri" pitchFamily="34" charset="0"/>
              </a:rPr>
              <a:t>  Muscular tissue</a:t>
            </a:r>
          </a:p>
          <a:p>
            <a:pPr eaLnBrk="1" hangingPunct="1" indent="-571500" lvl="2" marL="1428750">
              <a:spcBef>
                <a:spcPct val="50000"/>
              </a:spcBef>
              <a:buSzPct val="85000"/>
              <a:buFontTx/>
              <a:buAutoNum type="arabicPeriod" startAt="1"/>
            </a:pPr>
            <a:r>
              <a:rPr altLang="en-US" b="1" sz="2800" lang="en-US">
                <a:solidFill>
                  <a:srgbClr val="003399"/>
                </a:solidFill>
                <a:latin typeface="Calibri" pitchFamily="34" charset="0"/>
              </a:rPr>
              <a:t>  Nervous tissue</a:t>
            </a: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8" name="WordArt 2"/>
          <p:cNvSpPr/>
          <p:nvPr/>
        </p:nvSpPr>
        <p:spPr>
          <a:xfrm rot="0">
            <a:off x="914400" y="2286000"/>
            <a:ext cx="7467600" cy="638175"/>
          </a:xfrm>
          <a:prstGeom prst="rect"/>
        </p:spPr>
        <p:txBody>
          <a:bodyPr anchor="t" bIns="45720" fromWordArt="1" lIns="91440" rIns="91440" tIns="45720" vert="horz" wrap="none">
            <a:prstTxWarp prst="textPlain">
              <a:avLst>
                <a:gd fmla="val 50000" name="adj"/>
              </a:avLst>
            </a:prstTxWarp>
          </a:bodyPr>
          <a:p>
            <a:pPr algn="ctr"/>
            <a:r>
              <a:rPr b="1" sz="2800" i="0" kern="10" normalizeH="0" spc="0">
                <a:ln w="12700" cap="flat" cmpd="sng">
                  <a:solidFill>
                    <a:srgbClr val="B9B9FF">
                      <a:alpha val="100000"/>
                    </a:srgbClr>
                  </a:solidFill>
                  <a:prstDash val="solid"/>
                  <a:round/>
                </a:ln>
                <a:gradFill rotWithShape="0">
                  <a:gsLst>
                    <a:gs pos="0">
                      <a:srgbClr val="A603AB">
                        <a:alpha val="100000"/>
                      </a:srgbClr>
                    </a:gs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</a:gradFill>
                <a:effectLst>
                  <a:outerShdw algn="bl" dir="2699999" dist="35921" kx="2115830" sx="100000" sy="50000">
                    <a:srgbClr val="C0C0C0">
                      <a:alpha val="79999"/>
                    </a:srgbClr>
                  </a:outerShdw>
                </a:effectLst>
                <a:latin typeface="Rockwell Extra Bold"/>
                <a:ea typeface="Rockwell Extra Bold"/>
              </a:rPr>
              <a:t>Classification of Human Tissues</a:t>
            </a:r>
          </a:p>
        </p:txBody>
      </p:sp>
      <p:sp>
        <p:nvSpPr>
          <p:cNvPr id="1048609" name="Text Box 3"/>
          <p:cNvSpPr txBox="1"/>
          <p:nvPr/>
        </p:nvSpPr>
        <p:spPr>
          <a:xfrm rot="0">
            <a:off x="1905000" y="3590925"/>
            <a:ext cx="4876800" cy="2062481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342900" lvl="0" marL="342900">
              <a:spcBef>
                <a:spcPct val="50000"/>
              </a:spcBef>
            </a:pPr>
            <a:r>
              <a:rPr altLang="en-US" sz="2400" lang="en-US">
                <a:solidFill>
                  <a:srgbClr val="003399"/>
                </a:solidFill>
                <a:latin typeface="Rockwell" pitchFamily="18" charset="0"/>
              </a:rPr>
              <a:t>Epithelial tissue</a:t>
            </a:r>
          </a:p>
          <a:p>
            <a:pPr eaLnBrk="1" hangingPunct="1" indent="-342900" lvl="0" marL="342900">
              <a:spcBef>
                <a:spcPct val="50000"/>
              </a:spcBef>
            </a:pPr>
            <a:r>
              <a:rPr altLang="en-US" sz="2400" lang="en-US">
                <a:solidFill>
                  <a:srgbClr val="003399"/>
                </a:solidFill>
                <a:latin typeface="Rockwell" pitchFamily="18" charset="0"/>
              </a:rPr>
              <a:t>Connective tissue</a:t>
            </a:r>
          </a:p>
          <a:p>
            <a:pPr eaLnBrk="1" hangingPunct="1" indent="-342900" lvl="0" marL="342900">
              <a:spcBef>
                <a:spcPct val="50000"/>
              </a:spcBef>
            </a:pPr>
            <a:r>
              <a:rPr altLang="en-US" sz="2400" lang="en-US">
                <a:solidFill>
                  <a:srgbClr val="003399"/>
                </a:solidFill>
                <a:latin typeface="Rockwell" pitchFamily="18" charset="0"/>
              </a:rPr>
              <a:t>Muscular tissue</a:t>
            </a:r>
          </a:p>
          <a:p>
            <a:pPr eaLnBrk="1" hangingPunct="1" indent="-342900" lvl="0" marL="342900">
              <a:spcBef>
                <a:spcPct val="50000"/>
              </a:spcBef>
            </a:pPr>
            <a:r>
              <a:rPr altLang="en-US" sz="2400" lang="en-US">
                <a:solidFill>
                  <a:srgbClr val="003399"/>
                </a:solidFill>
                <a:latin typeface="Rockwell" pitchFamily="18" charset="0"/>
              </a:rPr>
              <a:t>Nervous tissue</a:t>
            </a: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2" name="Rectangle 2"/>
          <p:cNvSpPr/>
          <p:nvPr>
            <p:ph type="title" sz="full" idx="0"/>
          </p:nvPr>
        </p:nvSpPr>
        <p:spPr>
          <a:xfrm rot="0">
            <a:off x="0" y="0"/>
            <a:ext cx="3962400" cy="914400"/>
          </a:xfrm>
          <a:prstGeom prst="rect"/>
          <a:solidFill>
            <a:schemeClr val="lt1">
              <a:alpha val="100000"/>
            </a:schemeClr>
          </a:solidFill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sz="5400" lang="en-US">
                <a:solidFill>
                  <a:srgbClr val="9900FF"/>
                </a:solidFill>
              </a:rPr>
              <a:t>Tissues</a:t>
            </a:r>
          </a:p>
        </p:txBody>
      </p:sp>
      <p:sp>
        <p:nvSpPr>
          <p:cNvPr id="1048623" name="Rectangle 3"/>
          <p:cNvSpPr/>
          <p:nvPr>
            <p:ph sz="full" idx="1"/>
          </p:nvPr>
        </p:nvSpPr>
        <p:spPr>
          <a:xfrm rot="0">
            <a:off x="0" y="1203325"/>
            <a:ext cx="7513637" cy="536284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-457200" lvl="0" marL="457200">
              <a:lnSpc>
                <a:spcPct val="90000"/>
              </a:lnSpc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FF0066"/>
                </a:solidFill>
              </a:rPr>
              <a:t>There are four primary tissue types in the human body:</a:t>
            </a:r>
          </a:p>
          <a:p>
            <a:pPr eaLnBrk="1" hangingPunct="1" indent="-506412" lvl="2" marL="1028700">
              <a:lnSpc>
                <a:spcPct val="90000"/>
              </a:lnSpc>
              <a:spcBef>
                <a:spcPts val="1200"/>
              </a:spcBef>
              <a:buFontTx/>
              <a:buAutoNum type="arabicPeriod" startAt="1"/>
            </a:pPr>
            <a:r>
              <a:rPr altLang="en-US" b="1" sz="2800" lang="en-US">
                <a:solidFill>
                  <a:schemeClr val="hlink"/>
                </a:solidFill>
              </a:rPr>
              <a:t>Epithelial (membranous </a:t>
            </a:r>
            <a:r>
              <a:rPr altLang="en-US" b="1" sz="2800" i="1" lang="en-US">
                <a:solidFill>
                  <a:schemeClr val="hlink"/>
                </a:solidFill>
              </a:rPr>
              <a:t>and glandular</a:t>
            </a:r>
            <a:r>
              <a:rPr altLang="en-US" b="1" sz="2800" lang="en-US">
                <a:solidFill>
                  <a:schemeClr val="hlink"/>
                </a:solidFill>
              </a:rPr>
              <a:t>)</a:t>
            </a:r>
          </a:p>
          <a:p>
            <a:pPr eaLnBrk="1" hangingPunct="1" indent="-506412" lvl="2" marL="1028700">
              <a:lnSpc>
                <a:spcPct val="90000"/>
              </a:lnSpc>
              <a:spcBef>
                <a:spcPts val="1200"/>
              </a:spcBef>
              <a:buFontTx/>
              <a:buAutoNum type="arabicPeriod" startAt="1"/>
            </a:pPr>
            <a:r>
              <a:rPr altLang="en-US" b="1" sz="2800" lang="en-US">
                <a:solidFill>
                  <a:schemeClr val="hlink"/>
                </a:solidFill>
              </a:rPr>
              <a:t>Connective    (</a:t>
            </a:r>
            <a:r>
              <a:rPr altLang="en-US" b="1" sz="2800" i="1" lang="en-US">
                <a:solidFill>
                  <a:schemeClr val="hlink"/>
                </a:solidFill>
              </a:rPr>
              <a:t>supportive tissue</a:t>
            </a:r>
            <a:r>
              <a:rPr altLang="en-US" b="1" sz="2800" lang="en-US">
                <a:solidFill>
                  <a:schemeClr val="hlink"/>
                </a:solidFill>
              </a:rPr>
              <a:t>)</a:t>
            </a:r>
          </a:p>
          <a:p>
            <a:pPr eaLnBrk="1" hangingPunct="1" indent="-506412" lvl="2" marL="1028700">
              <a:lnSpc>
                <a:spcPct val="90000"/>
              </a:lnSpc>
              <a:spcBef>
                <a:spcPts val="1200"/>
              </a:spcBef>
              <a:buFontTx/>
              <a:buAutoNum type="arabicPeriod" startAt="1"/>
            </a:pPr>
            <a:r>
              <a:rPr altLang="en-US" b="1" sz="2800" lang="en-US">
                <a:solidFill>
                  <a:schemeClr val="hlink"/>
                </a:solidFill>
              </a:rPr>
              <a:t>Muscle          (</a:t>
            </a:r>
            <a:r>
              <a:rPr altLang="en-US" b="1" sz="2800" i="1" lang="en-US">
                <a:solidFill>
                  <a:schemeClr val="hlink"/>
                </a:solidFill>
              </a:rPr>
              <a:t>movement</a:t>
            </a:r>
            <a:r>
              <a:rPr altLang="en-US" b="1" sz="2800" lang="en-US">
                <a:solidFill>
                  <a:schemeClr val="hlink"/>
                </a:solidFill>
              </a:rPr>
              <a:t>)</a:t>
            </a:r>
          </a:p>
          <a:p>
            <a:pPr eaLnBrk="1" hangingPunct="1" indent="-506412" lvl="2" marL="1028700">
              <a:lnSpc>
                <a:spcPct val="90000"/>
              </a:lnSpc>
              <a:spcBef>
                <a:spcPts val="1200"/>
              </a:spcBef>
              <a:buFontTx/>
              <a:buAutoNum type="arabicPeriod" startAt="1"/>
            </a:pPr>
            <a:r>
              <a:rPr altLang="en-US" b="1" sz="2800" lang="en-US">
                <a:solidFill>
                  <a:schemeClr val="hlink"/>
                </a:solidFill>
              </a:rPr>
              <a:t>Nervous	 (</a:t>
            </a:r>
            <a:r>
              <a:rPr altLang="en-US" b="1" sz="2800" i="1" lang="en-US">
                <a:solidFill>
                  <a:schemeClr val="hlink"/>
                </a:solidFill>
              </a:rPr>
              <a:t>control/communication</a:t>
            </a:r>
            <a:r>
              <a:rPr altLang="en-US" b="1" sz="2800" lang="en-US">
                <a:solidFill>
                  <a:schemeClr val="hlink"/>
                </a:solidFill>
              </a:rPr>
              <a:t>)</a:t>
            </a:r>
          </a:p>
          <a:p>
            <a:pPr eaLnBrk="1" hangingPunct="1" indent="-457200" lvl="0" marL="457200">
              <a:lnSpc>
                <a:spcPct val="90000"/>
              </a:lnSpc>
              <a:spcBef>
                <a:spcPts val="2400"/>
              </a:spcBef>
              <a:buFont typeface="Calibri" pitchFamily="34" charset="0"/>
              <a:buChar char="–"/>
            </a:pPr>
            <a:r>
              <a:rPr altLang="en-US" sz="2800" lang="en-US"/>
              <a:t>These tissues differ in the types and functions of their cells, and the products of those cells and the relative distribution of the two.</a:t>
            </a:r>
          </a:p>
          <a:p>
            <a:pPr eaLnBrk="1" hangingPunct="1" indent="-457200" lvl="0" marL="457200">
              <a:lnSpc>
                <a:spcPct val="90000"/>
              </a:lnSpc>
              <a:spcBef>
                <a:spcPts val="24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</a:rPr>
              <a:t>Which picture on this slide corresponds to which tissue?</a:t>
            </a:r>
          </a:p>
        </p:txBody>
      </p:sp>
      <p:pic>
        <p:nvPicPr>
          <p:cNvPr id="2097152" name="Picture 4" descr="HM00255_[1]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410200" y="0"/>
            <a:ext cx="1397000" cy="1214437"/>
          </a:xfrm>
          <a:prstGeom prst="rect"/>
          <a:noFill/>
          <a:ln>
            <a:noFill/>
          </a:ln>
        </p:spPr>
      </p:pic>
      <p:pic>
        <p:nvPicPr>
          <p:cNvPr id="2097153" name="Picture 5" descr="HM00252_[1]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7467600" y="228600"/>
            <a:ext cx="1392237" cy="1885950"/>
          </a:xfrm>
          <a:prstGeom prst="rect"/>
          <a:noFill/>
          <a:ln>
            <a:noFill/>
          </a:ln>
        </p:spPr>
      </p:pic>
      <p:pic>
        <p:nvPicPr>
          <p:cNvPr id="2097154" name="Picture 6" descr="BD05199_[1]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7239000" y="2438400"/>
            <a:ext cx="1905000" cy="1620837"/>
          </a:xfrm>
          <a:prstGeom prst="rect"/>
          <a:noFill/>
          <a:ln>
            <a:noFill/>
          </a:ln>
        </p:spPr>
      </p:pic>
      <p:pic>
        <p:nvPicPr>
          <p:cNvPr id="2097155" name="Picture 7" descr="j0211480[1]"/>
          <p:cNvPicPr>
            <a:picLocks/>
          </p:cNvPicPr>
          <p:nvPr/>
        </p:nvPicPr>
        <p:blipFill>
          <a:blip xmlns:r="http://schemas.openxmlformats.org/officeDocument/2006/relationships" r:embed="rId4"/>
          <a:srcRect l="0" t="0" r="0" b="29230"/>
          <a:stretch>
            <a:fillRect/>
          </a:stretch>
        </p:blipFill>
        <p:spPr>
          <a:xfrm rot="0">
            <a:off x="7696200" y="4191000"/>
            <a:ext cx="1330325" cy="16002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med" advClick="1" advTm="22000"/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4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6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9144000" cy="68580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med" advClick="1" advTm="22000"/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5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aphicFrame>
        <p:nvGraphicFramePr>
          <p:cNvPr id="4194304" name=""/>
          <p:cNvGraphicFramePr>
            <a:graphicFrameLocks/>
          </p:cNvGraphicFramePr>
          <p:nvPr/>
        </p:nvGraphicFramePr>
        <p:xfrm rot="0">
          <a:off x="34925" y="0"/>
          <a:ext cx="9109075" cy="6619875"/>
        </p:xfrm>
        <a:graphic>
          <a:graphicData uri="http://schemas.openxmlformats.org/drawingml/2006/table">
            <a:tbl>
              <a:tblPr/>
              <a:tblGrid>
                <a:gridCol w="1843087"/>
                <a:gridCol w="2465387"/>
                <a:gridCol w="1828800"/>
                <a:gridCol w="2971800"/>
              </a:tblGrid>
              <a:tr h="450850">
                <a:tc gridSpan="4">
                  <a:txBody>
                    <a:bodyPr/>
                    <a:p>
                      <a:pPr algn="l" eaLnBrk="1" hangingPunct="1" lvl="0"/>
                      <a:r>
                        <a:rPr altLang="en-US" b="1" sz="2400" lang="en-US">
                          <a:solidFill>
                            <a:schemeClr val="dk1"/>
                          </a:solidFill>
                          <a:latin typeface="Calibri" pitchFamily="34" charset="0"/>
                        </a:rPr>
                        <a:t>  </a:t>
                      </a:r>
                      <a:r>
                        <a:rPr altLang="en-US" b="1" sz="2800" lang="en-US">
                          <a:solidFill>
                            <a:srgbClr val="FF0066"/>
                          </a:solidFill>
                          <a:latin typeface="Calibri" pitchFamily="34" charset="0"/>
                        </a:rPr>
                        <a:t>Table. Main Characteristics of the Four Basic Types of Tissues</a:t>
                      </a:r>
                    </a:p>
                  </a:txBody>
                  <a:tcPr marL="2710" marR="2710" marT="2710" marB="2710" anchor="t" vert="horz">
                    <a:lnL w="9525" cap="flat" cmpd="sng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endParaRPr sz="2800"/>
                    </a:p>
                  </a:txBody>
                </a:tc>
                <a:tc hMerge="1">
                  <a:txBody>
                    <a:bodyPr/>
                    <a:p>
                      <a:endParaRPr sz="2800"/>
                    </a:p>
                  </a:txBody>
                </a:tc>
                <a:tc hMerge="1">
                  <a:txBody>
                    <a:bodyPr/>
                    <a:p>
                      <a:endParaRPr sz="2800"/>
                    </a:p>
                  </a:txBody>
                </a:tc>
              </a:tr>
              <a:tr h="735012"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1" sz="2400" lang="en-US">
                          <a:solidFill>
                            <a:srgbClr val="FF0000"/>
                          </a:solidFill>
                          <a:latin typeface="Calibri" pitchFamily="34" charset="0"/>
                        </a:rPr>
                        <a:t>Basic Tissues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1" sz="2400" lang="en-US">
                          <a:solidFill>
                            <a:srgbClr val="FF0000"/>
                          </a:solidFill>
                          <a:latin typeface="Calibri" pitchFamily="34" charset="0"/>
                        </a:rPr>
                        <a:t>Cells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1" sz="2000" lang="en-US">
                          <a:solidFill>
                            <a:srgbClr val="FF0000"/>
                          </a:solidFill>
                          <a:latin typeface="Calibri" pitchFamily="34" charset="0"/>
                        </a:rPr>
                        <a:t>Extracellular Matrix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1" sz="2400" lang="en-US">
                          <a:solidFill>
                            <a:srgbClr val="FF0000"/>
                          </a:solidFill>
                          <a:latin typeface="Calibri" pitchFamily="34" charset="0"/>
                        </a:rPr>
                        <a:t>Main Functions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1468437"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1" sz="2800" lang="en-US">
                          <a:solidFill>
                            <a:srgbClr val="9900FF"/>
                          </a:solidFill>
                          <a:latin typeface="Calibri" pitchFamily="34" charset="0"/>
                        </a:rPr>
                        <a:t>Epithelial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3366FF"/>
                          </a:solidFill>
                          <a:latin typeface="Calibri" pitchFamily="34" charset="0"/>
                        </a:rPr>
                        <a:t>Closely arranged polarized cells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7030A0"/>
                          </a:solidFill>
                          <a:latin typeface="Calibri" pitchFamily="34" charset="0"/>
                        </a:rPr>
                        <a:t>Very small amount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FF0066"/>
                          </a:solidFill>
                          <a:latin typeface="Calibri" pitchFamily="34" charset="0"/>
                        </a:rPr>
                        <a:t>Covering body surfaces, Lining  tubes or </a:t>
                      </a:r>
                      <a:r>
                        <a:rPr altLang="en-US" b="0" sz="2400" lang="en-US">
                          <a:solidFill>
                            <a:srgbClr val="FF0066"/>
                          </a:solidFill>
                          <a:latin typeface="Calibri" pitchFamily="34" charset="0"/>
                        </a:rPr>
                        <a:t>body cavities, glandular secretion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1281112"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1" sz="2800" lang="en-US">
                          <a:solidFill>
                            <a:srgbClr val="9900FF"/>
                          </a:solidFill>
                          <a:latin typeface="Calibri" pitchFamily="34" charset="0"/>
                        </a:rPr>
                        <a:t>Connective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3366FF"/>
                          </a:solidFill>
                          <a:latin typeface="Calibri" pitchFamily="34" charset="0"/>
                        </a:rPr>
                        <a:t>Several types of fixed and wandering cells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7030A0"/>
                          </a:solidFill>
                          <a:latin typeface="Calibri" pitchFamily="34" charset="0"/>
                        </a:rPr>
                        <a:t>Abundant amount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FF0066"/>
                          </a:solidFill>
                          <a:latin typeface="Calibri" pitchFamily="34" charset="0"/>
                        </a:rPr>
                        <a:t>Support and protection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5662"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1" sz="2800" lang="en-US">
                          <a:solidFill>
                            <a:srgbClr val="9900FF"/>
                          </a:solidFill>
                          <a:latin typeface="Calibri" pitchFamily="34" charset="0"/>
                        </a:rPr>
                        <a:t>Muscle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3366FF"/>
                          </a:solidFill>
                          <a:latin typeface="Calibri" pitchFamily="34" charset="0"/>
                        </a:rPr>
                        <a:t>Elongated contractile cells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7030A0"/>
                          </a:solidFill>
                          <a:latin typeface="Calibri" pitchFamily="34" charset="0"/>
                        </a:rPr>
                        <a:t>Moderate amount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FF0066"/>
                          </a:solidFill>
                          <a:latin typeface="Calibri" pitchFamily="34" charset="0"/>
                        </a:rPr>
                        <a:t>Movement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1" sz="2800" lang="en-US">
                          <a:solidFill>
                            <a:srgbClr val="9900FF"/>
                          </a:solidFill>
                          <a:latin typeface="Calibri" pitchFamily="34" charset="0"/>
                        </a:rPr>
                        <a:t>Nervous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3366FF"/>
                          </a:solidFill>
                          <a:latin typeface="Calibri" pitchFamily="34" charset="0"/>
                        </a:rPr>
                        <a:t>Cells with Intertwining </a:t>
                      </a:r>
                      <a:r>
                        <a:rPr altLang="en-US" b="0" sz="2400" lang="en-US">
                          <a:solidFill>
                            <a:srgbClr val="3366FF"/>
                          </a:solidFill>
                          <a:latin typeface="Calibri" pitchFamily="34" charset="0"/>
                        </a:rPr>
                        <a:t>elongated processes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000" lang="en-US">
                          <a:solidFill>
                            <a:srgbClr val="7030A0"/>
                          </a:solidFill>
                          <a:latin typeface="Calibri" pitchFamily="34" charset="0"/>
                        </a:rPr>
                        <a:t>Lacks fibers, has only gelatinous ground substance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eaLnBrk="1" hangingPunct="1" indent="0" lvl="0" marL="90487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altLang="en-US" b="0" sz="2400" lang="en-US">
                          <a:solidFill>
                            <a:srgbClr val="FF0066"/>
                          </a:solidFill>
                          <a:latin typeface="Calibri" pitchFamily="34" charset="0"/>
                        </a:rPr>
                        <a:t>Transmission of nervous impulses</a:t>
                      </a:r>
                    </a:p>
                  </a:txBody>
                  <a:tcPr marL="2710" marR="2710" marT="2710" marB="271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 advTm="22000"/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7" name="Title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endParaRPr altLang="en-US" lang="en-US"/>
          </a:p>
        </p:txBody>
      </p:sp>
      <p:pic>
        <p:nvPicPr>
          <p:cNvPr id="2097157" name="Picture 2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556125" y="2324100"/>
            <a:ext cx="4497387" cy="4443412"/>
          </a:xfrm>
          <a:prstGeom prst="rect"/>
          <a:noFill/>
          <a:ln>
            <a:noFill/>
          </a:ln>
        </p:spPr>
      </p:pic>
      <p:pic>
        <p:nvPicPr>
          <p:cNvPr id="2097158" name="Picture 4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74612" y="2517775"/>
            <a:ext cx="4392612" cy="4246562"/>
          </a:xfrm>
          <a:prstGeom prst="rect"/>
          <a:noFill/>
          <a:ln>
            <a:noFill/>
          </a:ln>
        </p:spPr>
      </p:pic>
      <p:pic>
        <p:nvPicPr>
          <p:cNvPr id="2097159" name="Picture 5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1335087" y="60325"/>
            <a:ext cx="6294437" cy="2473325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med" advClick="1" advTm="22000"/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6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9" name="Title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endParaRPr altLang="en-US" lang="en-US"/>
          </a:p>
        </p:txBody>
      </p:sp>
      <p:pic>
        <p:nvPicPr>
          <p:cNvPr id="2097160" name="Picture 3" descr="C:\from desktop\blood cells and hematopoiesis\CVS\cardiac nmuscle.tif"/>
          <p:cNvPicPr>
            <a:picLocks/>
          </p:cNvPicPr>
          <p:nvPr>
            <p:ph sz="half" idx="2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408487" y="104775"/>
            <a:ext cx="4629150" cy="2128837"/>
          </a:xfrm>
          <a:prstGeom prst="rect"/>
          <a:noFill/>
          <a:ln>
            <a:noFill/>
          </a:ln>
        </p:spPr>
      </p:pic>
      <p:pic>
        <p:nvPicPr>
          <p:cNvPr id="2097161" name="Picture 4" descr="C:\from desktop\blood cells and hematopoiesis\connective tissue\loose areolar CT.tif"/>
          <p:cNvPicPr>
            <a:picLocks/>
          </p:cNvPicPr>
          <p:nvPr>
            <p:ph sz="half" idx="1"/>
          </p:nvPr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247650" y="101600"/>
            <a:ext cx="4038600" cy="2551112"/>
          </a:xfrm>
          <a:prstGeom prst="rect"/>
          <a:noFill/>
          <a:ln>
            <a:noFill/>
          </a:ln>
        </p:spPr>
      </p:pic>
      <p:pic>
        <p:nvPicPr>
          <p:cNvPr id="2097162" name="Picture 5" descr="C:\from desktop\blood cells and hematopoiesis\connective tissue\mesenchyme.tif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225425" y="2662237"/>
            <a:ext cx="4062412" cy="2224087"/>
          </a:xfrm>
          <a:prstGeom prst="rect"/>
          <a:noFill/>
          <a:ln>
            <a:noFill/>
          </a:ln>
        </p:spPr>
      </p:pic>
      <p:pic>
        <p:nvPicPr>
          <p:cNvPr id="2097163" name="Picture 6" descr="C:\from desktop\blood cells and hematopoiesis\nerve tissue and nervous system\pyramidal cells.tif Dend br.tif"/>
          <p:cNvPicPr>
            <a:picLocks/>
          </p:cNvPicPr>
          <p:nvPr/>
        </p:nvPicPr>
        <p:blipFill>
          <a:blip xmlns:r="http://schemas.openxmlformats.org/officeDocument/2006/relationships" r:embed="rId4"/>
          <a:srcRect l="0" t="0" r="0" b="0"/>
          <a:stretch>
            <a:fillRect/>
          </a:stretch>
        </p:blipFill>
        <p:spPr>
          <a:xfrm rot="0">
            <a:off x="179387" y="4895850"/>
            <a:ext cx="5667375" cy="1849437"/>
          </a:xfrm>
          <a:prstGeom prst="rect"/>
          <a:noFill/>
          <a:ln>
            <a:noFill/>
          </a:ln>
        </p:spPr>
      </p:pic>
      <p:pic>
        <p:nvPicPr>
          <p:cNvPr id="2097164" name="Picture 7" descr="C:\from desktop\blood cells and hematopoiesis\nerve tissue and nervous system\ts of sp cord 2.tif"/>
          <p:cNvPicPr>
            <a:picLocks/>
          </p:cNvPicPr>
          <p:nvPr/>
        </p:nvPicPr>
        <p:blipFill>
          <a:blip xmlns:r="http://schemas.openxmlformats.org/officeDocument/2006/relationships" r:embed="rId5"/>
          <a:srcRect l="0" t="0" r="0" b="0"/>
          <a:stretch>
            <a:fillRect/>
          </a:stretch>
        </p:blipFill>
        <p:spPr>
          <a:xfrm rot="0">
            <a:off x="5141912" y="5016500"/>
            <a:ext cx="3957637" cy="1758950"/>
          </a:xfrm>
          <a:prstGeom prst="rect"/>
          <a:noFill/>
          <a:ln>
            <a:noFill/>
          </a:ln>
        </p:spPr>
      </p:pic>
      <p:pic>
        <p:nvPicPr>
          <p:cNvPr id="2097165" name="Picture 8" descr="C:\from desktop\blood cells and hematopoiesis\muscle tissue\skeletal muscle fibers.tif"/>
          <p:cNvPicPr>
            <a:picLocks/>
          </p:cNvPicPr>
          <p:nvPr/>
        </p:nvPicPr>
        <p:blipFill>
          <a:blip xmlns:r="http://schemas.openxmlformats.org/officeDocument/2006/relationships" r:embed="rId6"/>
          <a:srcRect l="0" t="0" r="0" b="0"/>
          <a:stretch>
            <a:fillRect/>
          </a:stretch>
        </p:blipFill>
        <p:spPr>
          <a:xfrm rot="0">
            <a:off x="4318000" y="2263775"/>
            <a:ext cx="4781550" cy="2306637"/>
          </a:xfrm>
          <a:prstGeom prst="rect"/>
          <a:noFill/>
          <a:ln>
            <a:noFill/>
          </a:ln>
        </p:spPr>
      </p:pic>
      <p:pic>
        <p:nvPicPr>
          <p:cNvPr id="2097166" name="Picture 9" descr="C:\from desktop\blood cells and hematopoiesis\female reproductive\vaginal wall.tif"/>
          <p:cNvPicPr>
            <a:picLocks/>
          </p:cNvPicPr>
          <p:nvPr/>
        </p:nvPicPr>
        <p:blipFill>
          <a:blip xmlns:r="http://schemas.openxmlformats.org/officeDocument/2006/relationships" r:embed="rId7"/>
          <a:srcRect l="0" t="0" r="0" b="0"/>
          <a:stretch>
            <a:fillRect/>
          </a:stretch>
        </p:blipFill>
        <p:spPr>
          <a:xfrm rot="0">
            <a:off x="4362450" y="3562350"/>
            <a:ext cx="4721225" cy="1785937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med" advClick="1" advTm="22000"/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6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7" name="Title 1"/>
          <p:cNvSpPr/>
          <p:nvPr>
            <p:ph type="ctrTitle" sz="full" idx="0"/>
          </p:nvPr>
        </p:nvSpPr>
        <p:spPr>
          <a:xfrm rot="0">
            <a:off x="0" y="0"/>
            <a:ext cx="9144000" cy="1282839"/>
          </a:xfrm>
          <a:prstGeom prst="rect"/>
          <a:solidFill>
            <a:schemeClr val="lt1">
              <a:alpha val="100000"/>
            </a:schemeClr>
          </a:solidFill>
          <a:ln>
            <a:noFill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t" bIns="45720" lIns="91440" rIns="91440" tIns="45720" vert="horz"/>
          <a:lstStyle>
            <a:lvl1pPr algn="ctr">
              <a:defRPr sz="4400"/>
            </a:lvl1pPr>
          </a:lstStyle>
          <a:p>
            <a:pPr algn="l" eaLnBrk="1" hangingPunct="1" lvl="0"/>
            <a:r>
              <a:rPr altLang="en-US" b="1" sz="2400" lang="en-US">
                <a:solidFill>
                  <a:srgbClr val="FF33CC"/>
                </a:solidFill>
              </a:rPr>
              <a:t> 1. </a:t>
            </a:r>
            <a:r>
              <a:rPr altLang="en-US" b="1" sz="3200" lang="en-US">
                <a:solidFill>
                  <a:srgbClr val="FF33CC"/>
                </a:solidFill>
              </a:rPr>
              <a:t>EPITHELIAL TISSUE/EPITHELIUM, </a:t>
            </a:r>
            <a:r>
              <a:rPr altLang="en-US" b="1" sz="2400" lang="az-Cyrl-AZ">
                <a:solidFill>
                  <a:srgbClr val="FF33CC"/>
                </a:solidFill>
              </a:rPr>
              <a:t>ɛpi’Ө</a:t>
            </a:r>
            <a:r>
              <a:rPr altLang="en-US" b="1" sz="2400" lang="en-US">
                <a:solidFill>
                  <a:srgbClr val="FF33CC"/>
                </a:solidFill>
              </a:rPr>
              <a:t>i:liam</a:t>
            </a:r>
            <a:br>
              <a:rPr altLang="en-US" b="1" sz="3600" lang="en-US">
                <a:solidFill>
                  <a:srgbClr val="FF33CC"/>
                </a:solidFill>
              </a:rPr>
            </a:br>
            <a:r>
              <a:rPr altLang="en-US" b="1" sz="3600" lang="en-US">
                <a:solidFill>
                  <a:srgbClr val="FF33CC"/>
                </a:solidFill>
              </a:rPr>
              <a:t>  Introduction</a:t>
            </a:r>
            <a:r>
              <a:rPr altLang="en-US" b="1" sz="2800" lang="en-US">
                <a:solidFill>
                  <a:srgbClr val="FF33CC"/>
                </a:solidFill>
              </a:rPr>
              <a:t>:</a:t>
            </a:r>
          </a:p>
        </p:txBody>
      </p:sp>
      <p:sp>
        <p:nvSpPr>
          <p:cNvPr id="1048688" name="Subtitle 2"/>
          <p:cNvSpPr/>
          <p:nvPr>
            <p:ph type="subTitle" sz="full" idx="1"/>
          </p:nvPr>
        </p:nvSpPr>
        <p:spPr>
          <a:xfrm rot="21596016">
            <a:off x="280403" y="1336633"/>
            <a:ext cx="8652664" cy="5007527"/>
          </a:xfrm>
          <a:prstGeom prst="rect"/>
          <a:solidFill>
            <a:schemeClr val="lt1">
              <a:alpha val="100000"/>
            </a:schemeClr>
          </a:solidFill>
          <a:ln>
            <a:noFill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t" bIns="45720" lIns="91440" rIns="91440" tIns="45720" vert="horz"/>
          <a:lstStyle>
            <a:lvl1pPr algn="ctr" marL="0"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None/>
            </a:lvl2pPr>
            <a:lvl3pPr algn="ctr" marL="914400">
              <a:buNone/>
            </a:lvl3pPr>
            <a:lvl4pPr algn="ctr" marL="1371600">
              <a:buNone/>
            </a:lvl4pPr>
            <a:lvl5pPr algn="ctr" marL="1828800">
              <a:buNone/>
            </a:lvl5pPr>
          </a:lstStyle>
          <a:p>
            <a:pPr algn="l" eaLnBrk="1" hangingPunct="1" indent="-517525" lvl="0" marL="517525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400" lang="en-US">
                <a:solidFill>
                  <a:srgbClr val="3366FF"/>
                </a:solidFill>
              </a:rPr>
              <a:t>(Gk. </a:t>
            </a:r>
            <a:r>
              <a:rPr altLang="en-US" sz="2400" i="1" lang="en-US">
                <a:solidFill>
                  <a:srgbClr val="3366FF"/>
                </a:solidFill>
              </a:rPr>
              <a:t>epi,</a:t>
            </a:r>
            <a:r>
              <a:rPr altLang="en-US" sz="2400" lang="en-US">
                <a:solidFill>
                  <a:srgbClr val="3366FF"/>
                </a:solidFill>
              </a:rPr>
              <a:t> upon, + </a:t>
            </a:r>
            <a:r>
              <a:rPr altLang="en-US" sz="2400" i="1" lang="en-US">
                <a:solidFill>
                  <a:srgbClr val="3366FF"/>
                </a:solidFill>
              </a:rPr>
              <a:t>thele,</a:t>
            </a:r>
            <a:r>
              <a:rPr altLang="en-US" sz="2400" lang="en-US">
                <a:solidFill>
                  <a:srgbClr val="898989"/>
                </a:solidFill>
              </a:rPr>
              <a:t> "</a:t>
            </a:r>
            <a:r>
              <a:rPr altLang="en-US" b="1" sz="2400" lang="en-US">
                <a:solidFill>
                  <a:srgbClr val="327666"/>
                </a:solidFill>
              </a:rPr>
              <a:t>teat, nipple”</a:t>
            </a:r>
            <a:r>
              <a:rPr altLang="en-US" sz="2400" lang="en-US">
                <a:solidFill>
                  <a:srgbClr val="3366FF"/>
                </a:solidFill>
              </a:rPr>
              <a:t>)</a:t>
            </a:r>
            <a:endParaRPr altLang="en-US" sz="2400" lang="en-US">
              <a:solidFill>
                <a:srgbClr val="3366FF"/>
              </a:solidFill>
            </a:endParaRPr>
          </a:p>
          <a:p>
            <a:pPr algn="l" eaLnBrk="1" hangingPunct="1" indent="-517525" lvl="0" marL="517525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400" lang="en-US">
                <a:solidFill>
                  <a:srgbClr val="3366FF"/>
                </a:solidFill>
              </a:rPr>
              <a:t>is an avascular tissue composed of contagious cells that cover </a:t>
            </a:r>
            <a:r>
              <a:rPr altLang="en-US" b="1" sz="2400" lang="en-US">
                <a:solidFill>
                  <a:srgbClr val="3366FF"/>
                </a:solidFill>
              </a:rPr>
              <a:t>body surfaces </a:t>
            </a:r>
            <a:r>
              <a:rPr altLang="en-US" sz="2400" lang="en-US">
                <a:solidFill>
                  <a:srgbClr val="3366FF"/>
                </a:solidFill>
              </a:rPr>
              <a:t>or line </a:t>
            </a:r>
            <a:r>
              <a:rPr altLang="en-US" b="1" sz="2400" lang="en-US">
                <a:solidFill>
                  <a:srgbClr val="3366FF"/>
                </a:solidFill>
              </a:rPr>
              <a:t>closed cavities and tubes </a:t>
            </a:r>
            <a:r>
              <a:rPr altLang="en-US" sz="2400" lang="en-US">
                <a:solidFill>
                  <a:srgbClr val="3366FF"/>
                </a:solidFill>
              </a:rPr>
              <a:t>that communicate with the exterior (the alimentary, respiratory, and genitourinary tracts). </a:t>
            </a:r>
            <a:endParaRPr altLang="en-US" sz="2400" lang="en-US">
              <a:solidFill>
                <a:srgbClr val="3366FF"/>
              </a:solidFill>
            </a:endParaRPr>
          </a:p>
          <a:p>
            <a:pPr algn="l" eaLnBrk="1" hangingPunct="1" indent="-517525" lvl="0" marL="517525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400" lang="en-US">
                <a:solidFill>
                  <a:srgbClr val="FF0066"/>
                </a:solidFill>
              </a:rPr>
              <a:t>formed by a group of closely arranged cells with very little intercellular substance (ECM).</a:t>
            </a:r>
            <a:endParaRPr altLang="en-US" sz="2400" lang="en-US">
              <a:solidFill>
                <a:srgbClr val="FF0066"/>
              </a:solidFill>
            </a:endParaRPr>
          </a:p>
          <a:p>
            <a:pPr algn="l" eaLnBrk="1" hangingPunct="1" indent="-517525" lvl="0" marL="517525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400" lang="en-GB">
                <a:solidFill>
                  <a:srgbClr val="0070C0"/>
                </a:solidFill>
              </a:rPr>
              <a:t>consists of continuous sheet of cells forming membranes which cover or line body structures or grouped </a:t>
            </a:r>
            <a:r>
              <a:rPr altLang="en-US" sz="2400" lang="en-US">
                <a:solidFill>
                  <a:srgbClr val="0070C0"/>
                </a:solidFill>
              </a:rPr>
              <a:t>as three-dimensional secretory units of glands.</a:t>
            </a:r>
            <a:endParaRPr altLang="en-US" sz="2400" lang="en-US">
              <a:solidFill>
                <a:srgbClr val="0070C0"/>
              </a:solidFill>
            </a:endParaRPr>
          </a:p>
          <a:p>
            <a:pPr algn="l" eaLnBrk="1" hangingPunct="1" indent="-517525" lvl="0" marL="517525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400" lang="en-GB">
                <a:solidFill>
                  <a:srgbClr val="9900FF"/>
                </a:solidFill>
              </a:rPr>
              <a:t>the cells are highly cohesive,</a:t>
            </a:r>
            <a:endParaRPr altLang="en-US" sz="2400" lang="en-GB">
              <a:solidFill>
                <a:srgbClr val="9900FF"/>
              </a:solidFill>
            </a:endParaRPr>
          </a:p>
        </p:txBody>
      </p:sp>
    </p:spTree>
  </p:cSld>
  <p:clrMapOvr>
    <a:masterClrMapping/>
  </p:clrMapOvr>
  <p:transition spd="med" advClick="1" advTm="22000"/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9" name="Text Box 2"/>
          <p:cNvSpPr txBox="1"/>
          <p:nvPr/>
        </p:nvSpPr>
        <p:spPr>
          <a:xfrm rot="0">
            <a:off x="457200" y="381000"/>
            <a:ext cx="8229600" cy="523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b="1" sz="2800" lang="en-US" u="sng">
                <a:solidFill>
                  <a:srgbClr val="003399"/>
                </a:solidFill>
                <a:latin typeface="Calibri" pitchFamily="34" charset="0"/>
              </a:rPr>
              <a:t>Epithelial tissue</a:t>
            </a:r>
          </a:p>
        </p:txBody>
      </p:sp>
      <p:sp>
        <p:nvSpPr>
          <p:cNvPr id="1048690" name="Text Box 3"/>
          <p:cNvSpPr txBox="1"/>
          <p:nvPr/>
        </p:nvSpPr>
        <p:spPr>
          <a:xfrm rot="0">
            <a:off x="304800" y="1127125"/>
            <a:ext cx="8839200" cy="26822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Calibri" pitchFamily="34" charset="0"/>
              </a:rPr>
              <a:t>Epithelial tissue is composed of crowded cells with very little intercellular substance. Cells are attached together by cell junctions</a:t>
            </a:r>
          </a:p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Calibri" pitchFamily="34" charset="0"/>
              </a:rPr>
              <a:t>Epithelial tissue forms </a:t>
            </a:r>
            <a:r>
              <a:rPr altLang="en-US" b="1" sz="2000" lang="en-US">
                <a:solidFill>
                  <a:srgbClr val="003399"/>
                </a:solidFill>
                <a:latin typeface="Calibri" pitchFamily="34" charset="0"/>
              </a:rPr>
              <a:t>membranes </a:t>
            </a:r>
            <a:r>
              <a:rPr altLang="en-US" sz="2000" lang="en-US">
                <a:solidFill>
                  <a:srgbClr val="003399"/>
                </a:solidFill>
                <a:latin typeface="Calibri" pitchFamily="34" charset="0"/>
              </a:rPr>
              <a:t>that cover body surfaces or line body cavities</a:t>
            </a:r>
          </a:p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Calibri" pitchFamily="34" charset="0"/>
              </a:rPr>
              <a:t>Epithelial tissue form </a:t>
            </a:r>
            <a:r>
              <a:rPr altLang="en-US" b="1" sz="2000" lang="en-US">
                <a:solidFill>
                  <a:srgbClr val="003399"/>
                </a:solidFill>
                <a:latin typeface="Calibri" pitchFamily="34" charset="0"/>
              </a:rPr>
              <a:t>glands [Exocrine OR Endocrine glands]</a:t>
            </a:r>
          </a:p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Calibri" pitchFamily="34" charset="0"/>
              </a:rPr>
              <a:t>Epithelial tissue is </a:t>
            </a:r>
            <a:r>
              <a:rPr altLang="en-US" b="1" sz="2000" lang="en-US">
                <a:solidFill>
                  <a:srgbClr val="003399"/>
                </a:solidFill>
                <a:latin typeface="Calibri" pitchFamily="34" charset="0"/>
              </a:rPr>
              <a:t>avascular </a:t>
            </a:r>
            <a:r>
              <a:rPr altLang="en-US" sz="2000" lang="en-US">
                <a:solidFill>
                  <a:srgbClr val="003399"/>
                </a:solidFill>
                <a:latin typeface="Calibri" pitchFamily="34" charset="0"/>
              </a:rPr>
              <a:t>(</a:t>
            </a:r>
            <a:r>
              <a:rPr altLang="en-US" b="1" sz="2000" lang="en-US">
                <a:solidFill>
                  <a:srgbClr val="003399"/>
                </a:solidFill>
                <a:latin typeface="Calibri" pitchFamily="34" charset="0"/>
              </a:rPr>
              <a:t>NOT</a:t>
            </a:r>
            <a:r>
              <a:rPr altLang="en-US" sz="2000" lang="en-US">
                <a:solidFill>
                  <a:srgbClr val="003399"/>
                </a:solidFill>
                <a:latin typeface="Calibri" pitchFamily="34" charset="0"/>
              </a:rPr>
              <a:t> penetrated by blood and lymphatic vessels)</a:t>
            </a:r>
          </a:p>
        </p:txBody>
      </p:sp>
      <p:pic>
        <p:nvPicPr>
          <p:cNvPr id="2097167" name="Picture 4" descr="simple%20gland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254500" y="3886200"/>
            <a:ext cx="2679700" cy="2843212"/>
          </a:xfrm>
          <a:prstGeom prst="rect"/>
          <a:noFill/>
          <a:ln>
            <a:noFill/>
          </a:ln>
        </p:spPr>
      </p:pic>
      <p:sp>
        <p:nvSpPr>
          <p:cNvPr id="1048691" name="AutoShape 5"/>
          <p:cNvSpPr/>
          <p:nvPr/>
        </p:nvSpPr>
        <p:spPr>
          <a:xfrm rot="0">
            <a:off x="5638800" y="41910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692" name="AutoShape 6"/>
          <p:cNvSpPr/>
          <p:nvPr/>
        </p:nvSpPr>
        <p:spPr>
          <a:xfrm rot="0">
            <a:off x="5638800" y="5943600"/>
            <a:ext cx="457200" cy="1524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693" name="Text Box 7"/>
          <p:cNvSpPr txBox="1"/>
          <p:nvPr/>
        </p:nvSpPr>
        <p:spPr>
          <a:xfrm rot="0">
            <a:off x="4953000" y="3810000"/>
            <a:ext cx="1447800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solidFill>
                  <a:srgbClr val="00007E"/>
                </a:solidFill>
                <a:latin typeface="Rockwell" pitchFamily="18" charset="0"/>
              </a:rPr>
              <a:t>Membrane</a:t>
            </a:r>
          </a:p>
        </p:txBody>
      </p:sp>
      <p:sp>
        <p:nvSpPr>
          <p:cNvPr id="1048694" name="Text Box 8"/>
          <p:cNvSpPr txBox="1"/>
          <p:nvPr/>
        </p:nvSpPr>
        <p:spPr>
          <a:xfrm rot="0">
            <a:off x="6019800" y="5791200"/>
            <a:ext cx="11430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1800" lang="en-US">
                <a:solidFill>
                  <a:srgbClr val="00007E"/>
                </a:solidFill>
                <a:latin typeface="Rockwell" pitchFamily="18" charset="0"/>
              </a:rPr>
              <a:t>Gland</a:t>
            </a:r>
          </a:p>
        </p:txBody>
      </p:sp>
      <p:sp>
        <p:nvSpPr>
          <p:cNvPr id="1048695" name="TextBox 9"/>
          <p:cNvSpPr txBox="1"/>
          <p:nvPr/>
        </p:nvSpPr>
        <p:spPr>
          <a:xfrm rot="0">
            <a:off x="381000" y="3810000"/>
            <a:ext cx="3751262" cy="1971041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solidFill>
                  <a:srgbClr val="003399"/>
                </a:solidFill>
                <a:latin typeface="Rockwell" pitchFamily="18" charset="0"/>
              </a:rPr>
              <a:t>Function of Epithelium:</a:t>
            </a:r>
          </a:p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b="1" sz="800" lang="en-US">
              <a:solidFill>
                <a:srgbClr val="003399"/>
              </a:solidFill>
              <a:latin typeface="Rockwell" pitchFamily="18" charset="0"/>
            </a:endParaRPr>
          </a:p>
          <a:p>
            <a:pPr eaLnBrk="1" hangingPunct="1" indent="-548640" lvl="1" marL="914400">
              <a:spcBef>
                <a:spcPct val="0"/>
              </a:spcBef>
              <a:buAutoNum type="alphaLcParenR" startAt="1"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Secretion</a:t>
            </a:r>
          </a:p>
          <a:p>
            <a:pPr eaLnBrk="1" hangingPunct="1" indent="-548640" lvl="1" marL="914400">
              <a:spcBef>
                <a:spcPct val="0"/>
              </a:spcBef>
              <a:buAutoNum type="alphaLcParenR" startAt="1"/>
            </a:pPr>
            <a:endParaRPr altLang="en-US" sz="500" lang="en-US">
              <a:solidFill>
                <a:srgbClr val="003399"/>
              </a:solidFill>
              <a:latin typeface="Rockwell" pitchFamily="18" charset="0"/>
            </a:endParaRPr>
          </a:p>
          <a:p>
            <a:pPr eaLnBrk="1" hangingPunct="1" indent="-548640" lvl="1" marL="914400">
              <a:spcBef>
                <a:spcPct val="0"/>
              </a:spcBef>
              <a:buAutoNum type="alphaLcParenR" startAt="1"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Protection </a:t>
            </a:r>
          </a:p>
          <a:p>
            <a:pPr eaLnBrk="1" hangingPunct="1" indent="-548640" lvl="1" marL="914400">
              <a:spcBef>
                <a:spcPct val="0"/>
              </a:spcBef>
              <a:buAutoNum type="alphaLcParenR" startAt="1"/>
            </a:pPr>
            <a:endParaRPr altLang="en-US" sz="500" lang="en-US">
              <a:solidFill>
                <a:srgbClr val="003399"/>
              </a:solidFill>
              <a:latin typeface="Rockwell" pitchFamily="18" charset="0"/>
            </a:endParaRPr>
          </a:p>
          <a:p>
            <a:pPr eaLnBrk="1" hangingPunct="1" indent="-548640" lvl="1" marL="914400">
              <a:spcBef>
                <a:spcPct val="0"/>
              </a:spcBef>
              <a:buAutoNum type="alphaLcParenR" startAt="1"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Absorption </a:t>
            </a:r>
          </a:p>
          <a:p>
            <a:pPr eaLnBrk="1" hangingPunct="1" indent="-548640" lvl="1" marL="914400">
              <a:spcBef>
                <a:spcPct val="0"/>
              </a:spcBef>
              <a:buAutoNum type="alphaLcParenR" startAt="1"/>
            </a:pPr>
            <a:endParaRPr altLang="en-US" sz="600" lang="en-US">
              <a:solidFill>
                <a:srgbClr val="003399"/>
              </a:solidFill>
              <a:latin typeface="Rockwell" pitchFamily="18" charset="0"/>
            </a:endParaRPr>
          </a:p>
          <a:p>
            <a:pPr eaLnBrk="1" hangingPunct="1" indent="-548640" lvl="1" marL="914400">
              <a:spcBef>
                <a:spcPct val="0"/>
              </a:spcBef>
              <a:buAutoNum type="alphaLcParenR" startAt="1"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Gas exchange</a:t>
            </a:r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6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6" name="Text Box 2"/>
          <p:cNvSpPr txBox="1"/>
          <p:nvPr/>
        </p:nvSpPr>
        <p:spPr>
          <a:xfrm rot="0">
            <a:off x="457200" y="228600"/>
            <a:ext cx="8229600" cy="523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>
              <a:spcBef>
                <a:spcPct val="50000"/>
              </a:spcBef>
            </a:pPr>
            <a:r>
              <a:rPr altLang="en-US" b="1" sz="2800" lang="en-US" u="sng">
                <a:solidFill>
                  <a:srgbClr val="003399"/>
                </a:solidFill>
                <a:latin typeface="Calibri" pitchFamily="34" charset="0"/>
              </a:rPr>
              <a:t>Types of epithelial Tissues:</a:t>
            </a:r>
          </a:p>
        </p:txBody>
      </p:sp>
      <p:sp>
        <p:nvSpPr>
          <p:cNvPr id="1048697" name="WordArt 3"/>
          <p:cNvSpPr/>
          <p:nvPr/>
        </p:nvSpPr>
        <p:spPr>
          <a:xfrm rot="0">
            <a:off x="990600" y="838200"/>
            <a:ext cx="2838450" cy="304800"/>
          </a:xfrm>
          <a:prstGeom prst="rect"/>
        </p:spPr>
        <p:txBody>
          <a:bodyPr anchor="t" bIns="45720" fromWordArt="1" lIns="91440" rIns="91440" tIns="45720" vert="horz" wrap="none">
            <a:prstTxWarp prst="textPlain">
              <a:avLst>
                <a:gd fmla="val 50000" name="adj"/>
              </a:avLst>
            </a:prstTxWarp>
          </a:bodyPr>
          <a:p>
            <a:pPr algn="ctr"/>
            <a:r>
              <a:rPr b="0" sz="2000" i="0" kern="10" normalizeH="0" spc="0">
                <a:ln w="12700" cap="flat" cmpd="sng">
                  <a:solidFill>
                    <a:srgbClr val="EAEAEA">
                      <a:alpha val="100000"/>
                    </a:srgbClr>
                  </a:solidFill>
                  <a:prstDash val="solid"/>
                  <a:round/>
                </a:ln>
                <a:gradFill rotWithShape="0">
                  <a:gsLst>
                    <a:gs pos="0">
                      <a:srgbClr val="A603AB">
                        <a:alpha val="100000"/>
                      </a:srgbClr>
                    </a:gs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</a:gradFill>
                <a:latin typeface="Rockwell Extra Bold"/>
                <a:ea typeface="Rockwell Extra Bold"/>
              </a:rPr>
              <a:t>Simple Epithelia</a:t>
            </a:r>
          </a:p>
        </p:txBody>
      </p:sp>
      <p:graphicFrame>
        <p:nvGraphicFramePr>
          <p:cNvPr id="4194305" name=""/>
          <p:cNvGraphicFramePr>
            <a:graphicFrameLocks/>
          </p:cNvGraphicFramePr>
          <p:nvPr/>
        </p:nvGraphicFramePr>
        <p:xfrm rot="0">
          <a:off x="685800" y="1295400"/>
          <a:ext cx="7772400" cy="5307012"/>
        </p:xfrm>
        <a:graphic>
          <a:graphicData uri="http://schemas.openxmlformats.org/drawingml/2006/table">
            <a:tbl>
              <a:tblPr/>
              <a:tblGrid>
                <a:gridCol w="4648200"/>
                <a:gridCol w="3124200"/>
              </a:tblGrid>
              <a:tr h="517524">
                <a:tc>
                  <a:txBody>
                    <a:bodyPr/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FFFF00"/>
                          </a:solidFill>
                          <a:latin typeface="Rockwell" pitchFamily="18" charset="0"/>
                        </a:rPr>
                        <a:t>According to the shape of cells</a:t>
                      </a:r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6600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  <a:tr h="1235074"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000099"/>
                          </a:solidFill>
                          <a:latin typeface="Rockwell" pitchFamily="18" charset="0"/>
                        </a:rPr>
                        <a:t>Simple squamous epithelium</a:t>
                      </a:r>
                    </a:p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r>
                        <a:rPr altLang="en-US" b="0" sz="1800" lang="en-US">
                          <a:solidFill>
                            <a:srgbClr val="FFFF00"/>
                          </a:solidFill>
                          <a:latin typeface="Rockwell" pitchFamily="18" charset="0"/>
                        </a:rPr>
                        <a:t>Single row of flattened cells with flattened nuclei rest on basement membrane</a:t>
                      </a:r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9B9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  <a:tr h="1219199"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000099"/>
                          </a:solidFill>
                          <a:latin typeface="Rockwell" pitchFamily="18" charset="0"/>
                        </a:rPr>
                        <a:t>Simple cubical epithelium</a:t>
                      </a:r>
                    </a:p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r>
                        <a:rPr altLang="en-US" b="0" sz="1800" lang="en-US">
                          <a:solidFill>
                            <a:srgbClr val="FFFF00"/>
                          </a:solidFill>
                          <a:latin typeface="Rockwell" pitchFamily="18" charset="0"/>
                        </a:rPr>
                        <a:t>Single row of cubical cells with rounded nuclei rest on basement membrane</a:t>
                      </a:r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9B9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  <a:tr h="1219199"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000099"/>
                          </a:solidFill>
                          <a:latin typeface="Rockwell" pitchFamily="18" charset="0"/>
                        </a:rPr>
                        <a:t>Simple columnar epithelium</a:t>
                      </a:r>
                    </a:p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r>
                        <a:rPr altLang="en-US" b="0" sz="1800" lang="en-US">
                          <a:solidFill>
                            <a:srgbClr val="FFFF00"/>
                          </a:solidFill>
                          <a:latin typeface="Rockwell" pitchFamily="18" charset="0"/>
                        </a:rPr>
                        <a:t>Single row of columnar cells with oval basal nuclei rest on basement membrane</a:t>
                      </a:r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9B9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  <a:tr h="1116012"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000099"/>
                          </a:solidFill>
                          <a:latin typeface="Rockwell" pitchFamily="18" charset="0"/>
                        </a:rPr>
                        <a:t>Pseudostratified columnar epithelium</a:t>
                      </a:r>
                    </a:p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b="1" i="1" lang="en-US">
                        <a:solidFill>
                          <a:srgbClr val="000099"/>
                        </a:solidFill>
                        <a:latin typeface="Rockwell" pitchFamily="18" charset="0"/>
                      </a:endParaRPr>
                    </a:p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lang="en-US">
                        <a:solidFill>
                          <a:srgbClr val="FFFF00"/>
                        </a:solidFill>
                        <a:latin typeface="Rockwell" pitchFamily="18" charset="0"/>
                      </a:endParaRPr>
                    </a:p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500" lang="en-US">
                        <a:solidFill>
                          <a:srgbClr val="FFFF00"/>
                        </a:solidFill>
                        <a:latin typeface="Rockwell" pitchFamily="18" charset="0"/>
                      </a:endParaRPr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9B9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18" marB="45718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1048717" name="Text Box 24"/>
          <p:cNvSpPr txBox="1"/>
          <p:nvPr/>
        </p:nvSpPr>
        <p:spPr>
          <a:xfrm rot="0">
            <a:off x="4038600" y="762000"/>
            <a:ext cx="3886200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0099"/>
                </a:solidFill>
                <a:latin typeface="Rockwell" pitchFamily="18" charset="0"/>
              </a:rPr>
              <a:t>(Formed of one row of cells)</a:t>
            </a:r>
          </a:p>
        </p:txBody>
      </p:sp>
      <p:pic>
        <p:nvPicPr>
          <p:cNvPr id="2097168" name="Picture 25" descr="crukmig_1000img-12352s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19800" y="3200400"/>
            <a:ext cx="1905000" cy="933450"/>
          </a:xfrm>
          <a:prstGeom prst="rect"/>
          <a:noFill/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</a:ln>
        </p:spPr>
      </p:pic>
      <p:pic>
        <p:nvPicPr>
          <p:cNvPr id="2097169" name="Picture 26" descr="crukmig_1000img-12353b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019800" y="1981200"/>
            <a:ext cx="1879600" cy="885825"/>
          </a:xfrm>
          <a:prstGeom prst="rect"/>
          <a:noFill/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</a:ln>
        </p:spPr>
      </p:pic>
      <p:pic>
        <p:nvPicPr>
          <p:cNvPr id="2097170" name="Picture 27" descr="crukmig_1000img-12354m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6019800" y="5562600"/>
            <a:ext cx="1905000" cy="990600"/>
          </a:xfrm>
          <a:prstGeom prst="rect"/>
          <a:noFill/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</a:ln>
        </p:spPr>
      </p:pic>
      <p:pic>
        <p:nvPicPr>
          <p:cNvPr id="2097171" name="Picture 28" descr="5111"/>
          <p:cNvPicPr>
            <a:picLocks/>
          </p:cNvPicPr>
          <p:nvPr/>
        </p:nvPicPr>
        <p:blipFill>
          <a:blip xmlns:r="http://schemas.openxmlformats.org/officeDocument/2006/relationships" r:embed="rId4"/>
          <a:srcRect l="0" t="0" r="0" b="0"/>
          <a:stretch>
            <a:fillRect/>
          </a:stretch>
        </p:blipFill>
        <p:spPr>
          <a:xfrm rot="0">
            <a:off x="6019800" y="4419600"/>
            <a:ext cx="1905000" cy="914400"/>
          </a:xfrm>
          <a:prstGeom prst="rect"/>
          <a:noFill/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</a:ln>
        </p:spPr>
      </p:pic>
      <p:sp>
        <p:nvSpPr>
          <p:cNvPr id="1048718" name="Text Box 26"/>
          <p:cNvSpPr txBox="1"/>
          <p:nvPr/>
        </p:nvSpPr>
        <p:spPr>
          <a:xfrm rot="0">
            <a:off x="7010400" y="76200"/>
            <a:ext cx="1981200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1800" i="1" lang="en-US">
                <a:solidFill>
                  <a:srgbClr val="003399"/>
                </a:solidFill>
                <a:latin typeface="Calibri" pitchFamily="34" charset="0"/>
              </a:rPr>
              <a:t>Epithelial tissue</a:t>
            </a:r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1" name="WordArt 2"/>
          <p:cNvSpPr/>
          <p:nvPr/>
        </p:nvSpPr>
        <p:spPr>
          <a:xfrm rot="0">
            <a:off x="685800" y="457200"/>
            <a:ext cx="3209925" cy="304800"/>
          </a:xfrm>
          <a:prstGeom prst="rect"/>
        </p:spPr>
        <p:txBody>
          <a:bodyPr anchor="t" bIns="45720" fromWordArt="1" lIns="91440" rIns="91440" tIns="45720" vert="horz" wrap="none">
            <a:prstTxWarp prst="textPlain">
              <a:avLst>
                <a:gd fmla="val 50000" name="adj"/>
              </a:avLst>
            </a:prstTxWarp>
          </a:bodyPr>
          <a:p>
            <a:pPr algn="ctr"/>
            <a:r>
              <a:rPr b="0" sz="2000" i="0" kern="10" normalizeH="0" spc="0">
                <a:ln w="12700" cap="flat" cmpd="sng">
                  <a:solidFill>
                    <a:srgbClr val="EAEAEA">
                      <a:alpha val="100000"/>
                    </a:srgbClr>
                  </a:solidFill>
                  <a:prstDash val="solid"/>
                  <a:round/>
                </a:ln>
                <a:gradFill rotWithShape="0">
                  <a:gsLst>
                    <a:gs pos="0">
                      <a:srgbClr val="A603AB">
                        <a:alpha val="100000"/>
                      </a:srgbClr>
                    </a:gs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</a:gradFill>
                <a:effectLst>
                  <a:outerShdw algn="bl" dir="2699999" dist="35921" kx="2115830" sx="100000" sy="50000">
                    <a:srgbClr val="C0C0C0">
                      <a:alpha val="79999"/>
                    </a:srgbClr>
                  </a:outerShdw>
                </a:effectLst>
                <a:latin typeface="Rockwell Extra Bold"/>
                <a:ea typeface="Rockwell Extra Bold"/>
              </a:rPr>
              <a:t>Stratified epithelia</a:t>
            </a:r>
          </a:p>
        </p:txBody>
      </p:sp>
      <p:sp>
        <p:nvSpPr>
          <p:cNvPr id="1048722" name="Text Box 3"/>
          <p:cNvSpPr txBox="1"/>
          <p:nvPr/>
        </p:nvSpPr>
        <p:spPr>
          <a:xfrm rot="0">
            <a:off x="4191000" y="381000"/>
            <a:ext cx="4724400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0099"/>
                </a:solidFill>
                <a:latin typeface="Rockwell" pitchFamily="18" charset="0"/>
              </a:rPr>
              <a:t>(Formed of two or more rows of cells)</a:t>
            </a:r>
          </a:p>
        </p:txBody>
      </p:sp>
      <p:graphicFrame>
        <p:nvGraphicFramePr>
          <p:cNvPr id="4194306" name=""/>
          <p:cNvGraphicFramePr>
            <a:graphicFrameLocks/>
          </p:cNvGraphicFramePr>
          <p:nvPr/>
        </p:nvGraphicFramePr>
        <p:xfrm rot="0">
          <a:off x="685800" y="1143000"/>
          <a:ext cx="7772400" cy="5343525"/>
        </p:xfrm>
        <a:graphic>
          <a:graphicData uri="http://schemas.openxmlformats.org/drawingml/2006/table">
            <a:tbl>
              <a:tblPr/>
              <a:tblGrid>
                <a:gridCol w="4648200"/>
                <a:gridCol w="3124200"/>
              </a:tblGrid>
              <a:tr h="517525">
                <a:tc>
                  <a:txBody>
                    <a:bodyPr/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FFFF00"/>
                          </a:solidFill>
                          <a:latin typeface="Rockwell" pitchFamily="18" charset="0"/>
                        </a:rPr>
                        <a:t>According to the shape of surface cells</a:t>
                      </a:r>
                    </a:p>
                  </a:txBody>
                  <a:tcPr marL="91440" marR="91440" marT="45723" marB="45723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6600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23" marB="45723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  <a:tr h="1682750">
                <a:tc>
                  <a:txBody>
                    <a:bodyPr/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b="1" i="1" lang="en-US">
                        <a:solidFill>
                          <a:srgbClr val="000099"/>
                        </a:solidFill>
                        <a:latin typeface="Rockwell" pitchFamily="18" charset="0"/>
                      </a:endParaRP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b="1" i="1" lang="en-US">
                        <a:solidFill>
                          <a:srgbClr val="000099"/>
                        </a:solidFill>
                        <a:latin typeface="Rockwell" pitchFamily="18" charset="0"/>
                      </a:endParaRP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000099"/>
                          </a:solidFill>
                          <a:latin typeface="Rockwell" pitchFamily="18" charset="0"/>
                        </a:rPr>
                        <a:t>Stratified squamous epithelium</a:t>
                      </a: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lang="en-US">
                        <a:solidFill>
                          <a:srgbClr val="FFFF00"/>
                        </a:solidFill>
                        <a:latin typeface="Rockwell" pitchFamily="18" charset="0"/>
                      </a:endParaRP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lang="en-US">
                        <a:solidFill>
                          <a:srgbClr val="FFFF00"/>
                        </a:solidFill>
                        <a:latin typeface="Rockwell" pitchFamily="18" charset="0"/>
                      </a:endParaRPr>
                    </a:p>
                  </a:txBody>
                  <a:tcPr marL="91440" marR="91440" marT="45723" marB="45723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9B9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23" marB="45723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  <a:tr h="1460500">
                <a:tc>
                  <a:txBody>
                    <a:bodyPr/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b="1" sz="700" i="1" lang="en-US">
                        <a:solidFill>
                          <a:srgbClr val="000099"/>
                        </a:solidFill>
                        <a:latin typeface="Rockwell" pitchFamily="18" charset="0"/>
                      </a:endParaRP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b="1" i="1" lang="en-US">
                        <a:solidFill>
                          <a:srgbClr val="000099"/>
                        </a:solidFill>
                        <a:latin typeface="Rockwell" pitchFamily="18" charset="0"/>
                      </a:endParaRP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000099"/>
                          </a:solidFill>
                          <a:latin typeface="Rockwell" pitchFamily="18" charset="0"/>
                        </a:rPr>
                        <a:t>Stratified squamous keratinized epithelium</a:t>
                      </a: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lang="en-US">
                        <a:solidFill>
                          <a:srgbClr val="FFFF00"/>
                        </a:solidFill>
                        <a:latin typeface="Rockwell" pitchFamily="18" charset="0"/>
                      </a:endParaRPr>
                    </a:p>
                  </a:txBody>
                  <a:tcPr marL="91440" marR="91440" marT="45723" marB="45723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9B9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23" marB="45723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  <a:tr h="1682750">
                <a:tc>
                  <a:txBody>
                    <a:bodyPr/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b="1" i="1" lang="en-US">
                        <a:solidFill>
                          <a:srgbClr val="000099"/>
                        </a:solidFill>
                        <a:latin typeface="Rockwell" pitchFamily="18" charset="0"/>
                      </a:endParaRP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b="1" i="1" lang="en-US">
                        <a:solidFill>
                          <a:srgbClr val="000099"/>
                        </a:solidFill>
                        <a:latin typeface="Rockwell" pitchFamily="18" charset="0"/>
                      </a:endParaRP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r>
                        <a:rPr altLang="en-US" b="1" sz="1800" i="1" lang="en-US">
                          <a:solidFill>
                            <a:srgbClr val="000099"/>
                          </a:solidFill>
                          <a:latin typeface="Rockwell" pitchFamily="18" charset="0"/>
                        </a:rPr>
                        <a:t>Transitional epithelium</a:t>
                      </a: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lang="en-US">
                        <a:solidFill>
                          <a:srgbClr val="FFFF00"/>
                        </a:solidFill>
                        <a:latin typeface="Rockwell" pitchFamily="18" charset="0"/>
                      </a:endParaRPr>
                    </a:p>
                    <a:p>
                      <a:pPr algn="ctr" eaLnBrk="1" hangingPunct="1" lvl="0">
                        <a:spcBef>
                          <a:spcPct val="20000"/>
                        </a:spcBef>
                      </a:pPr>
                      <a:endParaRPr altLang="en-US" lang="en-US">
                        <a:solidFill>
                          <a:srgbClr val="FFFF00"/>
                        </a:solidFill>
                        <a:latin typeface="Rockwell" pitchFamily="18" charset="0"/>
                      </a:endParaRPr>
                    </a:p>
                  </a:txBody>
                  <a:tcPr marL="91440" marR="91440" marT="45723" marB="45723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9B9FF"/>
                    </a:solidFill>
                  </a:tcPr>
                </a:tc>
                <a:tc>
                  <a:txBody>
                    <a:bodyPr/>
                    <a:p>
                      <a:pPr algn="l" eaLnBrk="1" hangingPunct="1" lvl="0">
                        <a:spcBef>
                          <a:spcPct val="20000"/>
                        </a:spcBef>
                      </a:pPr>
                      <a:endParaRPr altLang="en-US" sz="2800" lang="en-US"/>
                    </a:p>
                  </a:txBody>
                  <a:tcPr marL="91440" marR="91440" marT="45723" marB="45723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pic>
        <p:nvPicPr>
          <p:cNvPr id="2097173" name="Picture 21" descr="crukmig_1000img-12355j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96000" y="5029200"/>
            <a:ext cx="1600200" cy="1196975"/>
          </a:xfrm>
          <a:prstGeom prst="rect"/>
          <a:noFill/>
          <a:ln>
            <a:noFill/>
          </a:ln>
        </p:spPr>
      </p:pic>
      <p:pic>
        <p:nvPicPr>
          <p:cNvPr id="2097174" name="Picture 22" descr="4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5946775" y="1738312"/>
            <a:ext cx="1901825" cy="1233487"/>
          </a:xfrm>
          <a:prstGeom prst="rect"/>
          <a:noFill/>
          <a:ln>
            <a:noFill/>
          </a:ln>
        </p:spPr>
      </p:pic>
      <p:pic>
        <p:nvPicPr>
          <p:cNvPr id="2097175" name="Picture 23" descr="521u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6019800" y="3352800"/>
            <a:ext cx="1800225" cy="1316037"/>
          </a:xfrm>
          <a:prstGeom prst="rect"/>
          <a:noFill/>
          <a:ln>
            <a:noFill/>
          </a:ln>
        </p:spPr>
      </p:pic>
      <p:sp>
        <p:nvSpPr>
          <p:cNvPr id="1048739" name="Text Box 26"/>
          <p:cNvSpPr txBox="1"/>
          <p:nvPr/>
        </p:nvSpPr>
        <p:spPr>
          <a:xfrm rot="0">
            <a:off x="7010400" y="76200"/>
            <a:ext cx="1981200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1800" i="1" lang="en-US">
                <a:solidFill>
                  <a:srgbClr val="003399"/>
                </a:solidFill>
                <a:latin typeface="Calibri" pitchFamily="34" charset="0"/>
              </a:rPr>
              <a:t>Epithelial tissue</a:t>
            </a:r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7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0" name="Text Box 2"/>
          <p:cNvSpPr txBox="1"/>
          <p:nvPr/>
        </p:nvSpPr>
        <p:spPr>
          <a:xfrm rot="0">
            <a:off x="304800" y="228600"/>
            <a:ext cx="8229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>
              <a:spcBef>
                <a:spcPct val="50000"/>
              </a:spcBef>
            </a:pPr>
            <a:r>
              <a:rPr altLang="en-US" sz="2400" lang="en-US" u="sng">
                <a:solidFill>
                  <a:srgbClr val="003399"/>
                </a:solidFill>
                <a:latin typeface="Rockwell" pitchFamily="18" charset="0"/>
              </a:rPr>
              <a:t>Glandular epithelium:</a:t>
            </a:r>
          </a:p>
        </p:txBody>
      </p:sp>
      <p:sp>
        <p:nvSpPr>
          <p:cNvPr id="1048741" name="WordArt 3"/>
          <p:cNvSpPr/>
          <p:nvPr/>
        </p:nvSpPr>
        <p:spPr>
          <a:xfrm rot="0">
            <a:off x="914400" y="990600"/>
            <a:ext cx="2352675" cy="304800"/>
          </a:xfrm>
          <a:prstGeom prst="rect"/>
        </p:spPr>
        <p:txBody>
          <a:bodyPr anchor="t" bIns="45720" fromWordArt="1" lIns="91440" rIns="91440" tIns="45720" vert="horz" wrap="none">
            <a:prstTxWarp prst="textPlain">
              <a:avLst>
                <a:gd fmla="val 50000" name="adj"/>
              </a:avLst>
            </a:prstTxWarp>
          </a:bodyPr>
          <a:p>
            <a:pPr algn="ctr"/>
            <a:r>
              <a:rPr b="0" sz="2000" i="0" kern="10" normalizeH="0" spc="0">
                <a:ln w="12700" cap="flat" cmpd="sng">
                  <a:solidFill>
                    <a:srgbClr val="EAEAEA">
                      <a:alpha val="100000"/>
                    </a:srgbClr>
                  </a:solidFill>
                  <a:prstDash val="solid"/>
                  <a:round/>
                </a:ln>
                <a:gradFill rotWithShape="0">
                  <a:gsLst>
                    <a:gs pos="0">
                      <a:srgbClr val="A603AB">
                        <a:alpha val="100000"/>
                      </a:srgbClr>
                    </a:gs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</a:gradFill>
                <a:effectLst>
                  <a:outerShdw algn="bl" dir="2699999" dist="35921" kx="2115830" sx="100000" sy="50000">
                    <a:srgbClr val="C0C0C0">
                      <a:alpha val="79999"/>
                    </a:srgbClr>
                  </a:outerShdw>
                </a:effectLst>
                <a:latin typeface="Rockwell Extra Bold"/>
                <a:ea typeface="Rockwell Extra Bold"/>
              </a:rPr>
              <a:t>Exocrine gland</a:t>
            </a:r>
          </a:p>
        </p:txBody>
      </p:sp>
      <p:sp>
        <p:nvSpPr>
          <p:cNvPr id="1048742" name="WordArt 4"/>
          <p:cNvSpPr/>
          <p:nvPr/>
        </p:nvSpPr>
        <p:spPr>
          <a:xfrm rot="0">
            <a:off x="5029200" y="990600"/>
            <a:ext cx="2600325" cy="304800"/>
          </a:xfrm>
          <a:prstGeom prst="rect"/>
        </p:spPr>
        <p:txBody>
          <a:bodyPr anchor="t" bIns="45720" fromWordArt="1" lIns="91440" rIns="91440" tIns="45720" vert="horz" wrap="none">
            <a:prstTxWarp prst="textPlain">
              <a:avLst>
                <a:gd fmla="val 50000" name="adj"/>
              </a:avLst>
            </a:prstTxWarp>
          </a:bodyPr>
          <a:p>
            <a:pPr algn="ctr"/>
            <a:r>
              <a:rPr b="0" sz="2000" i="0" kern="10" normalizeH="0" spc="0">
                <a:ln w="12700" cap="flat" cmpd="sng">
                  <a:solidFill>
                    <a:srgbClr val="EAEAEA">
                      <a:alpha val="100000"/>
                    </a:srgbClr>
                  </a:solidFill>
                  <a:prstDash val="solid"/>
                  <a:round/>
                </a:ln>
                <a:gradFill rotWithShape="0">
                  <a:gsLst>
                    <a:gs pos="0">
                      <a:srgbClr val="A603AB">
                        <a:alpha val="100000"/>
                      </a:srgbClr>
                    </a:gs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</a:gradFill>
                <a:effectLst>
                  <a:outerShdw algn="bl" dir="2699999" dist="35921" kx="2115830" sx="100000" sy="50000">
                    <a:srgbClr val="C0C0C0">
                      <a:alpha val="79999"/>
                    </a:srgbClr>
                  </a:outerShdw>
                </a:effectLst>
                <a:latin typeface="Rockwell Extra Bold"/>
                <a:ea typeface="Rockwell Extra Bold"/>
              </a:rPr>
              <a:t>Endocrine gland</a:t>
            </a:r>
          </a:p>
        </p:txBody>
      </p:sp>
      <p:pic>
        <p:nvPicPr>
          <p:cNvPr id="2097176" name="Picture 5" descr="exocrine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066800" y="1524000"/>
            <a:ext cx="1982787" cy="2300287"/>
          </a:xfrm>
          <a:prstGeom prst="rect"/>
          <a:noFill/>
          <a:ln>
            <a:noFill/>
          </a:ln>
        </p:spPr>
      </p:pic>
      <p:pic>
        <p:nvPicPr>
          <p:cNvPr id="2097177" name="Picture 6" descr="endocrine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5181600" y="1524000"/>
            <a:ext cx="2220912" cy="2238375"/>
          </a:xfrm>
          <a:prstGeom prst="rect"/>
          <a:noFill/>
          <a:ln>
            <a:noFill/>
          </a:ln>
        </p:spPr>
      </p:pic>
      <p:sp>
        <p:nvSpPr>
          <p:cNvPr id="1048743" name="Text Box 7"/>
          <p:cNvSpPr txBox="1"/>
          <p:nvPr/>
        </p:nvSpPr>
        <p:spPr>
          <a:xfrm rot="0">
            <a:off x="304800" y="3962400"/>
            <a:ext cx="3733800" cy="1784350"/>
          </a:xfrm>
          <a:prstGeom prst="rect"/>
          <a:noFill/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sz="2000" lang="en-US">
                <a:solidFill>
                  <a:srgbClr val="000099"/>
                </a:solidFill>
              </a:rPr>
              <a:t>Release secretion into the surface through </a:t>
            </a:r>
            <a:r>
              <a:rPr altLang="en-US" sz="2000" lang="en-US">
                <a:solidFill>
                  <a:srgbClr val="FF0000"/>
                </a:solidFill>
              </a:rPr>
              <a:t>a Duct</a:t>
            </a:r>
          </a:p>
          <a:p>
            <a:pPr eaLnBrk="1" hangingPunct="1" lvl="0"/>
            <a:endParaRPr altLang="en-US" sz="2000" lang="en-US">
              <a:solidFill>
                <a:srgbClr val="000099"/>
              </a:solidFill>
            </a:endParaRPr>
          </a:p>
          <a:p>
            <a:pPr eaLnBrk="1" hangingPunct="1" lvl="0"/>
            <a:r>
              <a:rPr altLang="en-US" sz="2000" lang="en-US">
                <a:solidFill>
                  <a:srgbClr val="000099"/>
                </a:solidFill>
              </a:rPr>
              <a:t> Example: Salivary glands</a:t>
            </a:r>
          </a:p>
          <a:p>
            <a:pPr eaLnBrk="1" hangingPunct="1" lvl="0">
              <a:spcBef>
                <a:spcPct val="50000"/>
              </a:spcBef>
            </a:pPr>
            <a:endParaRPr altLang="en-US" sz="2000" lang="en-US">
              <a:solidFill>
                <a:srgbClr val="000099"/>
              </a:solidFill>
            </a:endParaRPr>
          </a:p>
        </p:txBody>
      </p:sp>
      <p:sp>
        <p:nvSpPr>
          <p:cNvPr id="1048744" name="Text Box 8"/>
          <p:cNvSpPr txBox="1"/>
          <p:nvPr/>
        </p:nvSpPr>
        <p:spPr>
          <a:xfrm rot="0">
            <a:off x="4724400" y="3962400"/>
            <a:ext cx="4191000" cy="2631441"/>
          </a:xfrm>
          <a:prstGeom prst="rect"/>
          <a:noFill/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sz="2000" lang="en-US">
                <a:solidFill>
                  <a:srgbClr val="000099"/>
                </a:solidFill>
              </a:rPr>
              <a:t> Have </a:t>
            </a:r>
            <a:r>
              <a:rPr altLang="en-US" sz="2000" lang="en-US">
                <a:solidFill>
                  <a:srgbClr val="FF0000"/>
                </a:solidFill>
              </a:rPr>
              <a:t>NO Duct</a:t>
            </a:r>
          </a:p>
          <a:p>
            <a:pPr eaLnBrk="1" hangingPunct="1" lvl="0"/>
            <a:endParaRPr altLang="en-US" sz="800" lang="en-US">
              <a:solidFill>
                <a:srgbClr val="FF0000"/>
              </a:solidFill>
            </a:endParaRPr>
          </a:p>
          <a:p>
            <a:pPr eaLnBrk="1" hangingPunct="1" lvl="0"/>
            <a:r>
              <a:rPr altLang="en-US" sz="2000" lang="en-US">
                <a:solidFill>
                  <a:srgbClr val="FF0000"/>
                </a:solidFill>
              </a:rPr>
              <a:t> </a:t>
            </a:r>
            <a:r>
              <a:rPr altLang="en-US" sz="2000" lang="en-US">
                <a:solidFill>
                  <a:srgbClr val="000099"/>
                </a:solidFill>
              </a:rPr>
              <a:t>Release hormones</a:t>
            </a:r>
          </a:p>
          <a:p>
            <a:pPr eaLnBrk="1" hangingPunct="1" lvl="0"/>
            <a:endParaRPr altLang="en-US" sz="1000" lang="en-US">
              <a:solidFill>
                <a:srgbClr val="000099"/>
              </a:solidFill>
            </a:endParaRPr>
          </a:p>
          <a:p>
            <a:pPr eaLnBrk="1" hangingPunct="1" lvl="0"/>
            <a:r>
              <a:rPr altLang="en-US" sz="2000" lang="en-US">
                <a:solidFill>
                  <a:srgbClr val="000099"/>
                </a:solidFill>
              </a:rPr>
              <a:t> Released into blood stream</a:t>
            </a:r>
          </a:p>
          <a:p>
            <a:pPr eaLnBrk="1" hangingPunct="1" lvl="0"/>
            <a:r>
              <a:rPr altLang="en-US" sz="2000" lang="en-US">
                <a:solidFill>
                  <a:srgbClr val="000099"/>
                </a:solidFill>
              </a:rPr>
              <a:t> </a:t>
            </a:r>
          </a:p>
          <a:p>
            <a:pPr eaLnBrk="1" hangingPunct="1" lvl="0"/>
            <a:r>
              <a:rPr altLang="en-US" sz="2000" lang="en-US">
                <a:solidFill>
                  <a:srgbClr val="000099"/>
                </a:solidFill>
              </a:rPr>
              <a:t> Example:  Pituitary gland,            thyroid gland,…..</a:t>
            </a:r>
          </a:p>
          <a:p>
            <a:pPr eaLnBrk="1" hangingPunct="1" lvl="0">
              <a:spcBef>
                <a:spcPct val="50000"/>
              </a:spcBef>
            </a:pPr>
            <a:endParaRPr altLang="en-US" sz="2000" lang="en-US">
              <a:solidFill>
                <a:srgbClr val="000099"/>
              </a:solidFill>
            </a:endParaRPr>
          </a:p>
        </p:txBody>
      </p:sp>
      <p:sp>
        <p:nvSpPr>
          <p:cNvPr id="1048745" name="Text Box 26"/>
          <p:cNvSpPr txBox="1"/>
          <p:nvPr/>
        </p:nvSpPr>
        <p:spPr>
          <a:xfrm rot="0">
            <a:off x="7010400" y="76200"/>
            <a:ext cx="1981200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1800" i="1" lang="en-US">
                <a:solidFill>
                  <a:srgbClr val="003399"/>
                </a:solidFill>
                <a:latin typeface="Calibri" pitchFamily="34" charset="0"/>
              </a:rPr>
              <a:t>Epithelial tissue</a:t>
            </a:r>
          </a:p>
        </p:txBody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8" name="Rectangle 2"/>
          <p:cNvSpPr/>
          <p:nvPr>
            <p:ph type="title" sz="full" idx="0"/>
          </p:nvPr>
        </p:nvSpPr>
        <p:spPr>
          <a:xfrm rot="0">
            <a:off x="0" y="0"/>
            <a:ext cx="5791200" cy="396875"/>
          </a:xfrm>
          <a:prstGeom prst="rect"/>
          <a:solidFill>
            <a:schemeClr val="lt1">
              <a:alpha val="100000"/>
            </a:schemeClr>
          </a:solidFill>
          <a:ln w="9525" cap="flat" cmpd="sng">
            <a:solidFill>
              <a:schemeClr val="lt1">
                <a:alpha val="100000"/>
              </a:schemeClr>
            </a:solidFill>
            <a:prstDash val="solid"/>
            <a:miter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sz="3600" lang="en-US">
                <a:solidFill>
                  <a:srgbClr val="FF0000"/>
                </a:solidFill>
              </a:rPr>
              <a:t>Functions of Epithelial Tissue</a:t>
            </a:r>
          </a:p>
        </p:txBody>
      </p:sp>
      <p:sp>
        <p:nvSpPr>
          <p:cNvPr id="1048759" name="Rectangle 3"/>
          <p:cNvSpPr/>
          <p:nvPr>
            <p:ph sz="full" idx="1"/>
          </p:nvPr>
        </p:nvSpPr>
        <p:spPr>
          <a:xfrm rot="0">
            <a:off x="-46037" y="441325"/>
            <a:ext cx="4983162" cy="6416675"/>
          </a:xfrm>
          <a:prstGeom prst="rect"/>
          <a:solidFill>
            <a:schemeClr val="lt1">
              <a:alpha val="100000"/>
            </a:schemeClr>
          </a:solidFill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</a:rPr>
              <a:t>Covers the surface of the body, lines the body cavities, forms the external and internal linings of most organs, and constitutes the bulk of most glands.</a:t>
            </a:r>
          </a:p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002060"/>
                </a:solidFill>
              </a:rPr>
              <a:t>It’s found all over the body!</a:t>
            </a:r>
          </a:p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Char char="–"/>
            </a:pPr>
            <a:r>
              <a:rPr altLang="en-US" b="1" sz="2800" lang="en-US">
                <a:solidFill>
                  <a:srgbClr val="FF33CC"/>
                </a:solidFill>
              </a:rPr>
              <a:t>Functions include: </a:t>
            </a:r>
          </a:p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sz="2800" lang="en-US">
                <a:solidFill>
                  <a:srgbClr val="800000"/>
                </a:solidFill>
              </a:rPr>
              <a:t>Protection</a:t>
            </a:r>
          </a:p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sz="2800" lang="en-US">
                <a:solidFill>
                  <a:srgbClr val="800000"/>
                </a:solidFill>
              </a:rPr>
              <a:t>Absorption</a:t>
            </a:r>
          </a:p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sz="2800" lang="en-US">
                <a:solidFill>
                  <a:srgbClr val="800000"/>
                </a:solidFill>
              </a:rPr>
              <a:t>Secretion	       </a:t>
            </a:r>
          </a:p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sz="2800" lang="en-US">
                <a:solidFill>
                  <a:srgbClr val="800000"/>
                </a:solidFill>
              </a:rPr>
              <a:t>Filtration and diffusion</a:t>
            </a:r>
          </a:p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sz="2800" lang="en-US">
                <a:solidFill>
                  <a:srgbClr val="800000"/>
                </a:solidFill>
              </a:rPr>
              <a:t>Sensory reception</a:t>
            </a:r>
          </a:p>
          <a:p>
            <a:pPr eaLnBrk="1" hangingPunct="1" indent="-396875" lvl="0" marL="396875">
              <a:lnSpc>
                <a:spcPct val="90000"/>
              </a:lnSpc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sz="2800" lang="en-US">
                <a:solidFill>
                  <a:srgbClr val="800000"/>
                </a:solidFill>
              </a:rPr>
              <a:t>Transcellular and surface transport</a:t>
            </a:r>
          </a:p>
        </p:txBody>
      </p:sp>
      <p:pic>
        <p:nvPicPr>
          <p:cNvPr id="2097178" name="Picture 4" descr="HM00301_[1]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699000" y="561975"/>
            <a:ext cx="4445000" cy="5065712"/>
          </a:xfrm>
          <a:prstGeom prst="rect"/>
          <a:solidFill>
            <a:schemeClr val="lt1"/>
          </a:solidFill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</p:pic>
      <p:sp>
        <p:nvSpPr>
          <p:cNvPr id="1048760" name="Rectangle 4"/>
          <p:cNvSpPr/>
          <p:nvPr/>
        </p:nvSpPr>
        <p:spPr>
          <a:xfrm rot="0">
            <a:off x="4572000" y="5627687"/>
            <a:ext cx="4572000" cy="1691639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396875" lvl="0" marL="396875">
              <a:lnSpc>
                <a:spcPct val="90000"/>
              </a:lnSpc>
              <a:spcBef>
                <a:spcPts val="1200"/>
              </a:spcBef>
              <a:buFont typeface="Calibri" pitchFamily="34" charset="0"/>
              <a:buChar char="–"/>
            </a:pPr>
            <a:r>
              <a:rPr altLang="en-US" b="1" sz="2400" lang="en-US">
                <a:solidFill>
                  <a:srgbClr val="7030A0"/>
                </a:solidFill>
                <a:latin typeface="Calibri" pitchFamily="34" charset="0"/>
              </a:rPr>
              <a:t>Above we have a section of skin.  Where would the bulk of the epithelial tissue be found?</a:t>
            </a:r>
          </a:p>
          <a:p>
            <a:pPr eaLnBrk="1" hangingPunct="1" indent="-396875" lvl="0" marL="396875">
              <a:lnSpc>
                <a:spcPct val="90000"/>
              </a:lnSpc>
            </a:pPr>
            <a:endParaRPr altLang="en-US" b="1" sz="2400" lang="en-US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 advClick="1" advTm="22000"/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68" name="Title 1"/>
          <p:cNvSpPr/>
          <p:nvPr>
            <p:ph type="ctrTitle" sz="full" idx="0"/>
          </p:nvPr>
        </p:nvSpPr>
        <p:spPr>
          <a:xfrm rot="0">
            <a:off x="428625" y="71437"/>
            <a:ext cx="8215312" cy="538162"/>
          </a:xfrm>
          <a:prstGeom prst="rect"/>
          <a:gradFill rotWithShape="1">
            <a:gsLst>
              <a:gs pos="0">
                <a:srgbClr val="A3C4FF">
                  <a:alpha val="100000"/>
                </a:srgbClr>
              </a:gs>
              <a:gs pos="0">
                <a:srgbClr val="A3C4FF">
                  <a:alpha val="100000"/>
                </a:srgbClr>
              </a:gs>
              <a:gs pos="35001">
                <a:srgbClr val="BFD5FF">
                  <a:alpha val="100000"/>
                </a:srgbClr>
              </a:gs>
              <a:gs pos="100000">
                <a:srgbClr val="E5EEFF">
                  <a:alpha val="100000"/>
                </a:srgbClr>
              </a:gs>
            </a:gsLst>
            <a:lin ang="16200000" scaled="1"/>
          </a:gradFill>
          <a:ln>
            <a:noFill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algn="l" lvl="0"/>
            <a:r>
              <a:rPr altLang="en-US" b="1" sz="3200" lang="en-US">
                <a:solidFill>
                  <a:srgbClr val="FF0000"/>
                </a:solidFill>
              </a:rPr>
              <a:t>The principal functions of epithelial tissues are </a:t>
            </a:r>
          </a:p>
        </p:txBody>
      </p:sp>
      <p:sp>
        <p:nvSpPr>
          <p:cNvPr id="1048769" name="Subtitle 2"/>
          <p:cNvSpPr/>
          <p:nvPr>
            <p:ph type="subTitle" sz="full" idx="1"/>
          </p:nvPr>
        </p:nvSpPr>
        <p:spPr>
          <a:xfrm rot="0">
            <a:off x="0" y="714375"/>
            <a:ext cx="9144000" cy="6448425"/>
          </a:xfrm>
          <a:prstGeom prst="rect"/>
          <a:gradFill rotWithShape="1">
            <a:gsLst>
              <a:gs pos="0">
                <a:srgbClr val="9EEAFF">
                  <a:alpha val="100000"/>
                </a:srgbClr>
              </a:gs>
              <a:gs pos="0">
                <a:srgbClr val="9EEAFF">
                  <a:alpha val="100000"/>
                </a:srgbClr>
              </a:gs>
              <a:gs pos="35001">
                <a:srgbClr val="BBEFFF">
                  <a:alpha val="100000"/>
                </a:srgbClr>
              </a:gs>
              <a:gs pos="100000">
                <a:srgbClr val="E4F9FF">
                  <a:alpha val="100000"/>
                </a:srgbClr>
              </a:gs>
            </a:gsLst>
            <a:lin ang="16200000" scaled="1"/>
          </a:gradFill>
          <a:ln w="9525" cap="flat" cmpd="sng">
            <a:solidFill>
              <a:srgbClr val="46AAC5">
                <a:alpha val="100000"/>
              </a:srgbClr>
            </a:solidFill>
            <a:prstDash val="solid"/>
            <a:round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t" bIns="45720" lIns="91440" rIns="91440" tIns="45720" vert="horz"/>
          <a:lstStyle>
            <a:lvl1pPr algn="ctr" marL="0"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None/>
            </a:lvl2pPr>
            <a:lvl3pPr algn="ctr" marL="914400">
              <a:buNone/>
            </a:lvl3pPr>
            <a:lvl4pPr algn="ctr" marL="1371600">
              <a:buNone/>
            </a:lvl4pPr>
            <a:lvl5pPr algn="ctr" marL="1828800">
              <a:buNone/>
            </a:lvl5pPr>
          </a:lstStyle>
          <a:p>
            <a:pPr algn="l" eaLnBrk="1" hangingPunct="1" indent="-514350" lvl="0" marL="514350"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sz="2800" lang="en-US">
                <a:solidFill>
                  <a:srgbClr val="7030A0"/>
                </a:solidFill>
              </a:rPr>
              <a:t>Covering and lining of surfaces (e.g., skin covers the entire body, epithelial lining of intestines),</a:t>
            </a:r>
          </a:p>
          <a:p>
            <a:pPr algn="l" eaLnBrk="1" hangingPunct="1" indent="-582930" lvl="1" marL="971550">
              <a:spcBef>
                <a:spcPts val="600"/>
              </a:spcBef>
              <a:buFont typeface="Calibri" pitchFamily="34" charset="0"/>
              <a:buChar char="–"/>
            </a:pPr>
            <a:r>
              <a:rPr altLang="en-US" b="1" sz="2400" lang="en-US">
                <a:solidFill>
                  <a:srgbClr val="7030A0"/>
                </a:solidFill>
              </a:rPr>
              <a:t>Provides Protection</a:t>
            </a:r>
            <a:r>
              <a:rPr altLang="en-US" sz="2000" lang="en-US"/>
              <a:t>--- from UV rays (e.g. Melanin)</a:t>
            </a:r>
            <a:r>
              <a:rPr altLang="en-US" sz="2400" lang="en-US"/>
              <a:t>, loss of fluid or desiccation (corneum), infection, friction (mechanical abrasion), etc.</a:t>
            </a:r>
          </a:p>
          <a:p>
            <a:pPr algn="l" indent="-514350" lvl="0" marL="514350"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lang="en-US">
                <a:solidFill>
                  <a:srgbClr val="7030A0"/>
                </a:solidFill>
              </a:rPr>
              <a:t>Transcellular transport (transcytosis):</a:t>
            </a:r>
          </a:p>
          <a:p>
            <a:pPr algn="l" eaLnBrk="1" hangingPunct="1" indent="-582930" lvl="1" marL="971550">
              <a:spcBef>
                <a:spcPct val="0"/>
              </a:spcBef>
              <a:buFont typeface="Calibri" pitchFamily="34" charset="0"/>
              <a:buChar char="–"/>
            </a:pPr>
            <a:r>
              <a:rPr altLang="en-US" lang="en-GB"/>
              <a:t>Diffusion of gases (oxygen &amp; carbon dioxide) across the epithelial cells of lung alveoli &amp; capillaries.</a:t>
            </a:r>
          </a:p>
          <a:p>
            <a:pPr algn="l" eaLnBrk="1" hangingPunct="1" indent="-582930" lvl="1" marL="971550">
              <a:spcBef>
                <a:spcPct val="0"/>
              </a:spcBef>
              <a:buFont typeface="Calibri" pitchFamily="34" charset="0"/>
              <a:buChar char="–"/>
            </a:pPr>
            <a:r>
              <a:rPr altLang="en-US" lang="en-GB"/>
              <a:t>Carrier protein-mediated transport (e.g. digested food such as amino acids and glucose across intestinal epithelia)</a:t>
            </a:r>
          </a:p>
          <a:p>
            <a:pPr algn="l" eaLnBrk="1" hangingPunct="1" indent="-582930" lvl="1" marL="971550">
              <a:spcBef>
                <a:spcPct val="0"/>
              </a:spcBef>
              <a:buFont typeface="Calibri" pitchFamily="34" charset="0"/>
              <a:buChar char="–"/>
            </a:pPr>
            <a:r>
              <a:rPr altLang="en-US" lang="en-GB"/>
              <a:t>Vesicle-mediated transport (of IgA &amp; other molecules)</a:t>
            </a:r>
          </a:p>
          <a:p>
            <a:pPr algn="l" indent="-514350" lvl="0" marL="514350">
              <a:spcBef>
                <a:spcPts val="600"/>
              </a:spcBef>
              <a:buFont typeface="Calibri" pitchFamily="34" charset="0"/>
              <a:buAutoNum type="arabicPeriod" startAt="1"/>
            </a:pPr>
            <a:r>
              <a:rPr altLang="en-US" b="1" sz="2800" lang="en-GB">
                <a:solidFill>
                  <a:srgbClr val="7030A0"/>
                </a:solidFill>
              </a:rPr>
              <a:t>Surface transport by cilia </a:t>
            </a:r>
            <a:r>
              <a:rPr altLang="en-US" sz="2800" lang="en-US"/>
              <a:t>(e.g. mucus in respiratory system, ovum in uterus and oviduct)</a:t>
            </a:r>
          </a:p>
        </p:txBody>
      </p:sp>
    </p:spTree>
  </p:cSld>
  <p:clrMapOvr>
    <a:masterClrMapping/>
  </p:clrMapOvr>
  <p:transition spd="med" advClick="1" advTm="22000"/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8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0" name="Title 1"/>
          <p:cNvSpPr/>
          <p:nvPr>
            <p:ph type="ctrTitle" sz="full" idx="0"/>
          </p:nvPr>
        </p:nvSpPr>
        <p:spPr>
          <a:xfrm rot="0">
            <a:off x="785812" y="0"/>
            <a:ext cx="7993062" cy="609600"/>
          </a:xfrm>
          <a:prstGeom prst="rect"/>
          <a:solidFill>
            <a:schemeClr val="lt1">
              <a:alpha val="100000"/>
            </a:schemeClr>
          </a:solidFill>
          <a:ln>
            <a:noFill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algn="l" eaLnBrk="1" hangingPunct="1" lvl="0"/>
            <a:r>
              <a:rPr altLang="en-US" b="1" sz="3600" lang="en-US">
                <a:solidFill>
                  <a:srgbClr val="FF33CC"/>
                </a:solidFill>
              </a:rPr>
              <a:t>Functions of epithelial tissues (Cont’ed)</a:t>
            </a:r>
          </a:p>
        </p:txBody>
      </p:sp>
      <p:sp>
        <p:nvSpPr>
          <p:cNvPr id="1048771" name="Subtitle 2"/>
          <p:cNvSpPr/>
          <p:nvPr>
            <p:ph type="subTitle" sz="full" idx="1"/>
          </p:nvPr>
        </p:nvSpPr>
        <p:spPr>
          <a:xfrm rot="0">
            <a:off x="11112" y="571500"/>
            <a:ext cx="9132888" cy="6286500"/>
          </a:xfrm>
          <a:prstGeom prst="rect"/>
          <a:solidFill>
            <a:schemeClr val="lt1">
              <a:alpha val="100000"/>
            </a:schemeClr>
          </a:solidFill>
          <a:ln>
            <a:noFill/>
          </a:ln>
          <a:effectLst>
            <a:outerShdw algn="b" dir="5400000" dist="20000" kx="0" sx="100000" sy="100000">
              <a:srgbClr val="000000">
                <a:alpha val="37999"/>
              </a:srgbClr>
            </a:outerShdw>
          </a:effectLst>
        </p:spPr>
        <p:txBody>
          <a:bodyPr anchor="t" bIns="45720" lIns="91440" rIns="91440" tIns="45720" vert="horz"/>
          <a:lstStyle>
            <a:lvl1pPr algn="ctr" marL="0"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None/>
            </a:lvl2pPr>
            <a:lvl3pPr algn="ctr" marL="914400">
              <a:buNone/>
            </a:lvl3pPr>
            <a:lvl4pPr algn="ctr" marL="1371600">
              <a:buNone/>
            </a:lvl4pPr>
            <a:lvl5pPr algn="ctr" marL="1828800">
              <a:buNone/>
            </a:lvl5pPr>
          </a:lstStyle>
          <a:p>
            <a:pPr algn="l" eaLnBrk="1" hangingPunct="1" indent="-517525" lvl="0" marL="517525">
              <a:spcBef>
                <a:spcPts val="1200"/>
              </a:spcBef>
              <a:buFont typeface="Calibri" pitchFamily="34" charset="0"/>
              <a:buAutoNum type="arabicPeriod" startAt="4"/>
            </a:pPr>
            <a:r>
              <a:rPr altLang="en-US" b="1" sz="3300" lang="en-US">
                <a:solidFill>
                  <a:srgbClr val="FF0000"/>
                </a:solidFill>
              </a:rPr>
              <a:t>Absorption</a:t>
            </a:r>
            <a:r>
              <a:rPr altLang="en-US" lang="en-US"/>
              <a:t>: </a:t>
            </a:r>
            <a:r>
              <a:rPr altLang="en-US" lang="en-US">
                <a:solidFill>
                  <a:srgbClr val="6600CC"/>
                </a:solidFill>
              </a:rPr>
              <a:t>occurs via endocytosis or pinocytosis in various organs (e.g., the proximal convoluted tubules of kidneys)</a:t>
            </a:r>
          </a:p>
          <a:p>
            <a:pPr algn="l" eaLnBrk="1" hangingPunct="1" indent="-517525" lvl="0" marL="517525">
              <a:spcBef>
                <a:spcPts val="1200"/>
              </a:spcBef>
              <a:buFont typeface="Calibri" pitchFamily="34" charset="0"/>
              <a:buAutoNum type="arabicPeriod" startAt="4"/>
            </a:pPr>
            <a:r>
              <a:rPr altLang="en-US" b="1" sz="3500" lang="en-US">
                <a:solidFill>
                  <a:srgbClr val="FF0000"/>
                </a:solidFill>
              </a:rPr>
              <a:t>Secretion</a:t>
            </a:r>
            <a:r>
              <a:rPr altLang="en-US" lang="en-US"/>
              <a:t>: </a:t>
            </a:r>
            <a:r>
              <a:rPr altLang="en-US" lang="en-US">
                <a:solidFill>
                  <a:srgbClr val="0070C0"/>
                </a:solidFill>
              </a:rPr>
              <a:t>of various products (e.g., hormones, mucus, sweat, saliva, proteins, etc) by exocytosis, </a:t>
            </a:r>
          </a:p>
          <a:p>
            <a:pPr algn="l" eaLnBrk="1" hangingPunct="1" indent="-517525" lvl="0" marL="517525">
              <a:spcBef>
                <a:spcPts val="1200"/>
              </a:spcBef>
              <a:buFont typeface="Calibri" pitchFamily="34" charset="0"/>
              <a:buAutoNum type="arabicPeriod" startAt="4"/>
            </a:pPr>
            <a:r>
              <a:rPr altLang="en-US" b="1" sz="3500" lang="en-US">
                <a:solidFill>
                  <a:srgbClr val="FF0000"/>
                </a:solidFill>
              </a:rPr>
              <a:t>Sensory functions </a:t>
            </a:r>
            <a:r>
              <a:rPr altLang="en-US" lang="en-US">
                <a:solidFill>
                  <a:srgbClr val="9900FF"/>
                </a:solidFill>
              </a:rPr>
              <a:t>(e.g., gustatory and olfactory neuroepithelium)</a:t>
            </a:r>
          </a:p>
          <a:p>
            <a:pPr algn="l" eaLnBrk="1" hangingPunct="1" indent="-517525" lvl="0" marL="517525">
              <a:spcBef>
                <a:spcPts val="600"/>
              </a:spcBef>
              <a:buFont typeface="Calibri" pitchFamily="34" charset="0"/>
              <a:buAutoNum type="arabicPeriod" startAt="4"/>
            </a:pPr>
            <a:r>
              <a:rPr altLang="en-US" b="1" sz="3500" lang="en-US">
                <a:solidFill>
                  <a:srgbClr val="FF0000"/>
                </a:solidFill>
              </a:rPr>
              <a:t>Contractility: </a:t>
            </a:r>
            <a:r>
              <a:rPr altLang="en-US" lang="en-US"/>
              <a:t>e.g., </a:t>
            </a:r>
            <a:r>
              <a:rPr altLang="en-US" b="1" sz="3500" lang="en-US">
                <a:solidFill>
                  <a:srgbClr val="7030A0"/>
                </a:solidFill>
              </a:rPr>
              <a:t>myoepithelial</a:t>
            </a:r>
            <a:r>
              <a:rPr altLang="en-US" b="1" lang="en-US">
                <a:solidFill>
                  <a:srgbClr val="7030A0"/>
                </a:solidFill>
              </a:rPr>
              <a:t> </a:t>
            </a:r>
            <a:r>
              <a:rPr altLang="en-US" b="1" sz="3500" lang="en-US">
                <a:solidFill>
                  <a:srgbClr val="7030A0"/>
                </a:solidFill>
              </a:rPr>
              <a:t>cells</a:t>
            </a:r>
            <a:r>
              <a:rPr altLang="en-US" b="1" lang="en-US">
                <a:solidFill>
                  <a:srgbClr val="7030A0"/>
                </a:solidFill>
              </a:rPr>
              <a:t> </a:t>
            </a:r>
          </a:p>
          <a:p>
            <a:pPr algn="l" eaLnBrk="1" hangingPunct="1" indent="-584835" lvl="1" marL="974725">
              <a:spcBef>
                <a:spcPts val="600"/>
              </a:spcBef>
              <a:buFont typeface="Calibri" pitchFamily="34" charset="0"/>
              <a:buChar char="―"/>
            </a:pPr>
            <a:r>
              <a:rPr altLang="en-US" lang="en-US">
                <a:solidFill>
                  <a:srgbClr val="3366FF"/>
                </a:solidFill>
              </a:rPr>
              <a:t>epithelial cells specialized for high contractility</a:t>
            </a:r>
          </a:p>
          <a:p>
            <a:pPr algn="l" eaLnBrk="1" hangingPunct="1" indent="-584835" lvl="1" marL="974725">
              <a:spcBef>
                <a:spcPts val="600"/>
              </a:spcBef>
              <a:buFont typeface="Calibri" pitchFamily="34" charset="0"/>
              <a:buChar char="―"/>
            </a:pPr>
            <a:r>
              <a:rPr altLang="en-US" lang="en-US">
                <a:solidFill>
                  <a:srgbClr val="3366FF"/>
                </a:solidFill>
              </a:rPr>
              <a:t>found in sweat, salivary, lacrimal, &amp; mammary glands to assist the process of their secretion mechanically.</a:t>
            </a:r>
            <a:r>
              <a:rPr altLang="en-US" lang="en-US"/>
              <a:t> </a:t>
            </a:r>
          </a:p>
          <a:p>
            <a:pPr algn="l" eaLnBrk="1" hangingPunct="1" indent="-517525" lvl="0" marL="517525">
              <a:lnSpc>
                <a:spcPct val="90000"/>
              </a:lnSpc>
              <a:spcBef>
                <a:spcPts val="1200"/>
              </a:spcBef>
              <a:buFont typeface="Calibri" pitchFamily="34" charset="0"/>
              <a:buChar char="―"/>
            </a:pPr>
            <a:endParaRPr altLang="en-US" b="1" sz="1500" lang="en-US">
              <a:solidFill>
                <a:srgbClr val="327666"/>
              </a:solidFill>
            </a:endParaRPr>
          </a:p>
        </p:txBody>
      </p:sp>
    </p:spTree>
  </p:cSld>
  <p:clrMapOvr>
    <a:masterClrMapping/>
  </p:clrMapOvr>
  <p:transition spd="med" advClick="1" advTm="22000"/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8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7" name="Rectangle 1"/>
          <p:cNvSpPr/>
          <p:nvPr/>
        </p:nvSpPr>
        <p:spPr>
          <a:xfrm rot="0">
            <a:off x="0" y="0"/>
            <a:ext cx="9144000" cy="72288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47624" lvl="0" marL="284162">
              <a:spcBef>
                <a:spcPts val="1200"/>
              </a:spcBef>
            </a:pPr>
            <a:r>
              <a:rPr altLang="en-US" b="1" sz="3600" lang="en-US">
                <a:solidFill>
                  <a:srgbClr val="FF0000"/>
                </a:solidFill>
                <a:latin typeface="Calibri" pitchFamily="34" charset="0"/>
              </a:rPr>
              <a:t>Apical Modifications of Epithelial cells for different functions</a:t>
            </a:r>
          </a:p>
          <a:p>
            <a:pPr eaLnBrk="1" hangingPunct="1" indent="-47624" lvl="0" marL="284162">
              <a:buFont typeface="Calibri" pitchFamily="34" charset="0"/>
              <a:buChar char="–"/>
            </a:pPr>
            <a:r>
              <a:rPr altLang="en-US" sz="2800" lang="en-US">
                <a:solidFill>
                  <a:srgbClr val="6600CC"/>
                </a:solidFill>
                <a:latin typeface="Calibri" pitchFamily="34" charset="0"/>
              </a:rPr>
              <a:t>The free or apical surface of many types of epithelial cells has specialized structures to increase the cell surface area or to move substances or particles on the surface.</a:t>
            </a:r>
          </a:p>
          <a:p>
            <a:pPr eaLnBrk="1" hangingPunct="1" indent="-47624" lvl="0" marL="284162"/>
            <a:r>
              <a:rPr altLang="en-US" b="1" sz="3600" lang="en-US">
                <a:solidFill>
                  <a:srgbClr val="FF0000"/>
                </a:solidFill>
                <a:latin typeface="Calibri" pitchFamily="34" charset="0"/>
              </a:rPr>
              <a:t>   1. Cilia</a:t>
            </a:r>
          </a:p>
          <a:p>
            <a:pPr eaLnBrk="1" hangingPunct="1" indent="-47624" lvl="0" marL="284162">
              <a:buFont typeface="Calibri" pitchFamily="34" charset="0"/>
              <a:buChar char="–"/>
            </a:pPr>
            <a:r>
              <a:rPr altLang="en-US" sz="2400" lang="en-US">
                <a:solidFill>
                  <a:srgbClr val="9900FF"/>
                </a:solidFill>
                <a:latin typeface="Calibri" pitchFamily="34" charset="0"/>
              </a:rPr>
              <a:t>are elongated, highly motile cytoplasmic extensions of almost all cells, 2–10 µm long and 0.05–0.25 µm (50‒250 nm) in diameter, which are much longer &amp; two times wider than a typical microvillus.</a:t>
            </a:r>
          </a:p>
          <a:p>
            <a:pPr eaLnBrk="1" hangingPunct="1" indent="-47624" lvl="0" marL="284162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400" lang="en-US">
                <a:solidFill>
                  <a:srgbClr val="307262"/>
                </a:solidFill>
                <a:latin typeface="Calibri" pitchFamily="34" charset="0"/>
              </a:rPr>
              <a:t>each cilium is bounded by the cell membrane and contains an axoneme with a central pair of microtubules surrounded by nine peripheral microtubular pairs.</a:t>
            </a:r>
          </a:p>
          <a:p>
            <a:pPr eaLnBrk="1" hangingPunct="1" indent="-47624" lvl="0" marL="284162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400" lang="en-US">
                <a:solidFill>
                  <a:srgbClr val="FF0066"/>
                </a:solidFill>
                <a:latin typeface="Calibri" pitchFamily="34" charset="0"/>
              </a:rPr>
              <a:t>Originate from the </a:t>
            </a:r>
            <a:r>
              <a:rPr altLang="en-US" b="1" sz="2400" lang="en-US">
                <a:solidFill>
                  <a:srgbClr val="FF0066"/>
                </a:solidFill>
                <a:latin typeface="Calibri" pitchFamily="34" charset="0"/>
              </a:rPr>
              <a:t>basal bodies,</a:t>
            </a:r>
            <a:r>
              <a:rPr altLang="en-US" sz="2400" lang="en-US">
                <a:solidFill>
                  <a:srgbClr val="FF0066"/>
                </a:solidFill>
                <a:latin typeface="Calibri" pitchFamily="34" charset="0"/>
              </a:rPr>
              <a:t> which are electron-dense structures in the apical cytoplasm at the apical pole just at the roots of the cilia.</a:t>
            </a:r>
          </a:p>
        </p:txBody>
      </p:sp>
    </p:spTree>
  </p:cSld>
  <p:clrMapOvr>
    <a:masterClrMapping/>
  </p:clrMapOvr>
  <p:transition spd="med" advClick="1"/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8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8" name="Rectangle 1"/>
          <p:cNvSpPr/>
          <p:nvPr/>
        </p:nvSpPr>
        <p:spPr>
          <a:xfrm rot="0">
            <a:off x="0" y="0"/>
            <a:ext cx="9144000" cy="72542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228600" lvl="0">
              <a:spcBef>
                <a:spcPts val="1200"/>
              </a:spcBef>
            </a:pPr>
            <a:r>
              <a:rPr altLang="en-US" b="1" sz="3600" lang="en-US">
                <a:solidFill>
                  <a:srgbClr val="FF0000"/>
                </a:solidFill>
                <a:latin typeface="Calibri" pitchFamily="34" charset="0"/>
              </a:rPr>
              <a:t>Cilia</a:t>
            </a:r>
          </a:p>
          <a:p>
            <a:pPr eaLnBrk="1" hangingPunct="1" indent="228600" lvl="0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  <a:latin typeface="Calibri" pitchFamily="34" charset="0"/>
              </a:rPr>
              <a:t>Basal bodies have a structure similar to that of centrioles. </a:t>
            </a:r>
          </a:p>
          <a:p>
            <a:pPr eaLnBrk="1" hangingPunct="1" indent="228600" lvl="0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0070C0"/>
                </a:solidFill>
                <a:latin typeface="Calibri" pitchFamily="34" charset="0"/>
              </a:rPr>
              <a:t>In living organisms, cilia exhibit rapid back-and-forth movements coordinated to propel </a:t>
            </a:r>
            <a:r>
              <a:rPr altLang="en-US" b="1" sz="2800" lang="en-US">
                <a:solidFill>
                  <a:srgbClr val="0070C0"/>
                </a:solidFill>
                <a:latin typeface="Calibri" pitchFamily="34" charset="0"/>
              </a:rPr>
              <a:t>a current of fluid and suspended particles </a:t>
            </a:r>
            <a:r>
              <a:rPr altLang="en-US" sz="2800" lang="en-US">
                <a:solidFill>
                  <a:srgbClr val="0070C0"/>
                </a:solidFill>
                <a:latin typeface="Calibri" pitchFamily="34" charset="0"/>
              </a:rPr>
              <a:t>in one direction over the ciliated epithelium. </a:t>
            </a:r>
          </a:p>
          <a:p>
            <a:pPr eaLnBrk="1" hangingPunct="1" indent="228600" lvl="0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7030A0"/>
                </a:solidFill>
                <a:latin typeface="Calibri" pitchFamily="34" charset="0"/>
              </a:rPr>
              <a:t>The motion occurs due to activity of </a:t>
            </a:r>
            <a:r>
              <a:rPr altLang="en-US" b="1" sz="2800" lang="en-US">
                <a:solidFill>
                  <a:srgbClr val="7030A0"/>
                </a:solidFill>
                <a:latin typeface="Calibri" pitchFamily="34" charset="0"/>
              </a:rPr>
              <a:t>ciliary dynein</a:t>
            </a:r>
            <a:r>
              <a:rPr altLang="en-US" sz="2800" lang="en-US">
                <a:solidFill>
                  <a:srgbClr val="7030A0"/>
                </a:solidFill>
                <a:latin typeface="Calibri" pitchFamily="34" charset="0"/>
              </a:rPr>
              <a:t> present on the peripheral microtubular doublets of the axoneme, with </a:t>
            </a:r>
            <a:r>
              <a:rPr altLang="en-US" b="1" sz="2800" lang="en-US">
                <a:solidFill>
                  <a:srgbClr val="7030A0"/>
                </a:solidFill>
                <a:latin typeface="Calibri" pitchFamily="34" charset="0"/>
              </a:rPr>
              <a:t>adenosine triphosphate (ATP) </a:t>
            </a:r>
            <a:r>
              <a:rPr altLang="en-US" sz="2800" lang="en-US">
                <a:solidFill>
                  <a:srgbClr val="7030A0"/>
                </a:solidFill>
                <a:latin typeface="Calibri" pitchFamily="34" charset="0"/>
              </a:rPr>
              <a:t>as the energy source. </a:t>
            </a:r>
          </a:p>
          <a:p>
            <a:pPr eaLnBrk="1" hangingPunct="1" indent="228600" lvl="0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6600CC"/>
                </a:solidFill>
                <a:latin typeface="Calibri" pitchFamily="34" charset="0"/>
              </a:rPr>
              <a:t>A ciliated lining cell of the trachea can bear 250 to 300 cilia. </a:t>
            </a:r>
          </a:p>
          <a:p>
            <a:pPr eaLnBrk="1" hangingPunct="1" indent="228600" lvl="0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6600CC"/>
                </a:solidFill>
                <a:latin typeface="Calibri" pitchFamily="34" charset="0"/>
              </a:rPr>
              <a:t>Three types of cilia: </a:t>
            </a:r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</a:rPr>
              <a:t>Typical cilia </a:t>
            </a:r>
            <a:r>
              <a:rPr altLang="en-US" sz="2800" lang="en-US">
                <a:solidFill>
                  <a:srgbClr val="6600CC"/>
                </a:solidFill>
                <a:latin typeface="Calibri" pitchFamily="34" charset="0"/>
              </a:rPr>
              <a:t>(perfectly motile), </a:t>
            </a:r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</a:rPr>
              <a:t>primary</a:t>
            </a:r>
            <a:r>
              <a:rPr altLang="en-US" sz="2800" lang="en-US">
                <a:solidFill>
                  <a:srgbClr val="6600CC"/>
                </a:solidFill>
                <a:latin typeface="Calibri" pitchFamily="34" charset="0"/>
              </a:rPr>
              <a:t> (nonmotile) and </a:t>
            </a:r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</a:rPr>
              <a:t>nodal</a:t>
            </a:r>
            <a:r>
              <a:rPr altLang="en-US" sz="2800" lang="en-US">
                <a:solidFill>
                  <a:srgbClr val="6600CC"/>
                </a:solidFill>
                <a:latin typeface="Calibri" pitchFamily="34" charset="0"/>
              </a:rPr>
              <a:t> </a:t>
            </a:r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</a:rPr>
              <a:t>cilia</a:t>
            </a:r>
            <a:r>
              <a:rPr altLang="en-US" sz="2800" lang="en-US">
                <a:solidFill>
                  <a:srgbClr val="6600CC"/>
                </a:solidFill>
                <a:latin typeface="Calibri" pitchFamily="34" charset="0"/>
              </a:rPr>
              <a:t> (motile). </a:t>
            </a:r>
          </a:p>
        </p:txBody>
      </p:sp>
    </p:spTree>
  </p:cSld>
  <p:clrMapOvr>
    <a:masterClrMapping/>
  </p:clrMapOvr>
  <p:transition spd="med" advClick="1"/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79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19112" y="536575"/>
            <a:ext cx="8255000" cy="6172200"/>
          </a:xfrm>
          <a:prstGeom prst="rect"/>
          <a:noFill/>
          <a:ln>
            <a:noFill/>
          </a:ln>
        </p:spPr>
      </p:pic>
      <p:cxnSp>
        <p:nvCxnSpPr>
          <p:cNvPr id="3145728" name="Straight Arrow Connector 3"/>
          <p:cNvCxnSpPr>
            <a:cxnSpLocks/>
          </p:cNvCxnSpPr>
          <p:nvPr/>
        </p:nvCxnSpPr>
        <p:spPr>
          <a:xfrm rot="5400000">
            <a:off x="2202655" y="2420144"/>
            <a:ext cx="1752600" cy="1587"/>
          </a:xfrm>
          <a:prstGeom prst="straightConnector1"/>
          <a:noFill/>
          <a:ln w="57150" cap="flat" cmpd="sng">
            <a:solidFill>
              <a:srgbClr val="FF0000">
                <a:alpha val="100000"/>
              </a:srgbClr>
            </a:solidFill>
            <a:prstDash val="solid"/>
            <a:round/>
            <a:tailEnd type="arrow" w="med" len="med"/>
          </a:ln>
          <a:effectLst>
            <a:outerShdw algn="b" dir="5400000" dist="23000" kx="0" sx="100000" sy="100000">
              <a:srgbClr val="000000">
                <a:alpha val="34999"/>
              </a:srgbClr>
            </a:outerShdw>
          </a:effectLst>
        </p:spPr>
      </p:cxnSp>
      <p:cxnSp>
        <p:nvCxnSpPr>
          <p:cNvPr id="3145729" name="Straight Arrow Connector 7"/>
          <p:cNvCxnSpPr>
            <a:cxnSpLocks/>
          </p:cNvCxnSpPr>
          <p:nvPr/>
        </p:nvCxnSpPr>
        <p:spPr>
          <a:xfrm rot="0">
            <a:off x="7915275" y="3897312"/>
            <a:ext cx="68262" cy="1390650"/>
          </a:xfrm>
          <a:prstGeom prst="straightConnector1"/>
          <a:noFill/>
          <a:ln w="57150" cap="flat" cmpd="sng">
            <a:solidFill>
              <a:srgbClr val="0070C0">
                <a:alpha val="100000"/>
              </a:srgbClr>
            </a:solidFill>
            <a:prstDash val="solid"/>
            <a:round/>
            <a:tailEnd type="arrow" w="med" len="med"/>
          </a:ln>
          <a:effectLst>
            <a:outerShdw algn="b" dir="5400000" dist="23000" kx="0" sx="100000" sy="100000">
              <a:srgbClr val="000000">
                <a:alpha val="34999"/>
              </a:srgbClr>
            </a:outerShdw>
          </a:effectLst>
        </p:spPr>
      </p:cxnSp>
      <p:sp>
        <p:nvSpPr>
          <p:cNvPr id="1048779" name="Title 1"/>
          <p:cNvSpPr txBox="1"/>
          <p:nvPr/>
        </p:nvSpPr>
        <p:spPr>
          <a:xfrm rot="0">
            <a:off x="-104775" y="0"/>
            <a:ext cx="9339262" cy="5651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lvl="0"/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</a:rPr>
              <a:t>Cilia (red arrow) and Microvilli (blue arrow) on a tracheal cell</a:t>
            </a:r>
          </a:p>
        </p:txBody>
      </p:sp>
    </p:spTree>
  </p:cSld>
  <p:clrMapOvr>
    <a:masterClrMapping/>
  </p:clrMapOvr>
  <p:transition spd="med" advClick="1"/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8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80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06362" y="457200"/>
            <a:ext cx="4724400" cy="5562600"/>
          </a:xfrm>
          <a:prstGeom prst="rect"/>
          <a:noFill/>
          <a:ln>
            <a:noFill/>
          </a:ln>
        </p:spPr>
      </p:pic>
      <p:pic>
        <p:nvPicPr>
          <p:cNvPr id="2097181" name="Picture 3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892675" y="457200"/>
            <a:ext cx="4200525" cy="5470525"/>
          </a:xfrm>
          <a:prstGeom prst="rect"/>
          <a:noFill/>
          <a:ln>
            <a:noFill/>
          </a:ln>
        </p:spPr>
      </p:pic>
      <p:sp>
        <p:nvSpPr>
          <p:cNvPr id="1048780" name="Rectangle 3"/>
          <p:cNvSpPr/>
          <p:nvPr/>
        </p:nvSpPr>
        <p:spPr>
          <a:xfrm rot="0">
            <a:off x="136525" y="5991225"/>
            <a:ext cx="8870950" cy="802641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b="1" sz="2400" lang="en-US">
                <a:solidFill>
                  <a:srgbClr val="3366FF"/>
                </a:solidFill>
                <a:latin typeface="Calibri" pitchFamily="34" charset="0"/>
              </a:rPr>
              <a:t>Ciliated (arrow head) lining epithelium of the trachea and 9+2 axoneme pattern of each cilium</a:t>
            </a:r>
          </a:p>
        </p:txBody>
      </p:sp>
    </p:spTree>
  </p:cSld>
  <p:clrMapOvr>
    <a:masterClrMapping/>
  </p:clrMapOvr>
  <p:transition spd="med" advClick="1"/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1" name="Rectangle 1"/>
          <p:cNvSpPr/>
          <p:nvPr/>
        </p:nvSpPr>
        <p:spPr>
          <a:xfrm rot="0">
            <a:off x="0" y="0"/>
            <a:ext cx="9144000" cy="47269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-342900" lvl="0" marL="342900"/>
            <a:r>
              <a:rPr altLang="en-US" b="1" sz="3200" lang="en-US">
                <a:solidFill>
                  <a:srgbClr val="FF0000"/>
                </a:solidFill>
                <a:latin typeface="Calibri" pitchFamily="34" charset="0"/>
              </a:rPr>
              <a:t>    2. Flagella</a:t>
            </a:r>
          </a:p>
          <a:p>
            <a:pPr eaLnBrk="1" hangingPunct="1" indent="-342900" lvl="0" marL="342900">
              <a:spcBef>
                <a:spcPts val="24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27666"/>
                </a:solidFill>
                <a:latin typeface="Calibri" pitchFamily="34" charset="0"/>
              </a:rPr>
              <a:t>present only in spermatozoa</a:t>
            </a:r>
          </a:p>
          <a:p>
            <a:pPr eaLnBrk="1" hangingPunct="1" indent="-342900" lvl="0" marL="342900">
              <a:spcBef>
                <a:spcPts val="24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27666"/>
                </a:solidFill>
                <a:latin typeface="Calibri" pitchFamily="34" charset="0"/>
              </a:rPr>
              <a:t>are apical elongation and modifications of immature cells known as spermatids by the cytodifferentiation known as spermiogenesis.</a:t>
            </a:r>
          </a:p>
          <a:p>
            <a:pPr eaLnBrk="1" hangingPunct="1" indent="-342900" lvl="0" marL="342900">
              <a:spcBef>
                <a:spcPts val="24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FF33CC"/>
                </a:solidFill>
                <a:latin typeface="Calibri" pitchFamily="34" charset="0"/>
              </a:rPr>
              <a:t>are similar in structure to cilia but are much longer and are normally limited to </a:t>
            </a:r>
            <a:r>
              <a:rPr altLang="en-US" b="1" sz="2800" lang="en-US">
                <a:solidFill>
                  <a:srgbClr val="FF33CC"/>
                </a:solidFill>
                <a:latin typeface="Calibri" pitchFamily="34" charset="0"/>
              </a:rPr>
              <a:t>one flagellum per cell</a:t>
            </a:r>
            <a:r>
              <a:rPr altLang="en-US" sz="2800" lang="en-US">
                <a:solidFill>
                  <a:srgbClr val="FF33CC"/>
                </a:solidFill>
                <a:latin typeface="Calibri" pitchFamily="34" charset="0"/>
              </a:rPr>
              <a:t>.</a:t>
            </a:r>
          </a:p>
          <a:p>
            <a:pPr eaLnBrk="1" hangingPunct="1" indent="-342900" lvl="0" marL="342900">
              <a:spcBef>
                <a:spcPts val="24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27666"/>
                </a:solidFill>
                <a:latin typeface="Calibri" pitchFamily="34" charset="0"/>
              </a:rPr>
              <a:t>Sperm cells are the only flagellated human body cells</a:t>
            </a:r>
          </a:p>
        </p:txBody>
      </p:sp>
    </p:spTree>
  </p:cSld>
  <p:clrMapOvr>
    <a:masterClrMapping/>
  </p:clrMapOvr>
  <p:transition spd="med" advClick="1"/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9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2" name="Rectangle 2"/>
          <p:cNvSpPr/>
          <p:nvPr>
            <p:ph type="title" sz="full" idx="0"/>
          </p:nvPr>
        </p:nvSpPr>
        <p:spPr>
          <a:xfrm rot="0">
            <a:off x="457200" y="-304800"/>
            <a:ext cx="8229600" cy="99695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sz="3600" lang="en-US">
                <a:solidFill>
                  <a:srgbClr val="0070C0"/>
                </a:solidFill>
              </a:rPr>
              <a:t>A human sperm cell</a:t>
            </a:r>
          </a:p>
        </p:txBody>
      </p:sp>
      <p:pic>
        <p:nvPicPr>
          <p:cNvPr id="2097182" name="Picture 4" descr="sperm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381000"/>
            <a:ext cx="9144000" cy="64770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med" advClick="1"/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9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3" name="Rectangle 1"/>
          <p:cNvSpPr/>
          <p:nvPr/>
        </p:nvSpPr>
        <p:spPr>
          <a:xfrm rot="0">
            <a:off x="0" y="0"/>
            <a:ext cx="9144000" cy="7012939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lvl="0">
              <a:spcBef>
                <a:spcPts val="600"/>
              </a:spcBef>
            </a:pPr>
            <a:r>
              <a:rPr altLang="en-US" b="1" sz="4000" lang="en-US">
                <a:solidFill>
                  <a:srgbClr val="FF0000"/>
                </a:solidFill>
                <a:latin typeface="Calibri" pitchFamily="34" charset="0"/>
                <a:ea typeface="Arial Unicode MS" pitchFamily="34" charset="-128"/>
              </a:rPr>
              <a:t>       3. Microvilli</a:t>
            </a:r>
          </a:p>
          <a:p>
            <a:pPr lvl="0"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366FF"/>
                </a:solidFill>
                <a:latin typeface="Calibri" pitchFamily="34" charset="0"/>
                <a:ea typeface="Arial Unicode MS" pitchFamily="34" charset="-128"/>
              </a:rPr>
              <a:t>are short or long fingerlike cytoplasmic extensions or folds that pursue a sinuous course, and they range in number from a few to many. </a:t>
            </a:r>
          </a:p>
          <a:p>
            <a:pPr lvl="0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  <a:latin typeface="Calibri" pitchFamily="34" charset="0"/>
                <a:ea typeface="Arial Unicode MS" pitchFamily="34" charset="-128"/>
              </a:rPr>
              <a:t>most are temporary, reflecting cytoplasmic movements and the activity of actin filaments.</a:t>
            </a:r>
          </a:p>
          <a:p>
            <a:pPr lvl="0"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366FF"/>
                </a:solidFill>
                <a:latin typeface="Calibri" pitchFamily="34" charset="0"/>
                <a:ea typeface="Arial Unicode MS" pitchFamily="34" charset="-128"/>
              </a:rPr>
              <a:t>In absorptive cells, such as the lining epithelium of the small intestine, the apical surface presents orderly arrays of many hundreds of more permanent </a:t>
            </a:r>
            <a:r>
              <a:rPr altLang="en-US" b="1" sz="2800" lang="en-US">
                <a:solidFill>
                  <a:srgbClr val="3366FF"/>
                </a:solidFill>
                <a:latin typeface="Calibri" pitchFamily="34" charset="0"/>
                <a:ea typeface="Arial Unicode MS" pitchFamily="34" charset="-128"/>
              </a:rPr>
              <a:t>microvilli</a:t>
            </a:r>
            <a:r>
              <a:rPr altLang="en-US" sz="2800" lang="en-US">
                <a:solidFill>
                  <a:srgbClr val="3366FF"/>
                </a:solidFill>
                <a:latin typeface="Calibri" pitchFamily="34" charset="0"/>
                <a:ea typeface="Arial Unicode MS" pitchFamily="34" charset="-128"/>
              </a:rPr>
              <a:t> (L. </a:t>
            </a:r>
            <a:r>
              <a:rPr altLang="en-US" sz="2800" i="1" lang="en-US">
                <a:solidFill>
                  <a:srgbClr val="3366FF"/>
                </a:solidFill>
                <a:latin typeface="Calibri" pitchFamily="34" charset="0"/>
                <a:ea typeface="Arial Unicode MS" pitchFamily="34" charset="-128"/>
              </a:rPr>
              <a:t>villus,</a:t>
            </a:r>
            <a:r>
              <a:rPr altLang="en-US" sz="2800" lang="en-US">
                <a:solidFill>
                  <a:srgbClr val="3366FF"/>
                </a:solidFill>
                <a:latin typeface="Calibri" pitchFamily="34" charset="0"/>
                <a:ea typeface="Arial Unicode MS" pitchFamily="34" charset="-128"/>
              </a:rPr>
              <a:t> tuft), that appear as </a:t>
            </a:r>
            <a:r>
              <a:rPr altLang="en-US" b="1" sz="2800" lang="en-US">
                <a:solidFill>
                  <a:srgbClr val="FF33CC"/>
                </a:solidFill>
                <a:latin typeface="Calibri" pitchFamily="34" charset="0"/>
                <a:ea typeface="Arial Unicode MS" pitchFamily="34" charset="-128"/>
              </a:rPr>
              <a:t>striated border.</a:t>
            </a:r>
          </a:p>
          <a:p>
            <a:pPr lvl="0"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27666"/>
                </a:solidFill>
                <a:latin typeface="Calibri" pitchFamily="34" charset="0"/>
                <a:ea typeface="Arial Unicode MS" pitchFamily="34" charset="-128"/>
              </a:rPr>
              <a:t>The average microvillus is only about 1-3 µm high and 50-100 nm (0.1 µm) wide, but with hundreds or thousands present on the apical end of each absorptive cell, the total surface area can be increased as much as 20- or 30-fold. </a:t>
            </a:r>
          </a:p>
        </p:txBody>
      </p:sp>
      <p:sp>
        <p:nvSpPr>
          <p:cNvPr id="1048784" name="AutoShape 2" descr="mk:@MSITStore:D:\Books\BASIC%20HISTOLOGY.chm::/New%20folder%204/mulower.gif"/>
          <p:cNvSpPr/>
          <p:nvPr/>
        </p:nvSpPr>
        <p:spPr>
          <a:xfrm rot="0">
            <a:off x="15428912" y="244475"/>
            <a:ext cx="57150" cy="76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Arial" pitchFamily="0" charset="0"/>
              <a:ea typeface="Arial" pitchFamily="0" charset="0"/>
            </a:endParaRPr>
          </a:p>
        </p:txBody>
      </p:sp>
      <p:sp>
        <p:nvSpPr>
          <p:cNvPr id="1048785" name="AutoShape 3" descr="mk:@MSITStore:D:\Books\BASIC%20HISTOLOGY.chm::/New%20folder%204/mulower.gif"/>
          <p:cNvSpPr/>
          <p:nvPr/>
        </p:nvSpPr>
        <p:spPr>
          <a:xfrm rot="0">
            <a:off x="16562388" y="244475"/>
            <a:ext cx="57150" cy="76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Arial" pitchFamily="0" charset="0"/>
              <a:ea typeface="Arial" pitchFamily="0" charset="0"/>
            </a:endParaRPr>
          </a:p>
        </p:txBody>
      </p:sp>
    </p:spTree>
  </p:cSld>
  <p:clrMapOvr>
    <a:masterClrMapping/>
  </p:clrMapOvr>
  <p:transition spd="med" advClick="1"/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9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6" name="Rectangle 1"/>
          <p:cNvSpPr/>
          <p:nvPr/>
        </p:nvSpPr>
        <p:spPr>
          <a:xfrm rot="0">
            <a:off x="0" y="75724"/>
            <a:ext cx="9144000" cy="6606540"/>
          </a:xfrm>
          <a:prstGeom prst="rect"/>
          <a:noFill/>
          <a:ln>
            <a:noFill/>
          </a:ln>
        </p:spPr>
        <p:txBody>
          <a:bodyPr anchor="ctr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lvl="0">
              <a:spcBef>
                <a:spcPts val="600"/>
              </a:spcBef>
            </a:pPr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  <a:ea typeface="Arial Unicode MS" pitchFamily="34" charset="-128"/>
              </a:rPr>
              <a:t>        </a:t>
            </a:r>
            <a:r>
              <a:rPr altLang="en-US" b="1" sz="3600" lang="en-US">
                <a:solidFill>
                  <a:srgbClr val="FF0000"/>
                </a:solidFill>
                <a:latin typeface="Calibri" pitchFamily="34" charset="0"/>
                <a:ea typeface="Arial Unicode MS" pitchFamily="34" charset="-128"/>
              </a:rPr>
              <a:t>Microvilli</a:t>
            </a:r>
          </a:p>
          <a:p>
            <a:pPr indent="-396875" lvl="2" marL="396875"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A40C87"/>
                </a:solidFill>
                <a:latin typeface="Calibri" pitchFamily="34" charset="0"/>
              </a:rPr>
              <a:t>Each intestinal absorptive cell (enterocyte) can have as many as 3000 microvilli on its apical pole.</a:t>
            </a:r>
          </a:p>
          <a:p>
            <a:pPr lvl="0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366FF"/>
                </a:solidFill>
                <a:latin typeface="Calibri" pitchFamily="34" charset="0"/>
                <a:ea typeface="Arial Unicode MS" pitchFamily="34" charset="-128"/>
              </a:rPr>
              <a:t>In these absorptive cells the glycocalyx is thicker than that of most cells and includes enzymes for the final stages of certain macromolecules' breakdown.</a:t>
            </a:r>
          </a:p>
          <a:p>
            <a:pPr lvl="0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27666"/>
                </a:solidFill>
                <a:latin typeface="Calibri" pitchFamily="34" charset="0"/>
                <a:ea typeface="Arial Unicode MS" pitchFamily="34" charset="-128"/>
              </a:rPr>
              <a:t>The complex of microvilli and glycocalyx is easily seen in the light microscope and is called the </a:t>
            </a:r>
            <a:r>
              <a:rPr altLang="en-US" b="1" sz="2800" lang="en-US">
                <a:solidFill>
                  <a:srgbClr val="FF0066"/>
                </a:solidFill>
                <a:latin typeface="Calibri" pitchFamily="34" charset="0"/>
                <a:ea typeface="Arial Unicode MS" pitchFamily="34" charset="-128"/>
              </a:rPr>
              <a:t>brush</a:t>
            </a:r>
            <a:r>
              <a:rPr altLang="en-US" sz="2800" lang="en-US">
                <a:solidFill>
                  <a:srgbClr val="327666"/>
                </a:solidFill>
                <a:latin typeface="Calibri" pitchFamily="34" charset="0"/>
                <a:ea typeface="Arial Unicode MS" pitchFamily="34" charset="-128"/>
              </a:rPr>
              <a:t> or </a:t>
            </a:r>
            <a:r>
              <a:rPr altLang="en-US" b="1" sz="2800" lang="en-US">
                <a:solidFill>
                  <a:srgbClr val="FF0066"/>
                </a:solidFill>
                <a:latin typeface="Calibri" pitchFamily="34" charset="0"/>
                <a:ea typeface="Arial Unicode MS" pitchFamily="34" charset="-128"/>
              </a:rPr>
              <a:t>striated</a:t>
            </a:r>
            <a:r>
              <a:rPr altLang="en-US" b="1" sz="2800" lang="en-US">
                <a:solidFill>
                  <a:srgbClr val="327666"/>
                </a:solidFill>
                <a:latin typeface="Calibri" pitchFamily="34" charset="0"/>
                <a:ea typeface="Arial Unicode MS" pitchFamily="34" charset="-128"/>
              </a:rPr>
              <a:t> </a:t>
            </a:r>
            <a:r>
              <a:rPr altLang="en-US" b="1" sz="2800" lang="en-US">
                <a:solidFill>
                  <a:srgbClr val="FF0066"/>
                </a:solidFill>
                <a:latin typeface="Calibri" pitchFamily="34" charset="0"/>
                <a:ea typeface="Arial Unicode MS" pitchFamily="34" charset="-128"/>
              </a:rPr>
              <a:t>border.</a:t>
            </a:r>
          </a:p>
          <a:p>
            <a:pPr eaLnBrk="1" hangingPunct="1" lvl="0"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  <a:latin typeface="Calibri" pitchFamily="34" charset="0"/>
              </a:rPr>
              <a:t>At the root of the microvilli is the </a:t>
            </a:r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</a:rPr>
              <a:t>terminal web (cuticular plate)</a:t>
            </a:r>
            <a:r>
              <a:rPr altLang="en-US" sz="2800" lang="en-US">
                <a:solidFill>
                  <a:srgbClr val="000000"/>
                </a:solidFill>
                <a:latin typeface="Calibri" pitchFamily="34" charset="0"/>
              </a:rPr>
              <a:t>, </a:t>
            </a:r>
            <a:r>
              <a:rPr altLang="en-US" sz="2800" lang="en-US">
                <a:solidFill>
                  <a:srgbClr val="9900FF"/>
                </a:solidFill>
                <a:latin typeface="Calibri" pitchFamily="34" charset="0"/>
              </a:rPr>
              <a:t>a horizontal network of actin microfilaments,  tropomyosin and myosin II stabilized by </a:t>
            </a:r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</a:rPr>
              <a:t>spectrin </a:t>
            </a:r>
            <a:r>
              <a:rPr altLang="en-US" sz="2800" lang="en-US">
                <a:solidFill>
                  <a:srgbClr val="9900FF"/>
                </a:solidFill>
                <a:latin typeface="Calibri" pitchFamily="34" charset="0"/>
              </a:rPr>
              <a:t>(468 kilodaltons), which also anchors the terminal web to the apical cell membrane.</a:t>
            </a:r>
          </a:p>
        </p:txBody>
      </p:sp>
      <p:sp>
        <p:nvSpPr>
          <p:cNvPr id="1048787" name="AutoShape 2" descr="mk:@MSITStore:D:\Books\BASIC%20HISTOLOGY.chm::/New%20folder%204/mulower.gif"/>
          <p:cNvSpPr/>
          <p:nvPr/>
        </p:nvSpPr>
        <p:spPr>
          <a:xfrm rot="0">
            <a:off x="15428912" y="244475"/>
            <a:ext cx="57150" cy="76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Arial" pitchFamily="0" charset="0"/>
              <a:ea typeface="Arial" pitchFamily="0" charset="0"/>
            </a:endParaRPr>
          </a:p>
        </p:txBody>
      </p:sp>
      <p:sp>
        <p:nvSpPr>
          <p:cNvPr id="1048788" name="AutoShape 3" descr="mk:@MSITStore:D:\Books\BASIC%20HISTOLOGY.chm::/New%20folder%204/mulower.gif"/>
          <p:cNvSpPr/>
          <p:nvPr/>
        </p:nvSpPr>
        <p:spPr>
          <a:xfrm rot="0">
            <a:off x="16562388" y="244475"/>
            <a:ext cx="57150" cy="76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Arial" pitchFamily="0" charset="0"/>
              <a:ea typeface="Arial" pitchFamily="0" charset="0"/>
            </a:endParaRPr>
          </a:p>
        </p:txBody>
      </p:sp>
    </p:spTree>
  </p:cSld>
  <p:clrMapOvr>
    <a:masterClrMapping/>
  </p:clrMapOvr>
  <p:transition spd="med" advClick="1"/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9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9" name="Title 1"/>
          <p:cNvSpPr/>
          <p:nvPr>
            <p:ph type="title" sz="full" idx="0"/>
          </p:nvPr>
        </p:nvSpPr>
        <p:spPr>
          <a:xfrm rot="0">
            <a:off x="1919287" y="0"/>
            <a:ext cx="5770562" cy="4191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lvl="0"/>
            <a:r>
              <a:rPr altLang="en-US" b="1" sz="2400" lang="en-US">
                <a:solidFill>
                  <a:srgbClr val="FF0000"/>
                </a:solidFill>
              </a:rPr>
              <a:t>Molecular structure of microvilli</a:t>
            </a:r>
          </a:p>
        </p:txBody>
      </p:sp>
      <p:pic>
        <p:nvPicPr>
          <p:cNvPr id="2097183" name="Picture 2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25425" y="523875"/>
            <a:ext cx="8582025" cy="6135687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med" advClick="1"/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9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0" name="Title 1"/>
          <p:cNvSpPr/>
          <p:nvPr>
            <p:ph type="title" sz="full" idx="0"/>
          </p:nvPr>
        </p:nvSpPr>
        <p:spPr>
          <a:xfrm rot="0">
            <a:off x="0" y="0"/>
            <a:ext cx="9144000" cy="56515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lvl="0"/>
            <a:r>
              <a:rPr altLang="en-US" b="1" sz="2800" lang="en-US">
                <a:solidFill>
                  <a:srgbClr val="FF0000"/>
                </a:solidFill>
              </a:rPr>
              <a:t>Abundance and size of microvilli on different types of tissues</a:t>
            </a:r>
          </a:p>
        </p:txBody>
      </p:sp>
      <p:pic>
        <p:nvPicPr>
          <p:cNvPr id="2097184" name="Picture 2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106862" y="674687"/>
            <a:ext cx="5022850" cy="5916612"/>
          </a:xfrm>
          <a:prstGeom prst="rect"/>
          <a:noFill/>
          <a:ln>
            <a:noFill/>
          </a:ln>
        </p:spPr>
      </p:pic>
      <p:sp>
        <p:nvSpPr>
          <p:cNvPr id="1048791" name="Rectangle 3"/>
          <p:cNvSpPr/>
          <p:nvPr/>
        </p:nvSpPr>
        <p:spPr>
          <a:xfrm rot="0">
            <a:off x="44450" y="869950"/>
            <a:ext cx="4048125" cy="59588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b="1" sz="2800" lang="en-US">
                <a:solidFill>
                  <a:srgbClr val="FF33CC"/>
                </a:solidFill>
                <a:latin typeface="Calibri" pitchFamily="34" charset="0"/>
              </a:rPr>
              <a:t>Electron micrographs showing variation in</a:t>
            </a:r>
          </a:p>
          <a:p>
            <a:pPr eaLnBrk="1" hangingPunct="1" lvl="0"/>
            <a:r>
              <a:rPr altLang="en-US" b="1" sz="2800" lang="en-US">
                <a:solidFill>
                  <a:srgbClr val="FF33CC"/>
                </a:solidFill>
                <a:latin typeface="Calibri" pitchFamily="34" charset="0"/>
              </a:rPr>
              <a:t>microvilli of different cell types. a. Epithelial cell of uterine gland; only very few small projections. b. Syncytiotrophoblast of placenta; irregular, branching blunt microvilli. c. Intestinal absorptive cell; uniform, numerous, and regularly arranged microvilli. </a:t>
            </a:r>
          </a:p>
        </p:txBody>
      </p:sp>
    </p:spTree>
  </p:cSld>
  <p:clrMapOvr>
    <a:masterClrMapping/>
  </p:clrMapOvr>
  <p:transition spd="med" advClick="1"/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85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71450" y="661987"/>
            <a:ext cx="8750300" cy="6064250"/>
          </a:xfrm>
          <a:prstGeom prst="rect"/>
          <a:noFill/>
          <a:ln>
            <a:noFill/>
          </a:ln>
        </p:spPr>
      </p:pic>
      <p:sp>
        <p:nvSpPr>
          <p:cNvPr id="1048792" name="Rectangle 2"/>
          <p:cNvSpPr/>
          <p:nvPr/>
        </p:nvSpPr>
        <p:spPr>
          <a:xfrm rot="0">
            <a:off x="188912" y="31750"/>
            <a:ext cx="8970962" cy="929639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b="1" sz="2800" lang="en-US">
                <a:solidFill>
                  <a:srgbClr val="327666"/>
                </a:solidFill>
                <a:latin typeface="Calibri" pitchFamily="34" charset="0"/>
                <a:ea typeface="Arial Unicode MS" pitchFamily="34" charset="-128"/>
              </a:rPr>
              <a:t> Abundant microvilli at the tip of intestinal absorptive cells </a:t>
            </a:r>
          </a:p>
        </p:txBody>
      </p:sp>
      <p:sp>
        <p:nvSpPr>
          <p:cNvPr id="1048793" name="Rectangle 3"/>
          <p:cNvSpPr/>
          <p:nvPr/>
        </p:nvSpPr>
        <p:spPr>
          <a:xfrm rot="0">
            <a:off x="554037" y="630237"/>
            <a:ext cx="3927475" cy="10763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en-US" sz="1600" lang="en-US">
                <a:solidFill>
                  <a:srgbClr val="FF33CC"/>
                </a:solidFill>
                <a:latin typeface="Arial" pitchFamily="0" charset="0"/>
                <a:ea typeface="Arial" pitchFamily="0" charset="0"/>
              </a:rPr>
              <a:t>The microvilli of the intestinal epithelium (striated border) are the most highly ordered and most uniform in appearance than those of any other cells in the body.</a:t>
            </a:r>
          </a:p>
        </p:txBody>
      </p:sp>
    </p:spTree>
  </p:cSld>
  <p:clrMapOvr>
    <a:masterClrMapping/>
  </p:clrMapOvr>
  <p:transition spd="med" advClick="1"/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86" name="Picture 4" descr="Q03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95275" y="530225"/>
            <a:ext cx="8545512" cy="6096000"/>
          </a:xfrm>
          <a:prstGeom prst="rect"/>
          <a:noFill/>
          <a:ln>
            <a:noFill/>
          </a:ln>
        </p:spPr>
      </p:pic>
      <p:cxnSp>
        <p:nvCxnSpPr>
          <p:cNvPr id="3145730" name="Straight Arrow Connector 8"/>
          <p:cNvCxnSpPr>
            <a:cxnSpLocks/>
          </p:cNvCxnSpPr>
          <p:nvPr/>
        </p:nvCxnSpPr>
        <p:spPr>
          <a:xfrm rot="0" flipH="1" flipV="1">
            <a:off x="5232400" y="5486400"/>
            <a:ext cx="887412" cy="477837"/>
          </a:xfrm>
          <a:prstGeom prst="straightConnector1"/>
          <a:noFill/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cxnSp>
      <p:sp>
        <p:nvSpPr>
          <p:cNvPr id="1048794" name="Rectangle 12"/>
          <p:cNvSpPr/>
          <p:nvPr/>
        </p:nvSpPr>
        <p:spPr>
          <a:xfrm rot="0">
            <a:off x="520700" y="0"/>
            <a:ext cx="8580438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b="1" sz="2400" lang="en-US">
                <a:solidFill>
                  <a:srgbClr val="3366FF"/>
                </a:solidFill>
                <a:latin typeface="Calibri" pitchFamily="34" charset="0"/>
              </a:rPr>
              <a:t>Microvilli appearing brush border on intestinal absorptive cells</a:t>
            </a:r>
          </a:p>
        </p:txBody>
      </p:sp>
      <p:cxnSp>
        <p:nvCxnSpPr>
          <p:cNvPr id="3145731" name="Straight Arrow Connector 7"/>
          <p:cNvCxnSpPr>
            <a:cxnSpLocks/>
          </p:cNvCxnSpPr>
          <p:nvPr/>
        </p:nvCxnSpPr>
        <p:spPr>
          <a:xfrm rot="0" flipH="1">
            <a:off x="5580062" y="717550"/>
            <a:ext cx="623887" cy="585787"/>
          </a:xfrm>
          <a:prstGeom prst="straightConnector1"/>
          <a:noFill/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cxnSp>
    </p:spTree>
  </p:cSld>
  <p:clrMapOvr>
    <a:masterClrMapping/>
  </p:clrMapOvr>
  <p:transition spd="med" advClick="1"/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9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8" name="Rectangle 1"/>
          <p:cNvSpPr/>
          <p:nvPr/>
        </p:nvSpPr>
        <p:spPr>
          <a:xfrm rot="0">
            <a:off x="0" y="0"/>
            <a:ext cx="9144000" cy="7216139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lvl="0"/>
            <a:r>
              <a:rPr altLang="en-US" b="1" sz="3600" lang="en-US">
                <a:solidFill>
                  <a:srgbClr val="FF0000"/>
                </a:solidFill>
                <a:latin typeface="Calibri" pitchFamily="34" charset="0"/>
                <a:ea typeface="Arial Unicode MS" pitchFamily="34" charset="-128"/>
              </a:rPr>
              <a:t>        </a:t>
            </a:r>
            <a:r>
              <a:rPr altLang="en-US" b="1" sz="3200" lang="en-US">
                <a:solidFill>
                  <a:srgbClr val="FF0000"/>
                </a:solidFill>
                <a:latin typeface="Calibri" pitchFamily="34" charset="0"/>
                <a:ea typeface="Arial Unicode MS" pitchFamily="34" charset="-128"/>
              </a:rPr>
              <a:t>4. Stereocilia/Stereovilli and kinocilia</a:t>
            </a:r>
          </a:p>
          <a:p>
            <a:pPr lvl="0"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  <a:latin typeface="Calibri" pitchFamily="34" charset="0"/>
                <a:ea typeface="Arial Unicode MS" pitchFamily="34" charset="-128"/>
              </a:rPr>
              <a:t>are unusually long apical processes of cells (as long as 120 µm) and 100-150 nm in diameter in other absorptive cells such as lining epithelia of epididymis &amp; ductus deferens, and also on hair cells (mechanoreceptors) of inner ear.</a:t>
            </a:r>
          </a:p>
          <a:p>
            <a:pPr lvl="0"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307262"/>
                </a:solidFill>
                <a:latin typeface="Calibri" pitchFamily="34" charset="0"/>
                <a:ea typeface="Arial Unicode MS" pitchFamily="34" charset="-128"/>
              </a:rPr>
              <a:t>are much longer, sparse and less motile than microvilli, are branched, and should not be confused with true cilia.</a:t>
            </a:r>
          </a:p>
          <a:p>
            <a:pPr lvl="0">
              <a:buFont typeface="Calibri" pitchFamily="34" charset="0"/>
              <a:buChar char="–"/>
            </a:pPr>
            <a:r>
              <a:rPr altLang="en-US" sz="2800" lang="en-US">
                <a:latin typeface="Calibri" pitchFamily="34" charset="0"/>
              </a:rPr>
              <a:t>Seen in the light microscope, resemble the hairs of </a:t>
            </a:r>
            <a:r>
              <a:rPr altLang="en-US" b="1" sz="2800" lang="en-US">
                <a:solidFill>
                  <a:srgbClr val="FF0000"/>
                </a:solidFill>
                <a:latin typeface="Calibri" pitchFamily="34" charset="0"/>
              </a:rPr>
              <a:t>a paint brush</a:t>
            </a:r>
            <a:r>
              <a:rPr altLang="en-US" sz="2800" lang="en-US">
                <a:latin typeface="Calibri" pitchFamily="34" charset="0"/>
              </a:rPr>
              <a:t> because of the way they aggregate and </a:t>
            </a:r>
            <a:r>
              <a:rPr altLang="en-US" sz="2800" lang="en-US">
                <a:solidFill>
                  <a:srgbClr val="9900FF"/>
                </a:solidFill>
                <a:latin typeface="Calibri" pitchFamily="34" charset="0"/>
              </a:rPr>
              <a:t>stick together in tufts of </a:t>
            </a:r>
            <a:r>
              <a:rPr altLang="en-US" sz="2800" lang="en-US">
                <a:latin typeface="Calibri" pitchFamily="34" charset="0"/>
              </a:rPr>
              <a:t>pointed bundles</a:t>
            </a:r>
            <a:r>
              <a:rPr altLang="en-US" sz="2800" lang="en-US">
                <a:solidFill>
                  <a:srgbClr val="9900FF"/>
                </a:solidFill>
                <a:latin typeface="Calibri" pitchFamily="34" charset="0"/>
              </a:rPr>
              <a:t>.</a:t>
            </a:r>
            <a:r>
              <a:rPr altLang="en-US" sz="2800" lang="en-US">
                <a:latin typeface="Calibri" pitchFamily="34" charset="0"/>
              </a:rPr>
              <a:t> </a:t>
            </a:r>
          </a:p>
          <a:p>
            <a:pPr lvl="0"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  <a:latin typeface="Calibri" pitchFamily="34" charset="0"/>
                <a:ea typeface="Arial Unicode MS" pitchFamily="34" charset="-128"/>
              </a:rPr>
              <a:t>Like microvilli, stereocilia</a:t>
            </a:r>
          </a:p>
          <a:p>
            <a:pPr indent="-548640" lvl="1" marL="914400"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  <a:latin typeface="Calibri" pitchFamily="34" charset="0"/>
                <a:ea typeface="Arial Unicode MS" pitchFamily="34" charset="-128"/>
              </a:rPr>
              <a:t>also increase the cells' surface area, facilitating the movement of fluid into and out of the cell.</a:t>
            </a:r>
          </a:p>
          <a:p>
            <a:pPr indent="-548640" lvl="1" marL="914400"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  <a:latin typeface="Calibri" pitchFamily="34" charset="0"/>
              </a:rPr>
              <a:t>are supported by internal bundles of actin filaments  that are cross-linked by fimbrin.</a:t>
            </a:r>
          </a:p>
        </p:txBody>
      </p:sp>
    </p:spTree>
  </p:cSld>
  <p:clrMapOvr>
    <a:masterClrMapping/>
  </p:clrMapOvr>
  <p:transition spd="med" advClick="1"/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0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9" name="Rectangle 1"/>
          <p:cNvSpPr/>
          <p:nvPr/>
        </p:nvSpPr>
        <p:spPr>
          <a:xfrm rot="0">
            <a:off x="0" y="-47625"/>
            <a:ext cx="9144000" cy="646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lvl="0"/>
            <a:r>
              <a:rPr altLang="en-US" b="1" sz="3600" lang="en-US">
                <a:solidFill>
                  <a:srgbClr val="FF0000"/>
                </a:solidFill>
                <a:latin typeface="Calibri" pitchFamily="34" charset="0"/>
                <a:ea typeface="Arial Unicode MS" pitchFamily="34" charset="-128"/>
              </a:rPr>
              <a:t>        Stereocilia of Male genital ducts</a:t>
            </a:r>
          </a:p>
        </p:txBody>
      </p:sp>
      <p:pic>
        <p:nvPicPr>
          <p:cNvPr id="2097187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778375" y="717550"/>
            <a:ext cx="4310062" cy="5872162"/>
          </a:xfrm>
          <a:prstGeom prst="rect"/>
          <a:noFill/>
          <a:ln>
            <a:noFill/>
          </a:ln>
        </p:spPr>
      </p:pic>
      <p:pic>
        <p:nvPicPr>
          <p:cNvPr id="2097188" name="Picture 2" descr="C:\Users\user\Desktop\blood cells and hematopoiesis\male reprod system\epididymis3.tif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31750" y="693737"/>
            <a:ext cx="4638675" cy="5880100"/>
          </a:xfrm>
          <a:prstGeom prst="rect"/>
          <a:noFill/>
          <a:ln>
            <a:noFill/>
          </a:ln>
        </p:spPr>
      </p:pic>
      <p:cxnSp>
        <p:nvCxnSpPr>
          <p:cNvPr id="3145732" name="Straight Arrow Connector 5"/>
          <p:cNvCxnSpPr>
            <a:cxnSpLocks/>
          </p:cNvCxnSpPr>
          <p:nvPr/>
        </p:nvCxnSpPr>
        <p:spPr>
          <a:xfrm rot="0" flipH="1" flipV="1">
            <a:off x="8623300" y="2286000"/>
            <a:ext cx="15875" cy="819150"/>
          </a:xfrm>
          <a:prstGeom prst="straightConnector1"/>
          <a:noFill/>
          <a:ln w="57150" cap="flat" cmpd="sng">
            <a:solidFill>
              <a:srgbClr val="4A7EBB">
                <a:alpha val="100000"/>
              </a:srgbClr>
            </a:solidFill>
            <a:prstDash val="solid"/>
            <a:round/>
            <a:headEnd type="triangle" w="med" len="med"/>
          </a:ln>
        </p:spPr>
      </p:cxnSp>
      <p:cxnSp>
        <p:nvCxnSpPr>
          <p:cNvPr id="3145733" name="Straight Arrow Connector 6"/>
          <p:cNvCxnSpPr>
            <a:cxnSpLocks/>
          </p:cNvCxnSpPr>
          <p:nvPr/>
        </p:nvCxnSpPr>
        <p:spPr>
          <a:xfrm rot="0" flipV="1">
            <a:off x="1592262" y="3721100"/>
            <a:ext cx="598487" cy="330200"/>
          </a:xfrm>
          <a:prstGeom prst="straightConnector1"/>
          <a:noFill/>
          <a:ln w="57150" cap="flat" cmpd="sng">
            <a:solidFill>
              <a:srgbClr val="4A7EBB">
                <a:alpha val="100000"/>
              </a:srgbClr>
            </a:solidFill>
            <a:prstDash val="solid"/>
            <a:round/>
            <a:headEnd type="triangle" w="med" len="med"/>
          </a:ln>
        </p:spPr>
      </p:cxnSp>
      <p:cxnSp>
        <p:nvCxnSpPr>
          <p:cNvPr id="3145734" name="Straight Arrow Connector 9"/>
          <p:cNvCxnSpPr>
            <a:cxnSpLocks/>
          </p:cNvCxnSpPr>
          <p:nvPr/>
        </p:nvCxnSpPr>
        <p:spPr>
          <a:xfrm rot="0" flipH="1" flipV="1">
            <a:off x="3810000" y="1681162"/>
            <a:ext cx="15875" cy="820737"/>
          </a:xfrm>
          <a:prstGeom prst="straightConnector1"/>
          <a:noFill/>
          <a:ln w="57150" cap="flat" cmpd="sng">
            <a:solidFill>
              <a:srgbClr val="4A7EBB">
                <a:alpha val="100000"/>
              </a:srgbClr>
            </a:solidFill>
            <a:prstDash val="solid"/>
            <a:round/>
            <a:headEnd type="triangle" w="med" len="med"/>
          </a:ln>
        </p:spPr>
      </p:cxnSp>
      <p:cxnSp>
        <p:nvCxnSpPr>
          <p:cNvPr id="3145735" name="Straight Arrow Connector 10"/>
          <p:cNvCxnSpPr>
            <a:cxnSpLocks/>
          </p:cNvCxnSpPr>
          <p:nvPr/>
        </p:nvCxnSpPr>
        <p:spPr>
          <a:xfrm rot="0" flipV="1">
            <a:off x="6800850" y="2144712"/>
            <a:ext cx="546100" cy="304800"/>
          </a:xfrm>
          <a:prstGeom prst="straightConnector1"/>
          <a:noFill/>
          <a:ln w="57150" cap="flat" cmpd="sng">
            <a:solidFill>
              <a:srgbClr val="4A7EBB">
                <a:alpha val="100000"/>
              </a:srgbClr>
            </a:solidFill>
            <a:prstDash val="solid"/>
            <a:round/>
            <a:headEnd type="triangle" w="med" len="med"/>
          </a:ln>
        </p:spPr>
      </p:cxnSp>
    </p:spTree>
  </p:cSld>
  <p:clrMapOvr>
    <a:masterClrMapping/>
  </p:clrMapOvr>
  <p:transition spd="med" advClick="1"/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0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0" name="Title 1"/>
          <p:cNvSpPr/>
          <p:nvPr>
            <p:ph type="title" sz="full" idx="0"/>
          </p:nvPr>
        </p:nvSpPr>
        <p:spPr>
          <a:xfrm rot="0">
            <a:off x="531812" y="165100"/>
            <a:ext cx="8229600" cy="4794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lvl="0"/>
            <a:r>
              <a:rPr altLang="en-US" b="1" lang="en-US">
                <a:solidFill>
                  <a:srgbClr val="FF0000"/>
                </a:solidFill>
              </a:rPr>
              <a:t>Microvilli and Stereocilia</a:t>
            </a:r>
          </a:p>
        </p:txBody>
      </p:sp>
      <p:pic>
        <p:nvPicPr>
          <p:cNvPr id="2097189" name="Picture 2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-49212" y="674687"/>
            <a:ext cx="9132888" cy="5591175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med" advClick="1"/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90" name="Picture 2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584700" y="1614487"/>
            <a:ext cx="4200525" cy="4525962"/>
          </a:xfrm>
          <a:prstGeom prst="rect"/>
          <a:noFill/>
          <a:ln>
            <a:noFill/>
          </a:ln>
        </p:spPr>
      </p:pic>
      <p:sp>
        <p:nvSpPr>
          <p:cNvPr id="1048801" name="Rectangle 4"/>
          <p:cNvSpPr/>
          <p:nvPr/>
        </p:nvSpPr>
        <p:spPr>
          <a:xfrm rot="0">
            <a:off x="90487" y="0"/>
            <a:ext cx="4602162" cy="61366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b="1" sz="2400" lang="en-US">
                <a:latin typeface="Calibri" pitchFamily="34" charset="0"/>
              </a:rPr>
              <a:t>Dynamic turnover of an internal architecture of sterocilia:</a:t>
            </a:r>
          </a:p>
          <a:p>
            <a:pPr eaLnBrk="1" hangingPunct="1" lvl="0"/>
            <a:r>
              <a:rPr altLang="en-US" b="1" sz="2400" lang="en-US">
                <a:latin typeface="Calibri" pitchFamily="34" charset="0"/>
              </a:rPr>
              <a:t>a. This scanning electron micrograph shows stereocilia of </a:t>
            </a:r>
            <a:r>
              <a:rPr altLang="en-US" sz="2400" lang="en-US">
                <a:latin typeface="Calibri" pitchFamily="34" charset="0"/>
              </a:rPr>
              <a:t>sensory epithelium of the inner ear. They are uniform in diameter and organized into ridged bundles of increasing heights. 47,000x.</a:t>
            </a:r>
          </a:p>
          <a:p>
            <a:pPr eaLnBrk="1" hangingPunct="1" lvl="0"/>
            <a:r>
              <a:rPr altLang="en-US" b="1" sz="2400" lang="en-US">
                <a:latin typeface="Calibri" pitchFamily="34" charset="0"/>
              </a:rPr>
              <a:t>b. Confocal microscopy image shows incorporation of the -actin green fluorescent protein (GFP) and espin-GFP to the tip of the </a:t>
            </a:r>
            <a:r>
              <a:rPr altLang="en-US" b="1" sz="2400" lang="en-US">
                <a:solidFill>
                  <a:srgbClr val="00B050"/>
                </a:solidFill>
                <a:latin typeface="Calibri" pitchFamily="34" charset="0"/>
              </a:rPr>
              <a:t>stereocilia (</a:t>
            </a:r>
            <a:r>
              <a:rPr altLang="en-US" b="1" sz="2400" i="1" lang="en-US">
                <a:solidFill>
                  <a:srgbClr val="00B050"/>
                </a:solidFill>
                <a:latin typeface="Calibri" pitchFamily="34" charset="0"/>
              </a:rPr>
              <a:t>green).</a:t>
            </a:r>
            <a:r>
              <a:rPr altLang="en-US" sz="2400" i="1" lang="en-US">
                <a:latin typeface="Calibri" pitchFamily="34" charset="0"/>
              </a:rPr>
              <a:t> Actin filaments in the core of the stereocilia are counterstained with Rhodamine/phalloidin (red).</a:t>
            </a:r>
          </a:p>
        </p:txBody>
      </p:sp>
    </p:spTree>
  </p:cSld>
  <p:clrMapOvr>
    <a:masterClrMapping/>
  </p:clrMapOvr>
  <p:transition spd="med" advClick="1"/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0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2" name="Rectangle 2"/>
          <p:cNvSpPr/>
          <p:nvPr>
            <p:ph type="title" sz="full" idx="0"/>
          </p:nvPr>
        </p:nvSpPr>
        <p:spPr>
          <a:xfrm rot="0">
            <a:off x="0" y="0"/>
            <a:ext cx="9067800" cy="685800"/>
          </a:xfrm>
          <a:prstGeom prst="rect"/>
          <a:solidFill>
            <a:schemeClr val="lt1">
              <a:alpha val="100000"/>
            </a:schemeClr>
          </a:solidFill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sz="3200" lang="en-US">
                <a:solidFill>
                  <a:srgbClr val="FF0000"/>
                </a:solidFill>
              </a:rPr>
              <a:t>TIP 1:  Distinguishing Features of Epithelial Tissues</a:t>
            </a:r>
          </a:p>
        </p:txBody>
      </p:sp>
      <p:sp>
        <p:nvSpPr>
          <p:cNvPr id="1048803" name="Rectangle 3"/>
          <p:cNvSpPr/>
          <p:nvPr>
            <p:ph sz="full" idx="1"/>
          </p:nvPr>
        </p:nvSpPr>
        <p:spPr>
          <a:xfrm rot="0">
            <a:off x="228600" y="762000"/>
            <a:ext cx="8686800" cy="6019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High cellularity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Matrix paucity 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Avascularity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Cohesiveness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Cellular polarity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Morphological diversity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Superficial location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Diverse physiological functions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High Regenerative capability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Constituting Parenchyma of organs and glands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Good innervation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Diverse embryological origin</a:t>
            </a:r>
          </a:p>
          <a:p>
            <a:pPr eaLnBrk="1" hangingPunct="1" indent="-609600" lvl="0" marL="609600">
              <a:lnSpc>
                <a:spcPct val="90000"/>
              </a:lnSpc>
              <a:spcBef>
                <a:spcPts val="600"/>
              </a:spcBef>
              <a:buNone/>
            </a:pPr>
            <a:endParaRPr altLang="en-US" b="1" sz="2800" lang="en-US">
              <a:solidFill>
                <a:srgbClr val="006600"/>
              </a:solidFill>
            </a:endParaRPr>
          </a:p>
        </p:txBody>
      </p:sp>
    </p:spTree>
  </p:cSld>
  <p:clrMapOvr>
    <a:masterClrMapping/>
  </p:clrMapOvr>
  <p:transition spd="med" advClick="1"/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0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4" name="Text Box 3"/>
          <p:cNvSpPr txBox="1"/>
          <p:nvPr/>
        </p:nvSpPr>
        <p:spPr>
          <a:xfrm rot="0">
            <a:off x="304800" y="990600"/>
            <a:ext cx="8686800" cy="2235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Connective tissue consists of</a:t>
            </a:r>
            <a:r>
              <a:rPr altLang="en-US" sz="2000" lang="en-US">
                <a:solidFill>
                  <a:srgbClr val="000099"/>
                </a:solidFill>
                <a:latin typeface="Rockwell" pitchFamily="18" charset="0"/>
              </a:rPr>
              <a:t> </a:t>
            </a:r>
            <a:r>
              <a:rPr altLang="en-US" sz="2000" lang="en-US">
                <a:solidFill>
                  <a:srgbClr val="F20000"/>
                </a:solidFill>
                <a:latin typeface="Rockwell" pitchFamily="18" charset="0"/>
              </a:rPr>
              <a:t>cells</a:t>
            </a:r>
            <a:r>
              <a:rPr altLang="en-US" sz="2000" lang="en-US">
                <a:solidFill>
                  <a:srgbClr val="008000"/>
                </a:solidFill>
                <a:latin typeface="Rockwell" pitchFamily="18" charset="0"/>
              </a:rPr>
              <a:t> </a:t>
            </a: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widely separated from each other, and embedded in</a:t>
            </a:r>
            <a:r>
              <a:rPr altLang="en-US" sz="2000" lang="en-US">
                <a:solidFill>
                  <a:srgbClr val="000099"/>
                </a:solidFill>
                <a:latin typeface="Rockwell" pitchFamily="18" charset="0"/>
              </a:rPr>
              <a:t> </a:t>
            </a:r>
            <a:r>
              <a:rPr altLang="en-US" sz="2000" lang="en-US">
                <a:solidFill>
                  <a:srgbClr val="F20000"/>
                </a:solidFill>
                <a:latin typeface="Rockwell" pitchFamily="18" charset="0"/>
              </a:rPr>
              <a:t>extracellular matrix</a:t>
            </a:r>
            <a:r>
              <a:rPr altLang="en-US" sz="2000" lang="en-US">
                <a:solidFill>
                  <a:srgbClr val="000099"/>
                </a:solidFill>
                <a:latin typeface="Rockwell" pitchFamily="18" charset="0"/>
              </a:rPr>
              <a:t> </a:t>
            </a: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consists of amorphous substance</a:t>
            </a:r>
            <a:r>
              <a:rPr altLang="en-US" sz="2000" lang="en-US">
                <a:solidFill>
                  <a:srgbClr val="000099"/>
                </a:solidFill>
                <a:latin typeface="Rockwell" pitchFamily="18" charset="0"/>
              </a:rPr>
              <a:t> </a:t>
            </a:r>
            <a:r>
              <a:rPr altLang="en-US" sz="2000" lang="en-US">
                <a:solidFill>
                  <a:srgbClr val="F20000"/>
                </a:solidFill>
                <a:latin typeface="Rockwell" pitchFamily="18" charset="0"/>
              </a:rPr>
              <a:t>(ground substance)</a:t>
            </a:r>
            <a:r>
              <a:rPr altLang="en-US" sz="2000" lang="en-US">
                <a:solidFill>
                  <a:srgbClr val="000099"/>
                </a:solidFill>
                <a:latin typeface="Rockwell" pitchFamily="18" charset="0"/>
              </a:rPr>
              <a:t> </a:t>
            </a: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and</a:t>
            </a:r>
            <a:r>
              <a:rPr altLang="en-US" sz="2000" lang="en-US">
                <a:solidFill>
                  <a:srgbClr val="000099"/>
                </a:solidFill>
                <a:latin typeface="Rockwell" pitchFamily="18" charset="0"/>
              </a:rPr>
              <a:t> </a:t>
            </a:r>
            <a:r>
              <a:rPr altLang="en-US" sz="2000" lang="en-US">
                <a:solidFill>
                  <a:srgbClr val="F20000"/>
                </a:solidFill>
                <a:latin typeface="Rockwell" pitchFamily="18" charset="0"/>
              </a:rPr>
              <a:t>fibers</a:t>
            </a:r>
          </a:p>
          <a:p>
            <a:pPr eaLnBrk="1" hangingPunct="1" indent="0" lvl="0" marL="0">
              <a:spcBef>
                <a:spcPct val="50000"/>
              </a:spcBef>
              <a:buFontTx/>
              <a:buNone/>
            </a:pPr>
            <a:endParaRPr altLang="en-US" sz="800" lang="en-US">
              <a:solidFill>
                <a:srgbClr val="F20000"/>
              </a:solidFill>
              <a:latin typeface="Rockwell" pitchFamily="18" charset="0"/>
            </a:endParaRPr>
          </a:p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Connective tissue </a:t>
            </a:r>
            <a:r>
              <a:rPr altLang="en-US" sz="2000" lang="en-US">
                <a:solidFill>
                  <a:srgbClr val="F20000"/>
                </a:solidFill>
                <a:latin typeface="Rockwell" pitchFamily="18" charset="0"/>
              </a:rPr>
              <a:t>supports, binds and connects</a:t>
            </a: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 various tissues and organs</a:t>
            </a:r>
          </a:p>
          <a:p>
            <a:pPr eaLnBrk="1" hangingPunct="1" indent="0" lvl="0" marL="0">
              <a:spcBef>
                <a:spcPct val="0"/>
              </a:spcBef>
            </a:pPr>
            <a:endParaRPr altLang="en-US" sz="1000" lang="en-US">
              <a:solidFill>
                <a:srgbClr val="003399"/>
              </a:solidFill>
              <a:latin typeface="Rockwell" pitchFamily="18" charset="0"/>
            </a:endParaRPr>
          </a:p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Connective tissue is </a:t>
            </a:r>
            <a:r>
              <a:rPr altLang="en-US" sz="2000" lang="en-US">
                <a:solidFill>
                  <a:srgbClr val="F20000"/>
                </a:solidFill>
                <a:latin typeface="Rockwell" pitchFamily="18" charset="0"/>
              </a:rPr>
              <a:t>rich in blood vessels</a:t>
            </a: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, lymphatics and nerves. It carries O2 and nutrients to cells in various tissues of the body</a:t>
            </a:r>
          </a:p>
        </p:txBody>
      </p:sp>
      <p:sp>
        <p:nvSpPr>
          <p:cNvPr id="1048805" name="Text Box 4"/>
          <p:cNvSpPr txBox="1"/>
          <p:nvPr/>
        </p:nvSpPr>
        <p:spPr>
          <a:xfrm rot="0">
            <a:off x="10042525" y="3924300"/>
            <a:ext cx="18415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Rockwell" pitchFamily="18" charset="0"/>
            </a:endParaRPr>
          </a:p>
        </p:txBody>
      </p:sp>
      <p:pic>
        <p:nvPicPr>
          <p:cNvPr id="2097191" name="Picture 5" descr="Loose%20Connective%20tissue_jpg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667000" y="3810000"/>
            <a:ext cx="3436937" cy="2876550"/>
          </a:xfrm>
          <a:prstGeom prst="rect"/>
          <a:noFill/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</p:pic>
      <p:sp>
        <p:nvSpPr>
          <p:cNvPr id="1048806" name="AutoShape 6"/>
          <p:cNvSpPr/>
          <p:nvPr/>
        </p:nvSpPr>
        <p:spPr>
          <a:xfrm rot="729018">
            <a:off x="5326062" y="5175250"/>
            <a:ext cx="685800" cy="152400"/>
          </a:xfrm>
          <a:prstGeom prst="leftArrow">
            <a:avLst>
              <a:gd name="adj1" fmla="val 50000"/>
              <a:gd name="adj2" fmla="val 112500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07" name="AutoShape 7"/>
          <p:cNvSpPr/>
          <p:nvPr/>
        </p:nvSpPr>
        <p:spPr>
          <a:xfrm rot="20838392">
            <a:off x="4884737" y="6183312"/>
            <a:ext cx="685800" cy="144462"/>
          </a:xfrm>
          <a:prstGeom prst="leftArrow">
            <a:avLst>
              <a:gd name="adj1" fmla="val 50000"/>
              <a:gd name="adj2" fmla="val 118681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08" name="AutoShape 8"/>
          <p:cNvSpPr/>
          <p:nvPr/>
        </p:nvSpPr>
        <p:spPr>
          <a:xfrm rot="977556">
            <a:off x="5416550" y="4446587"/>
            <a:ext cx="762000" cy="152400"/>
          </a:xfrm>
          <a:prstGeom prst="leftArrow">
            <a:avLst>
              <a:gd name="adj1" fmla="val 50000"/>
              <a:gd name="adj2" fmla="val 125000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09" name="Text Box 9"/>
          <p:cNvSpPr txBox="1"/>
          <p:nvPr/>
        </p:nvSpPr>
        <p:spPr>
          <a:xfrm rot="0">
            <a:off x="6096000" y="4419600"/>
            <a:ext cx="990600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Fibers</a:t>
            </a:r>
          </a:p>
        </p:txBody>
      </p:sp>
      <p:sp>
        <p:nvSpPr>
          <p:cNvPr id="1048810" name="Text Box 10"/>
          <p:cNvSpPr txBox="1"/>
          <p:nvPr/>
        </p:nvSpPr>
        <p:spPr>
          <a:xfrm rot="0">
            <a:off x="5562600" y="5957887"/>
            <a:ext cx="990600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Cells</a:t>
            </a:r>
          </a:p>
        </p:txBody>
      </p:sp>
      <p:sp>
        <p:nvSpPr>
          <p:cNvPr id="1048811" name="Text Box 11"/>
          <p:cNvSpPr txBox="1"/>
          <p:nvPr/>
        </p:nvSpPr>
        <p:spPr>
          <a:xfrm rot="0">
            <a:off x="6096000" y="5029200"/>
            <a:ext cx="1371600" cy="7080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2000" lang="en-US">
                <a:solidFill>
                  <a:srgbClr val="003399"/>
                </a:solidFill>
                <a:latin typeface="Rockwell" pitchFamily="18" charset="0"/>
              </a:rPr>
              <a:t>Ground substance</a:t>
            </a:r>
          </a:p>
        </p:txBody>
      </p:sp>
      <p:sp>
        <p:nvSpPr>
          <p:cNvPr id="1048812" name="AutoShape 12"/>
          <p:cNvSpPr/>
          <p:nvPr/>
        </p:nvSpPr>
        <p:spPr>
          <a:xfrm rot="1819111">
            <a:off x="4938712" y="5837237"/>
            <a:ext cx="762000" cy="152400"/>
          </a:xfrm>
          <a:prstGeom prst="leftArrow">
            <a:avLst>
              <a:gd name="adj1" fmla="val 50000"/>
              <a:gd name="adj2" fmla="val 125000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13" name="Text Box 2"/>
          <p:cNvSpPr txBox="1"/>
          <p:nvPr/>
        </p:nvSpPr>
        <p:spPr>
          <a:xfrm rot="0">
            <a:off x="457200" y="381000"/>
            <a:ext cx="8229600" cy="584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-514350" lvl="0" marL="514350">
              <a:spcBef>
                <a:spcPct val="50000"/>
              </a:spcBef>
            </a:pPr>
            <a:r>
              <a:rPr altLang="en-US" b="1" lang="en-US" u="sng">
                <a:solidFill>
                  <a:srgbClr val="003399"/>
                </a:solidFill>
                <a:latin typeface="Calibri" pitchFamily="34" charset="0"/>
              </a:rPr>
              <a:t>CONNECTIVE TISSUE</a:t>
            </a:r>
          </a:p>
        </p:txBody>
      </p:sp>
    </p:spTree>
  </p:cSld>
  <p:clrMapOvr>
    <a:masterClrMapping/>
  </p:clrMapOvr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0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14" name="Title 1"/>
          <p:cNvSpPr/>
          <p:nvPr>
            <p:ph type="ctrTitle" sz="full" idx="0"/>
          </p:nvPr>
        </p:nvSpPr>
        <p:spPr>
          <a:xfrm rot="0">
            <a:off x="1905000" y="152400"/>
            <a:ext cx="4724400" cy="609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en-US" b="1" sz="3200" lang="en-US">
                <a:solidFill>
                  <a:srgbClr val="FF0000"/>
                </a:solidFill>
              </a:rPr>
              <a:t>ORGANIZATION of CT</a:t>
            </a:r>
          </a:p>
        </p:txBody>
      </p:sp>
      <p:pic>
        <p:nvPicPr>
          <p:cNvPr id="2097192" name="Diagram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-158750" y="0"/>
            <a:ext cx="9455150" cy="71628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 advClick="1"/>
  <p:timing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1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29" name="Rectangle 2"/>
          <p:cNvSpPr/>
          <p:nvPr>
            <p:ph type="title" sz="full" idx="0"/>
          </p:nvPr>
        </p:nvSpPr>
        <p:spPr>
          <a:xfrm rot="0">
            <a:off x="152400" y="228600"/>
            <a:ext cx="8915400" cy="457200"/>
          </a:xfrm>
          <a:prstGeom prst="rect"/>
          <a:solidFill>
            <a:schemeClr val="lt1">
              <a:alpha val="100000"/>
            </a:schemeClr>
          </a:solidFill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sz="3600" lang="en-US">
                <a:solidFill>
                  <a:srgbClr val="FF0000"/>
                </a:solidFill>
              </a:rPr>
              <a:t>Distinguishing Features of Connective Tissues</a:t>
            </a:r>
          </a:p>
        </p:txBody>
      </p:sp>
      <p:sp>
        <p:nvSpPr>
          <p:cNvPr id="1048830" name="Rectangle 3"/>
          <p:cNvSpPr/>
          <p:nvPr>
            <p:ph sz="full" idx="1"/>
          </p:nvPr>
        </p:nvSpPr>
        <p:spPr>
          <a:xfrm rot="0">
            <a:off x="228600" y="762000"/>
            <a:ext cx="8686800" cy="6019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Less cellularity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Matrix abundance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High vascularity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Morphological diversity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Wide distribution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Subepithelial location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Functional diversity: including structural, nutritive and metabolic supportive functions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Regenerative capability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Cellular variety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Constituting stroma of organs and glands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Heavy innervation</a:t>
            </a:r>
          </a:p>
          <a:p>
            <a:pPr eaLnBrk="1" hangingPunct="1" indent="-682625" lvl="1" marL="1082675">
              <a:lnSpc>
                <a:spcPct val="90000"/>
              </a:lnSpc>
              <a:spcBef>
                <a:spcPts val="600"/>
              </a:spcBef>
              <a:buFontTx/>
              <a:buAutoNum type="arabicPeriod" startAt="1"/>
            </a:pPr>
            <a:r>
              <a:rPr altLang="en-US" b="1" lang="en-US">
                <a:solidFill>
                  <a:srgbClr val="006600"/>
                </a:solidFill>
              </a:rPr>
              <a:t>Mesenchymal origin</a:t>
            </a:r>
          </a:p>
          <a:p>
            <a:pPr eaLnBrk="1" hangingPunct="1" indent="-609600" lvl="0" marL="609600">
              <a:lnSpc>
                <a:spcPct val="90000"/>
              </a:lnSpc>
              <a:spcBef>
                <a:spcPts val="600"/>
              </a:spcBef>
              <a:buNone/>
            </a:pPr>
            <a:endParaRPr altLang="en-US" b="1" sz="2800" lang="en-US">
              <a:solidFill>
                <a:srgbClr val="006600"/>
              </a:solidFill>
            </a:endParaRPr>
          </a:p>
        </p:txBody>
      </p:sp>
    </p:spTree>
  </p:cSld>
  <p:clrMapOvr>
    <a:masterClrMapping/>
  </p:clrMapOvr>
  <p:transition spd="fast" advClick="1"/>
  <p:timing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1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31" name="Title 1"/>
          <p:cNvSpPr/>
          <p:nvPr>
            <p:ph type="title" sz="full" idx="0"/>
          </p:nvPr>
        </p:nvSpPr>
        <p:spPr>
          <a:xfrm rot="0">
            <a:off x="457200" y="165100"/>
            <a:ext cx="8229600" cy="5207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lvl="0"/>
            <a:r>
              <a:rPr altLang="en-US" b="1" lang="en-US">
                <a:solidFill>
                  <a:srgbClr val="6600CC"/>
                </a:solidFill>
              </a:rPr>
              <a:t>Epithelium and CT </a:t>
            </a:r>
          </a:p>
        </p:txBody>
      </p:sp>
      <p:sp>
        <p:nvSpPr>
          <p:cNvPr id="1048832" name="TextBox 6"/>
          <p:cNvSpPr txBox="1"/>
          <p:nvPr/>
        </p:nvSpPr>
        <p:spPr>
          <a:xfrm rot="0">
            <a:off x="6484937" y="5514975"/>
            <a:ext cx="731837" cy="584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en-US" b="1" lang="en-US">
                <a:latin typeface="Arial" pitchFamily="0" charset="0"/>
                <a:ea typeface="Arial" pitchFamily="0" charset="0"/>
              </a:rPr>
              <a:t>CT</a:t>
            </a:r>
          </a:p>
        </p:txBody>
      </p:sp>
      <p:sp>
        <p:nvSpPr>
          <p:cNvPr id="1048833" name="TextBox 7"/>
          <p:cNvSpPr txBox="1"/>
          <p:nvPr/>
        </p:nvSpPr>
        <p:spPr>
          <a:xfrm rot="0">
            <a:off x="619125" y="2546350"/>
            <a:ext cx="350837" cy="891540"/>
          </a:xfrm>
          <a:prstGeom prst="rect"/>
          <a:solidFill>
            <a:srgbClr val="DDD9C3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lang="en-US"/>
          </a:p>
          <a:p>
            <a:pPr eaLnBrk="1" hangingPunct="1" lvl="0"/>
            <a:endParaRPr altLang="en-US" lang="en-US"/>
          </a:p>
          <a:p>
            <a:pPr eaLnBrk="1" hangingPunct="1" lvl="0"/>
            <a:endParaRPr altLang="en-US" lang="en-US"/>
          </a:p>
        </p:txBody>
      </p:sp>
      <p:pic>
        <p:nvPicPr>
          <p:cNvPr id="2097193" name="Picture 2" descr="C:\from desktop\blood cells and hematopoiesis\male reprod system\epididymis4.ti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95262" y="928687"/>
            <a:ext cx="8769350" cy="5621337"/>
          </a:xfrm>
          <a:prstGeom prst="rect"/>
          <a:noFill/>
          <a:ln>
            <a:noFill/>
          </a:ln>
        </p:spPr>
      </p:pic>
      <p:sp>
        <p:nvSpPr>
          <p:cNvPr id="1048834" name="TextBox 8"/>
          <p:cNvSpPr txBox="1"/>
          <p:nvPr/>
        </p:nvSpPr>
        <p:spPr>
          <a:xfrm rot="0">
            <a:off x="6846887" y="3703637"/>
            <a:ext cx="731837" cy="584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en-US" b="1" lang="en-US">
                <a:latin typeface="Arial" pitchFamily="0" charset="0"/>
                <a:ea typeface="Arial" pitchFamily="0" charset="0"/>
              </a:rPr>
              <a:t>CT</a:t>
            </a:r>
          </a:p>
        </p:txBody>
      </p:sp>
    </p:spTree>
  </p:cSld>
  <p:clrMapOvr>
    <a:masterClrMapping/>
  </p:clrMapOvr>
  <p:transition spd="fast" advClick="1" advTm="22000"/>
  <p:timing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1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2" name="Title 1"/>
          <p:cNvSpPr/>
          <p:nvPr>
            <p:ph type="ctrTitle" sz="full" idx="0"/>
          </p:nvPr>
        </p:nvSpPr>
        <p:spPr>
          <a:xfrm rot="0">
            <a:off x="1905000" y="152400"/>
            <a:ext cx="4724400" cy="609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en-US" b="1" sz="3200" lang="en-US">
                <a:solidFill>
                  <a:srgbClr val="FF0000"/>
                </a:solidFill>
              </a:rPr>
              <a:t>ORGANIZATION of CT</a:t>
            </a:r>
          </a:p>
        </p:txBody>
      </p:sp>
      <p:pic>
        <p:nvPicPr>
          <p:cNvPr id="2097194" name="Diagram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-158750" y="0"/>
            <a:ext cx="9686925" cy="7242175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2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8" name="Rectangle 2"/>
          <p:cNvSpPr/>
          <p:nvPr>
            <p:ph type="title" sz="full" idx="4294967295"/>
          </p:nvPr>
        </p:nvSpPr>
        <p:spPr>
          <a:xfrm rot="0">
            <a:off x="685800" y="0"/>
            <a:ext cx="7467600" cy="6858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b="1" sz="3600" lang="en-US">
                <a:solidFill>
                  <a:srgbClr val="FF0000"/>
                </a:solidFill>
              </a:rPr>
              <a:t>Fibers in Fibrous Connective Tissue:</a:t>
            </a:r>
          </a:p>
        </p:txBody>
      </p:sp>
      <p:sp>
        <p:nvSpPr>
          <p:cNvPr id="1048849" name="Rectangle 3"/>
          <p:cNvSpPr/>
          <p:nvPr>
            <p:ph type="body" sz="half" idx="4294967295"/>
          </p:nvPr>
        </p:nvSpPr>
        <p:spPr>
          <a:xfrm rot="0">
            <a:off x="0" y="836612"/>
            <a:ext cx="3810000" cy="40401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rial" pitchFamily="0" charset="0"/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rial" pitchFamily="0" charset="0"/>
              <a:buChar char="–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rial" pitchFamily="0" charset="0"/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rial" pitchFamily="0" charset="0"/>
              <a:buChar char="–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rial" pitchFamily="0" charset="0"/>
              <a:buChar char="»"/>
              <a:defRPr sz="1800">
                <a:solidFill>
                  <a:schemeClr val="dk1"/>
                </a:solidFill>
              </a:defRPr>
            </a:lvl5pPr>
          </a:lstStyle>
          <a:p>
            <a:pPr eaLnBrk="1" hangingPunct="1" indent="-514350" lvl="0" marL="492125">
              <a:buFont typeface="Calibri" pitchFamily="34" charset="0"/>
              <a:buAutoNum type="arabicPeriod" startAt="1"/>
            </a:pPr>
            <a:r>
              <a:rPr altLang="en-US" b="1" sz="3200" lang="en-US">
                <a:solidFill>
                  <a:srgbClr val="9900FF"/>
                </a:solidFill>
              </a:rPr>
              <a:t>Collagenous Fibers</a:t>
            </a:r>
          </a:p>
          <a:p>
            <a:pPr eaLnBrk="1" hangingPunct="1" indent="-514350" lvl="0" marL="492125">
              <a:buFont typeface="Calibri" pitchFamily="34" charset="0"/>
              <a:buAutoNum type="arabicPeriod" startAt="1"/>
            </a:pPr>
            <a:r>
              <a:rPr altLang="en-US" b="1" sz="3200" lang="en-US">
                <a:solidFill>
                  <a:srgbClr val="9900FF"/>
                </a:solidFill>
              </a:rPr>
              <a:t>Reticular Fibers</a:t>
            </a:r>
          </a:p>
          <a:p>
            <a:pPr eaLnBrk="1" hangingPunct="1" indent="-514350" lvl="0" marL="492125">
              <a:buFont typeface="Calibri" pitchFamily="34" charset="0"/>
              <a:buAutoNum type="arabicPeriod" startAt="1"/>
            </a:pPr>
            <a:r>
              <a:rPr altLang="en-US" b="1" sz="3200" lang="en-US">
                <a:solidFill>
                  <a:srgbClr val="9900FF"/>
                </a:solidFill>
              </a:rPr>
              <a:t>Elastic Fibers</a:t>
            </a:r>
          </a:p>
          <a:p>
            <a:pPr eaLnBrk="1" hangingPunct="1" indent="-514350" lvl="0" marL="492125"/>
            <a:endParaRPr altLang="en-US" sz="3200" lang="en-US">
              <a:solidFill>
                <a:srgbClr val="9900FF"/>
              </a:solidFill>
            </a:endParaRPr>
          </a:p>
        </p:txBody>
      </p:sp>
      <p:pic>
        <p:nvPicPr>
          <p:cNvPr id="2097195" name="Picture 3" descr="ect3"/>
          <p:cNvPicPr>
            <a:picLocks/>
          </p:cNvPicPr>
          <p:nvPr>
            <p:ph sz="half" idx="4294967295"/>
          </p:nvPr>
        </p:nvPicPr>
        <p:blipFill>
          <a:blip xmlns:r="http://schemas.openxmlformats.org/officeDocument/2006/relationships" r:embed="rId1"/>
          <a:srcRect l="3510" t="2280" r="3508" b="1947"/>
          <a:stretch>
            <a:fillRect/>
          </a:stretch>
        </p:blipFill>
        <p:spPr>
          <a:xfrm rot="0">
            <a:off x="3924300" y="685800"/>
            <a:ext cx="5091112" cy="6019800"/>
          </a:xfrm>
          <a:prstGeom prst="rect"/>
          <a:noFill/>
          <a:ln>
            <a:noFill/>
          </a:ln>
        </p:spPr>
      </p:pic>
      <p:sp>
        <p:nvSpPr>
          <p:cNvPr id="1048850" name="Text Box 4"/>
          <p:cNvSpPr txBox="1"/>
          <p:nvPr/>
        </p:nvSpPr>
        <p:spPr>
          <a:xfrm rot="0">
            <a:off x="228600" y="4876800"/>
            <a:ext cx="3276600" cy="1767840"/>
          </a:xfrm>
          <a:prstGeom prst="rect"/>
          <a:solidFill>
            <a:schemeClr val="lt1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b="1" sz="2800" lang="en-US">
                <a:solidFill>
                  <a:srgbClr val="FF0066"/>
                </a:solidFill>
                <a:ea typeface="Arial" pitchFamily="0" charset="0"/>
              </a:rPr>
              <a:t>Collagen Fibers as seen by scanning electron microscope</a:t>
            </a:r>
          </a:p>
        </p:txBody>
      </p:sp>
      <p:sp>
        <p:nvSpPr>
          <p:cNvPr id="1048851" name="Line 5"/>
          <p:cNvSpPr/>
          <p:nvPr/>
        </p:nvSpPr>
        <p:spPr>
          <a:xfrm rot="0" flipV="1">
            <a:off x="3048000" y="4495800"/>
            <a:ext cx="1524000" cy="685800"/>
          </a:xfrm>
          <a:prstGeom prst="line"/>
          <a:noFill/>
          <a:ln w="7620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</p:spTree>
  </p:cSld>
  <p:clrMapOvr>
    <a:masterClrMapping/>
  </p:clrMapOvr>
  <p:transition spd="fast" advClick="1"/>
  <p:timing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2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2" name="Subtitle 4"/>
          <p:cNvSpPr/>
          <p:nvPr>
            <p:ph type="subTitle" sz="full" idx="1"/>
          </p:nvPr>
        </p:nvSpPr>
        <p:spPr>
          <a:xfrm rot="0">
            <a:off x="0" y="0"/>
            <a:ext cx="9144000" cy="6858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None/>
            </a:lvl2pPr>
            <a:lvl3pPr algn="ctr" marL="914400">
              <a:buNone/>
            </a:lvl3pPr>
            <a:lvl4pPr algn="ctr" marL="1371600">
              <a:buNone/>
            </a:lvl4pPr>
            <a:lvl5pPr algn="ctr" marL="1828800">
              <a:buNone/>
            </a:lvl5pPr>
          </a:lstStyle>
          <a:p>
            <a:pPr algn="l" eaLnBrk="1" hangingPunct="1" indent="-366712" lvl="0" marL="541337">
              <a:lnSpc>
                <a:spcPct val="90000"/>
              </a:lnSpc>
              <a:buFont typeface="Wingdings 2" pitchFamily="18" charset="2"/>
              <a:buAutoNum type="arabicPeriod" startAt="1"/>
            </a:pPr>
            <a:r>
              <a:rPr altLang="en-US" b="1" sz="3600" lang="en-US">
                <a:solidFill>
                  <a:srgbClr val="FF0000"/>
                </a:solidFill>
              </a:rPr>
              <a:t>Collagenous Fibers </a:t>
            </a:r>
            <a:r>
              <a:rPr altLang="en-US" b="1" sz="2400" lang="en-US">
                <a:solidFill>
                  <a:srgbClr val="FF0000"/>
                </a:solidFill>
              </a:rPr>
              <a:t>(</a:t>
            </a:r>
            <a:r>
              <a:rPr altLang="en-US" b="1" sz="2000" lang="en-US">
                <a:solidFill>
                  <a:srgbClr val="FF0000"/>
                </a:solidFill>
              </a:rPr>
              <a:t>KOL-a-jen; colla = glue, gen= produced)</a:t>
            </a:r>
          </a:p>
          <a:p>
            <a:pPr algn="l" eaLnBrk="1" hangingPunct="1" indent="-366712" lvl="0" marL="541337">
              <a:lnSpc>
                <a:spcPct val="90000"/>
              </a:lnSpc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00B050"/>
                </a:solidFill>
              </a:rPr>
              <a:t>tough, firm, inelastic fibers which resist the tensile forces upon the tissues (flexible but with extremely high tensile strength), also called </a:t>
            </a:r>
            <a:r>
              <a:rPr altLang="en-US" b="1" sz="2800" lang="en-US">
                <a:solidFill>
                  <a:srgbClr val="FF0066"/>
                </a:solidFill>
              </a:rPr>
              <a:t>white fibers.</a:t>
            </a:r>
          </a:p>
          <a:p>
            <a:pPr algn="l" eaLnBrk="1" hangingPunct="1" indent="-366712" lvl="0" marL="541337">
              <a:lnSpc>
                <a:spcPct val="90000"/>
              </a:lnSpc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</a:rPr>
              <a:t>the most common fibers in connective tissue and the most abundant proteins in the body.</a:t>
            </a:r>
          </a:p>
          <a:p>
            <a:pPr algn="l" eaLnBrk="1" hangingPunct="1" indent="-366712" lvl="0" marL="541337">
              <a:lnSpc>
                <a:spcPct val="90000"/>
              </a:lnSpc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FF00FF"/>
                </a:solidFill>
              </a:rPr>
              <a:t>Although fresh collagen fibers are colorless strands, when present in large numbers (eg, in tendons) they appear white. </a:t>
            </a:r>
          </a:p>
          <a:p>
            <a:pPr algn="l" eaLnBrk="1" hangingPunct="1" indent="-366712" lvl="0" marL="541337">
              <a:lnSpc>
                <a:spcPct val="90000"/>
              </a:lnSpc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FF00FF"/>
                </a:solidFill>
              </a:rPr>
              <a:t>The highly regular orientation of subunits in collagen fibers makes them birefringent under the polarizing microscope.</a:t>
            </a:r>
          </a:p>
          <a:p>
            <a:pPr algn="l" eaLnBrk="1" hangingPunct="1" indent="-366712" lvl="0" marL="541337">
              <a:lnSpc>
                <a:spcPct val="90000"/>
              </a:lnSpc>
              <a:spcBef>
                <a:spcPts val="1200"/>
              </a:spcBef>
              <a:buFont typeface="Calibri" pitchFamily="34" charset="0"/>
              <a:buChar char="–"/>
            </a:pPr>
            <a:r>
              <a:rPr altLang="en-US" sz="2800" lang="en-US"/>
              <a:t>In the light microscope, collagen fibers are acidophilic; they stain </a:t>
            </a:r>
            <a:r>
              <a:rPr altLang="en-US" b="1" sz="2800" lang="en-US">
                <a:solidFill>
                  <a:srgbClr val="FF00FF"/>
                </a:solidFill>
              </a:rPr>
              <a:t>pink</a:t>
            </a:r>
            <a:r>
              <a:rPr altLang="en-US" sz="2800" lang="en-US"/>
              <a:t> with eosin, </a:t>
            </a:r>
            <a:r>
              <a:rPr altLang="en-US" b="1" sz="2800" lang="en-US">
                <a:solidFill>
                  <a:srgbClr val="0070C0"/>
                </a:solidFill>
              </a:rPr>
              <a:t>blue</a:t>
            </a:r>
            <a:r>
              <a:rPr altLang="en-US" sz="2800" lang="en-US"/>
              <a:t> with Mallory trichrome stain, </a:t>
            </a:r>
            <a:r>
              <a:rPr altLang="en-US" b="1" sz="2800" lang="en-US">
                <a:solidFill>
                  <a:srgbClr val="00B050"/>
                </a:solidFill>
              </a:rPr>
              <a:t>green</a:t>
            </a:r>
            <a:r>
              <a:rPr altLang="en-US" sz="2800" lang="en-US"/>
              <a:t> with Masson trichrome stain, and </a:t>
            </a:r>
            <a:r>
              <a:rPr altLang="en-US" b="1" sz="2800" lang="en-US">
                <a:solidFill>
                  <a:srgbClr val="FF0000"/>
                </a:solidFill>
              </a:rPr>
              <a:t>red</a:t>
            </a:r>
            <a:r>
              <a:rPr altLang="en-US" sz="2800" lang="en-US"/>
              <a:t> with Sirius red.</a:t>
            </a:r>
          </a:p>
        </p:txBody>
      </p:sp>
    </p:spTree>
  </p:cSld>
  <p:clrMapOvr>
    <a:masterClrMapping/>
  </p:clrMapOvr>
  <p:transition spd="fast" advClick="1"/>
  <p:timing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96" name="Picture 4" descr="Q18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81000" y="381000"/>
            <a:ext cx="8458200" cy="5867400"/>
          </a:xfrm>
          <a:prstGeom prst="rect"/>
          <a:noFill/>
          <a:ln>
            <a:noFill/>
          </a:ln>
        </p:spPr>
      </p:pic>
      <p:sp>
        <p:nvSpPr>
          <p:cNvPr id="1048853" name="Slide Number Placeholder 2"/>
          <p:cNvSpPr txBox="1"/>
          <p:nvPr/>
        </p:nvSpPr>
        <p:spPr>
          <a:xfrm rot="0"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200" lang="en-US">
                <a:solidFill>
                  <a:srgbClr val="898989"/>
                </a:solidFill>
                <a:latin typeface="Arial" pitchFamily="0" charset="0"/>
                <a:ea typeface="Arial" pitchFamily="0" charset="0"/>
              </a:rPr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45</a:t>
            </a:fld>
            <a:endParaRPr altLang="en-US" sz="1200" lang="en-US">
              <a:solidFill>
                <a:srgbClr val="898989"/>
              </a:solidFill>
              <a:latin typeface="Arial" pitchFamily="0" charset="0"/>
              <a:ea typeface="Arial" pitchFamily="0" charset="0"/>
            </a:endParaRPr>
          </a:p>
        </p:txBody>
      </p:sp>
    </p:spTree>
  </p:cSld>
  <p:clrMapOvr>
    <a:masterClrMapping/>
  </p:clrMapOvr>
  <p:transition spd="fast" advClick="1" advTm="30000"/>
  <p:timing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2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7" name="Title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lvl="0"/>
            <a:r>
              <a:rPr altLang="en-US" b="1" sz="3200" lang="en-US">
                <a:solidFill>
                  <a:schemeClr val="lt2"/>
                </a:solidFill>
              </a:rPr>
              <a:t>Blue stained collagenous tissue in Lamina propria </a:t>
            </a:r>
          </a:p>
        </p:txBody>
      </p:sp>
      <p:pic>
        <p:nvPicPr>
          <p:cNvPr id="2097197" name="Picture 3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838200" y="1447800"/>
            <a:ext cx="6827837" cy="5119687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/>
  <p:timing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8" name="Subtitle 4"/>
          <p:cNvSpPr/>
          <p:nvPr>
            <p:ph type="subTitle" sz="full" idx="1"/>
          </p:nvPr>
        </p:nvSpPr>
        <p:spPr>
          <a:xfrm rot="0">
            <a:off x="0" y="0"/>
            <a:ext cx="9144000" cy="6858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None/>
              <a:defRPr sz="3200">
                <a:solidFill>
                  <a:schemeClr val="dk1"/>
                </a:solidFill>
              </a:defRPr>
            </a:lvl1pPr>
            <a:lvl2pPr algn="ctr" marL="457200">
              <a:buNone/>
            </a:lvl2pPr>
            <a:lvl3pPr algn="ctr" marL="914400">
              <a:buNone/>
            </a:lvl3pPr>
            <a:lvl4pPr algn="ctr" marL="1371600">
              <a:buNone/>
            </a:lvl4pPr>
            <a:lvl5pPr algn="ctr" marL="1828800">
              <a:buNone/>
            </a:lvl5pPr>
          </a:lstStyle>
          <a:p>
            <a:pPr algn="l" eaLnBrk="1" hangingPunct="1" indent="-366712" lvl="0" marL="541337">
              <a:lnSpc>
                <a:spcPct val="90000"/>
              </a:lnSpc>
            </a:pPr>
            <a:r>
              <a:rPr altLang="en-US" b="1" sz="3600" lang="en-US">
                <a:solidFill>
                  <a:srgbClr val="FF0000"/>
                </a:solidFill>
              </a:rPr>
              <a:t>Collagenous Fibers</a:t>
            </a:r>
          </a:p>
          <a:p>
            <a:pPr algn="l" eaLnBrk="1" hangingPunct="1" indent="-366712" lvl="0" marL="541337">
              <a:lnSpc>
                <a:spcPct val="90000"/>
              </a:lnSpc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/>
              <a:t>synthesized by different types of cells in d/t tissues: </a:t>
            </a:r>
            <a:r>
              <a:rPr altLang="en-US" b="1" sz="2800" lang="en-US">
                <a:solidFill>
                  <a:srgbClr val="FF0066"/>
                </a:solidFill>
              </a:rPr>
              <a:t>fibroblasts</a:t>
            </a:r>
            <a:r>
              <a:rPr altLang="en-US" b="1" sz="2800" lang="en-US"/>
              <a:t>, </a:t>
            </a:r>
            <a:r>
              <a:rPr altLang="en-US" b="1" sz="2800" lang="en-US">
                <a:solidFill>
                  <a:srgbClr val="FF0000"/>
                </a:solidFill>
              </a:rPr>
              <a:t>cho</a:t>
            </a:r>
            <a:r>
              <a:rPr altLang="en-US" b="1" sz="2800" lang="en-US">
                <a:solidFill>
                  <a:srgbClr val="FF0066"/>
                </a:solidFill>
              </a:rPr>
              <a:t>ndroblasts</a:t>
            </a:r>
            <a:r>
              <a:rPr altLang="en-US" b="1" sz="2800" lang="en-US"/>
              <a:t>, </a:t>
            </a:r>
            <a:r>
              <a:rPr altLang="en-US" b="1" sz="2800" lang="en-US">
                <a:solidFill>
                  <a:srgbClr val="FF0066"/>
                </a:solidFill>
              </a:rPr>
              <a:t>osteoblasts</a:t>
            </a:r>
            <a:r>
              <a:rPr altLang="en-US" sz="2800" lang="en-US"/>
              <a:t>, </a:t>
            </a:r>
            <a:r>
              <a:rPr altLang="en-US" b="1" sz="2800" lang="en-US">
                <a:solidFill>
                  <a:srgbClr val="FF0066"/>
                </a:solidFill>
              </a:rPr>
              <a:t>odontoblasts</a:t>
            </a:r>
            <a:r>
              <a:rPr altLang="en-US" sz="2800" lang="en-US"/>
              <a:t>, </a:t>
            </a:r>
            <a:r>
              <a:rPr altLang="en-US" b="1" sz="2800" lang="en-US">
                <a:solidFill>
                  <a:srgbClr val="FF0066"/>
                </a:solidFill>
              </a:rPr>
              <a:t>reticular cells</a:t>
            </a:r>
            <a:r>
              <a:rPr altLang="en-US" sz="2800" lang="en-US"/>
              <a:t>, adipocytes, </a:t>
            </a:r>
            <a:r>
              <a:rPr altLang="en-US" b="1" sz="2800" lang="en-US">
                <a:solidFill>
                  <a:srgbClr val="FF0066"/>
                </a:solidFill>
              </a:rPr>
              <a:t>smooth muscle fibers</a:t>
            </a:r>
            <a:r>
              <a:rPr altLang="en-US" sz="2800" lang="en-US"/>
              <a:t>, etc</a:t>
            </a:r>
          </a:p>
          <a:p>
            <a:pPr algn="l" eaLnBrk="1" hangingPunct="1" indent="-366712" lvl="0" marL="541337">
              <a:lnSpc>
                <a:spcPct val="90000"/>
              </a:lnSpc>
              <a:spcBef>
                <a:spcPts val="600"/>
              </a:spcBef>
              <a:buFont typeface="Calibri" pitchFamily="34" charset="0"/>
              <a:buChar char="–"/>
            </a:pPr>
            <a:r>
              <a:rPr altLang="en-US" sz="2800" lang="en-US"/>
              <a:t>ultrastructurally consists of:</a:t>
            </a:r>
          </a:p>
          <a:p>
            <a:pPr algn="l" eaLnBrk="1" hangingPunct="1" indent="-457200" lvl="2" marL="854075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FF00FF"/>
                </a:solidFill>
              </a:rPr>
              <a:t>Collagen</a:t>
            </a:r>
            <a:r>
              <a:rPr altLang="en-US" b="1" sz="2800" lang="en-US">
                <a:solidFill>
                  <a:srgbClr val="FF00FF"/>
                </a:solidFill>
              </a:rPr>
              <a:t> </a:t>
            </a:r>
            <a:r>
              <a:rPr altLang="en-US" sz="2800" lang="en-US">
                <a:solidFill>
                  <a:srgbClr val="9900FF"/>
                </a:solidFill>
              </a:rPr>
              <a:t>macromolecules called</a:t>
            </a:r>
            <a:r>
              <a:rPr altLang="en-US" b="1" sz="2800" lang="en-US">
                <a:solidFill>
                  <a:srgbClr val="9900FF"/>
                </a:solidFill>
              </a:rPr>
              <a:t> </a:t>
            </a:r>
            <a:r>
              <a:rPr altLang="en-US" b="1" sz="2800" lang="en-US">
                <a:solidFill>
                  <a:srgbClr val="FF00FF"/>
                </a:solidFill>
              </a:rPr>
              <a:t>Tropocollagens </a:t>
            </a:r>
            <a:r>
              <a:rPr altLang="en-US" sz="2800" lang="en-US">
                <a:solidFill>
                  <a:srgbClr val="9900FF"/>
                </a:solidFill>
              </a:rPr>
              <a:t>running parallel and overlapping each other.</a:t>
            </a:r>
          </a:p>
          <a:p>
            <a:pPr algn="l" eaLnBrk="1" hangingPunct="1" indent="-457200" lvl="4" marL="854075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b="1" sz="2800" lang="en-US">
                <a:solidFill>
                  <a:srgbClr val="00B050"/>
                </a:solidFill>
              </a:rPr>
              <a:t>Tropocollagens form </a:t>
            </a:r>
            <a:r>
              <a:rPr altLang="en-US" b="1" sz="2800" lang="en-US">
                <a:solidFill>
                  <a:srgbClr val="9900FF"/>
                </a:solidFill>
              </a:rPr>
              <a:t>collagen fibrils, </a:t>
            </a:r>
            <a:r>
              <a:rPr altLang="en-US" sz="2800" lang="en-US">
                <a:solidFill>
                  <a:srgbClr val="9900FF"/>
                </a:solidFill>
              </a:rPr>
              <a:t>each of which represents a structural unit (the </a:t>
            </a:r>
            <a:r>
              <a:rPr altLang="en-US" b="1" sz="2800" lang="en-US">
                <a:solidFill>
                  <a:srgbClr val="9900FF"/>
                </a:solidFill>
              </a:rPr>
              <a:t>unit fibrils of collagen</a:t>
            </a:r>
            <a:r>
              <a:rPr altLang="en-US" sz="2800" lang="en-US">
                <a:solidFill>
                  <a:srgbClr val="9900FF"/>
                </a:solidFill>
              </a:rPr>
              <a:t>).</a:t>
            </a:r>
          </a:p>
          <a:p>
            <a:pPr algn="l" eaLnBrk="1" hangingPunct="1" indent="-457200" lvl="3" marL="854075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9900FF"/>
                </a:solidFill>
              </a:rPr>
              <a:t>Each unit fibril shows </a:t>
            </a:r>
            <a:r>
              <a:rPr altLang="en-US" b="1" sz="2800" lang="en-US">
                <a:solidFill>
                  <a:srgbClr val="9900FF"/>
                </a:solidFill>
              </a:rPr>
              <a:t>transverse bands.</a:t>
            </a:r>
          </a:p>
          <a:p>
            <a:pPr algn="l" eaLnBrk="1" hangingPunct="1" indent="-457200" lvl="3" marL="854075">
              <a:spcBef>
                <a:spcPts val="1800"/>
              </a:spcBef>
              <a:buFont typeface="Calibri" pitchFamily="34" charset="0"/>
              <a:buChar char="–"/>
            </a:pPr>
            <a:r>
              <a:rPr altLang="en-US" sz="2800" lang="en-US">
                <a:solidFill>
                  <a:srgbClr val="0070C0"/>
                </a:solidFill>
              </a:rPr>
              <a:t>Each tropocollagen molecule is</a:t>
            </a:r>
            <a:r>
              <a:rPr altLang="en-US" sz="2800" lang="en-US">
                <a:solidFill>
                  <a:srgbClr val="FF00FF"/>
                </a:solidFill>
              </a:rPr>
              <a:t> </a:t>
            </a:r>
            <a:r>
              <a:rPr altLang="en-US" b="1" sz="2800" lang="en-US">
                <a:solidFill>
                  <a:srgbClr val="FF00FF"/>
                </a:solidFill>
              </a:rPr>
              <a:t>a right-handed triple helix </a:t>
            </a:r>
            <a:r>
              <a:rPr altLang="en-US" sz="2800" lang="en-US"/>
              <a:t>formed by intertwining of </a:t>
            </a:r>
            <a:r>
              <a:rPr altLang="en-US" b="1" sz="2800" lang="en-US">
                <a:solidFill>
                  <a:srgbClr val="FF00FF"/>
                </a:solidFill>
              </a:rPr>
              <a:t>three procollagen </a:t>
            </a:r>
            <a:r>
              <a:rPr altLang="en-US" b="1" sz="2800" lang="en-US">
                <a:solidFill>
                  <a:srgbClr val="FF00FF"/>
                </a:solidFill>
                <a:sym typeface="Symbol" pitchFamily="18" charset="2"/>
              </a:rPr>
              <a:t></a:t>
            </a:r>
            <a:r>
              <a:rPr altLang="en-US" b="1" sz="2800" lang="en-US">
                <a:solidFill>
                  <a:srgbClr val="FF00FF"/>
                </a:solidFill>
              </a:rPr>
              <a:t>-polypeptide chains.</a:t>
            </a:r>
          </a:p>
          <a:p>
            <a:pPr algn="l" eaLnBrk="1" hangingPunct="1" indent="-457200" lvl="3" marL="854075">
              <a:spcBef>
                <a:spcPts val="600"/>
              </a:spcBef>
              <a:buFont typeface="Calibri" pitchFamily="34" charset="0"/>
              <a:buChar char="–"/>
            </a:pPr>
            <a:endParaRPr altLang="en-US" b="1" sz="2800" lang="en-US">
              <a:solidFill>
                <a:srgbClr val="9900FF"/>
              </a:solidFill>
            </a:endParaRPr>
          </a:p>
        </p:txBody>
      </p:sp>
    </p:spTree>
  </p:cSld>
  <p:clrMapOvr>
    <a:masterClrMapping/>
  </p:clrMapOvr>
  <p:transition spd="fast" advClick="1"/>
  <p:timing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9" name="Title 1"/>
          <p:cNvSpPr/>
          <p:nvPr>
            <p:ph type="title" sz="full" idx="0"/>
          </p:nvPr>
        </p:nvSpPr>
        <p:spPr>
          <a:xfrm rot="0">
            <a:off x="457200" y="0"/>
            <a:ext cx="8229600" cy="6096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</a:lstStyle>
          <a:p>
            <a:pPr lvl="0"/>
            <a:r>
              <a:rPr altLang="en-US" b="1" sz="3200" lang="en-US">
                <a:solidFill>
                  <a:srgbClr val="FF0000"/>
                </a:solidFill>
              </a:rPr>
              <a:t>Types, Sources and Lineages of CT Cells</a:t>
            </a:r>
          </a:p>
        </p:txBody>
      </p:sp>
      <p:pic>
        <p:nvPicPr>
          <p:cNvPr id="2097198" name="Picture 1"/>
          <p:cNvPicPr>
            <a:picLocks/>
          </p:cNvPicPr>
          <p:nvPr>
            <p:ph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81000" y="533400"/>
            <a:ext cx="8153400" cy="6172200"/>
          </a:xfrm>
          <a:prstGeom prst="rect"/>
          <a:noFill/>
          <a:ln>
            <a:noFill/>
          </a:ln>
        </p:spPr>
      </p:pic>
      <p:sp>
        <p:nvSpPr>
          <p:cNvPr id="1048860" name="TextBox 4"/>
          <p:cNvSpPr txBox="1"/>
          <p:nvPr/>
        </p:nvSpPr>
        <p:spPr>
          <a:xfrm rot="0">
            <a:off x="7010400" y="4191000"/>
            <a:ext cx="1808481" cy="3581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32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8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•"/>
              <a:defRPr baseline="0" b="0" sz="24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–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0" charset="0"/>
              <a:buChar char="»"/>
              <a:defRPr baseline="0" b="0" sz="2000" i="0" u="none">
                <a:solidFill>
                  <a:schemeClr val="dk1"/>
                </a:solidFill>
                <a:latin typeface="Calibri" pitchFamily="34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r>
              <a:rPr altLang="en-US" b="1" sz="1800" i="1" lang="en-US">
                <a:latin typeface="Arial" pitchFamily="0" charset="0"/>
                <a:ea typeface="Arial" pitchFamily="0" charset="0"/>
              </a:rPr>
              <a:t>Source: M. Ross</a:t>
            </a:r>
          </a:p>
        </p:txBody>
      </p:sp>
    </p:spTree>
  </p:cSld>
  <p:clrMapOvr>
    <a:masterClrMapping/>
  </p:clrMapOvr>
  <p:transition spd="fast" advClick="1"/>
  <p:timing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99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4468" t="3357" r="4468" b="5455"/>
          <a:stretch>
            <a:fillRect/>
          </a:stretch>
        </p:blipFill>
        <p:spPr>
          <a:xfrm rot="0">
            <a:off x="228600" y="552450"/>
            <a:ext cx="8610600" cy="6229350"/>
          </a:xfrm>
          <a:prstGeom prst="rect"/>
          <a:noFill/>
          <a:ln>
            <a:noFill/>
          </a:ln>
        </p:spPr>
      </p:pic>
      <p:sp>
        <p:nvSpPr>
          <p:cNvPr id="1048861" name="Title 1"/>
          <p:cNvSpPr txBox="1"/>
          <p:nvPr/>
        </p:nvSpPr>
        <p:spPr>
          <a:xfrm rot="0">
            <a:off x="0" y="0"/>
            <a:ext cx="9448800" cy="533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>
              <a:lnSpc>
                <a:spcPct val="90000"/>
              </a:lnSpc>
            </a:pPr>
            <a:r>
              <a:rPr altLang="en-US" b="1" sz="3200" lang="en-US">
                <a:solidFill>
                  <a:srgbClr val="FF0066"/>
                </a:solidFill>
                <a:latin typeface="Calibri" pitchFamily="34" charset="0"/>
              </a:rPr>
              <a:t>Composition of ordinary connective tissue </a:t>
            </a:r>
            <a:r>
              <a:rPr altLang="en-US" b="1" sz="2800" lang="en-US">
                <a:solidFill>
                  <a:srgbClr val="FF0066"/>
                </a:solidFill>
                <a:latin typeface="Calibri" pitchFamily="34" charset="0"/>
              </a:rPr>
              <a:t>(CT Proper)</a:t>
            </a:r>
          </a:p>
        </p:txBody>
      </p:sp>
    </p:spTree>
  </p:cSld>
  <p:clrMapOvr>
    <a:masterClrMapping/>
  </p:clrMapOvr>
  <p:transition spd="fast" advClick="1"/>
  <p:timing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62" name="Rectangle 25"/>
          <p:cNvSpPr/>
          <p:nvPr/>
        </p:nvSpPr>
        <p:spPr>
          <a:xfrm rot="0">
            <a:off x="304800" y="914400"/>
            <a:ext cx="3733800" cy="4267200"/>
          </a:xfrm>
          <a:prstGeom prst="rect"/>
          <a:solidFill>
            <a:srgbClr val="ECD9FF"/>
          </a:solidFill>
          <a:ln w="9525" cap="flat" cmpd="sng">
            <a:solidFill>
              <a:srgbClr val="CC66FF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63" name="Text Box 4"/>
          <p:cNvSpPr txBox="1"/>
          <p:nvPr/>
        </p:nvSpPr>
        <p:spPr>
          <a:xfrm rot="0">
            <a:off x="10042525" y="3924300"/>
            <a:ext cx="18415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Rockwell" pitchFamily="18" charset="0"/>
            </a:endParaRPr>
          </a:p>
        </p:txBody>
      </p:sp>
      <p:pic>
        <p:nvPicPr>
          <p:cNvPr id="2097200" name="Picture 5" descr="Loose%20Connective%20tissue_jpg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419600" y="1828800"/>
            <a:ext cx="3436937" cy="2876550"/>
          </a:xfrm>
          <a:prstGeom prst="rect"/>
          <a:noFill/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</p:pic>
      <p:sp>
        <p:nvSpPr>
          <p:cNvPr id="1048864" name="AutoShape 6"/>
          <p:cNvSpPr/>
          <p:nvPr/>
        </p:nvSpPr>
        <p:spPr>
          <a:xfrm rot="729018">
            <a:off x="7467600" y="3048000"/>
            <a:ext cx="685800" cy="152400"/>
          </a:xfrm>
          <a:prstGeom prst="leftArrow">
            <a:avLst>
              <a:gd name="adj1" fmla="val 50000"/>
              <a:gd name="adj2" fmla="val 112500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65" name="AutoShape 7"/>
          <p:cNvSpPr/>
          <p:nvPr/>
        </p:nvSpPr>
        <p:spPr>
          <a:xfrm rot="20838392">
            <a:off x="6705600" y="4191000"/>
            <a:ext cx="685800" cy="144462"/>
          </a:xfrm>
          <a:prstGeom prst="leftArrow">
            <a:avLst>
              <a:gd name="adj1" fmla="val 50000"/>
              <a:gd name="adj2" fmla="val 118681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66" name="AutoShape 8"/>
          <p:cNvSpPr/>
          <p:nvPr/>
        </p:nvSpPr>
        <p:spPr>
          <a:xfrm rot="977556">
            <a:off x="7239000" y="2514600"/>
            <a:ext cx="762000" cy="152400"/>
          </a:xfrm>
          <a:prstGeom prst="leftArrow">
            <a:avLst>
              <a:gd name="adj1" fmla="val 50000"/>
              <a:gd name="adj2" fmla="val 125000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67" name="Text Box 9"/>
          <p:cNvSpPr txBox="1"/>
          <p:nvPr/>
        </p:nvSpPr>
        <p:spPr>
          <a:xfrm rot="0">
            <a:off x="7924800" y="2438400"/>
            <a:ext cx="9906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1800" lang="en-US">
                <a:solidFill>
                  <a:srgbClr val="00007E"/>
                </a:solidFill>
                <a:latin typeface="Rockwell" pitchFamily="18" charset="0"/>
              </a:rPr>
              <a:t>Fibers</a:t>
            </a:r>
          </a:p>
        </p:txBody>
      </p:sp>
      <p:sp>
        <p:nvSpPr>
          <p:cNvPr id="1048868" name="Text Box 10"/>
          <p:cNvSpPr txBox="1"/>
          <p:nvPr/>
        </p:nvSpPr>
        <p:spPr>
          <a:xfrm rot="0">
            <a:off x="7315200" y="3962400"/>
            <a:ext cx="9906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1800" lang="en-US">
                <a:solidFill>
                  <a:srgbClr val="00007E"/>
                </a:solidFill>
                <a:latin typeface="Rockwell" pitchFamily="18" charset="0"/>
              </a:rPr>
              <a:t>Cells</a:t>
            </a:r>
          </a:p>
        </p:txBody>
      </p:sp>
      <p:sp>
        <p:nvSpPr>
          <p:cNvPr id="1048869" name="Text Box 11"/>
          <p:cNvSpPr txBox="1"/>
          <p:nvPr/>
        </p:nvSpPr>
        <p:spPr>
          <a:xfrm rot="0">
            <a:off x="7848600" y="2895600"/>
            <a:ext cx="1371600" cy="6413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1800" lang="en-US">
                <a:solidFill>
                  <a:srgbClr val="00007E"/>
                </a:solidFill>
                <a:latin typeface="Rockwell" pitchFamily="18" charset="0"/>
              </a:rPr>
              <a:t>Ground substance</a:t>
            </a:r>
          </a:p>
        </p:txBody>
      </p:sp>
      <p:sp>
        <p:nvSpPr>
          <p:cNvPr id="1048870" name="AutoShape 12"/>
          <p:cNvSpPr/>
          <p:nvPr/>
        </p:nvSpPr>
        <p:spPr>
          <a:xfrm rot="1819111">
            <a:off x="6705600" y="3810000"/>
            <a:ext cx="762000" cy="152400"/>
          </a:xfrm>
          <a:prstGeom prst="leftArrow">
            <a:avLst>
              <a:gd name="adj1" fmla="val 50000"/>
              <a:gd name="adj2" fmla="val 125000"/>
            </a:avLst>
          </a:prstGeom>
          <a:solidFill>
            <a:srgbClr val="00007E"/>
          </a:solidFill>
          <a:ln w="9525" cap="flat" cmpd="sng">
            <a:solidFill>
              <a:srgbClr val="FFCC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71" name="Text Box 14"/>
          <p:cNvSpPr txBox="1"/>
          <p:nvPr/>
        </p:nvSpPr>
        <p:spPr>
          <a:xfrm rot="0">
            <a:off x="300037" y="2590800"/>
            <a:ext cx="1223962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solidFill>
                  <a:srgbClr val="003399"/>
                </a:solidFill>
                <a:latin typeface="Rockwell" pitchFamily="18" charset="0"/>
              </a:rPr>
              <a:t>Cells</a:t>
            </a:r>
          </a:p>
        </p:txBody>
      </p:sp>
      <p:sp>
        <p:nvSpPr>
          <p:cNvPr id="1048872" name="Text Box 15"/>
          <p:cNvSpPr txBox="1"/>
          <p:nvPr/>
        </p:nvSpPr>
        <p:spPr>
          <a:xfrm rot="0">
            <a:off x="1517650" y="2590800"/>
            <a:ext cx="2520950" cy="3962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solidFill>
                  <a:srgbClr val="003399"/>
                </a:solidFill>
                <a:latin typeface="Rockwell" pitchFamily="18" charset="0"/>
              </a:rPr>
              <a:t>Extracellular matrix</a:t>
            </a:r>
          </a:p>
        </p:txBody>
      </p:sp>
      <p:sp>
        <p:nvSpPr>
          <p:cNvPr id="1048873" name="Text Box 16"/>
          <p:cNvSpPr txBox="1"/>
          <p:nvPr/>
        </p:nvSpPr>
        <p:spPr>
          <a:xfrm rot="0">
            <a:off x="685800" y="1219200"/>
            <a:ext cx="2819400" cy="7016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b="1" sz="2000" lang="en-US">
                <a:solidFill>
                  <a:srgbClr val="003399"/>
                </a:solidFill>
                <a:latin typeface="Rockwell" pitchFamily="18" charset="0"/>
              </a:rPr>
              <a:t>Connective Tissue consists of </a:t>
            </a:r>
          </a:p>
        </p:txBody>
      </p:sp>
      <p:sp>
        <p:nvSpPr>
          <p:cNvPr id="1048874" name="AutoShape 17"/>
          <p:cNvSpPr/>
          <p:nvPr/>
        </p:nvSpPr>
        <p:spPr>
          <a:xfrm rot="2275003">
            <a:off x="1285875" y="1905000"/>
            <a:ext cx="161925" cy="685800"/>
          </a:xfrm>
          <a:prstGeom prst="downArrow">
            <a:avLst>
              <a:gd name="adj1" fmla="val 50000"/>
              <a:gd name="adj2" fmla="val 105882"/>
            </a:avLst>
          </a:prstGeom>
          <a:gradFill rotWithShape="1">
            <a:gsLst>
              <a:gs pos="0">
                <a:srgbClr val="A7A7FF">
                  <a:alpha val="100000"/>
                </a:srgbClr>
              </a:gs>
              <a:gs pos="100000">
                <a:srgbClr val="4D4D76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75" name="AutoShape 18"/>
          <p:cNvSpPr/>
          <p:nvPr/>
        </p:nvSpPr>
        <p:spPr>
          <a:xfrm rot="19536884">
            <a:off x="2417762" y="1905000"/>
            <a:ext cx="173037" cy="685800"/>
          </a:xfrm>
          <a:prstGeom prst="downArrow">
            <a:avLst>
              <a:gd name="adj1" fmla="val 50000"/>
              <a:gd name="adj2" fmla="val 99082"/>
            </a:avLst>
          </a:prstGeom>
          <a:gradFill rotWithShape="1">
            <a:gsLst>
              <a:gs pos="0">
                <a:srgbClr val="A7A7FF">
                  <a:alpha val="100000"/>
                </a:srgbClr>
              </a:gs>
              <a:gs pos="100000">
                <a:srgbClr val="4D4D76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76" name="AutoShape 19"/>
          <p:cNvSpPr/>
          <p:nvPr/>
        </p:nvSpPr>
        <p:spPr>
          <a:xfrm rot="2275003">
            <a:off x="2124075" y="3352800"/>
            <a:ext cx="161925" cy="685800"/>
          </a:xfrm>
          <a:prstGeom prst="downArrow">
            <a:avLst>
              <a:gd name="adj1" fmla="val 50000"/>
              <a:gd name="adj2" fmla="val 105882"/>
            </a:avLst>
          </a:prstGeom>
          <a:gradFill rotWithShape="1">
            <a:gsLst>
              <a:gs pos="0">
                <a:srgbClr val="A7A7FF">
                  <a:alpha val="100000"/>
                </a:srgbClr>
              </a:gs>
              <a:gs pos="100000">
                <a:srgbClr val="4D4D76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77" name="AutoShape 20"/>
          <p:cNvSpPr/>
          <p:nvPr/>
        </p:nvSpPr>
        <p:spPr>
          <a:xfrm rot="19536884">
            <a:off x="3027362" y="3352800"/>
            <a:ext cx="173037" cy="685800"/>
          </a:xfrm>
          <a:prstGeom prst="downArrow">
            <a:avLst>
              <a:gd name="adj1" fmla="val 50000"/>
              <a:gd name="adj2" fmla="val 99082"/>
            </a:avLst>
          </a:prstGeom>
          <a:gradFill rotWithShape="1">
            <a:gsLst>
              <a:gs pos="0">
                <a:srgbClr val="A7A7FF">
                  <a:alpha val="100000"/>
                </a:srgbClr>
              </a:gs>
              <a:gs pos="100000">
                <a:srgbClr val="4D4D76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FontTx/>
              <a:buNone/>
            </a:pPr>
            <a:endParaRPr altLang="en-US" sz="1800" lang="en-US"/>
          </a:p>
        </p:txBody>
      </p:sp>
      <p:sp>
        <p:nvSpPr>
          <p:cNvPr id="1048878" name="Text Box 21"/>
          <p:cNvSpPr txBox="1"/>
          <p:nvPr/>
        </p:nvSpPr>
        <p:spPr>
          <a:xfrm rot="0">
            <a:off x="1143000" y="4038600"/>
            <a:ext cx="1447800" cy="6413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b="1" sz="1800" lang="en-US">
                <a:solidFill>
                  <a:srgbClr val="F20000"/>
                </a:solidFill>
                <a:latin typeface="Rockwell" pitchFamily="18" charset="0"/>
              </a:rPr>
              <a:t>Ground substance</a:t>
            </a:r>
          </a:p>
        </p:txBody>
      </p:sp>
      <p:sp>
        <p:nvSpPr>
          <p:cNvPr id="1048879" name="Text Box 22"/>
          <p:cNvSpPr txBox="1"/>
          <p:nvPr/>
        </p:nvSpPr>
        <p:spPr>
          <a:xfrm rot="0">
            <a:off x="2667000" y="4129087"/>
            <a:ext cx="14478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b="1" sz="1800" lang="en-US">
                <a:solidFill>
                  <a:srgbClr val="F20000"/>
                </a:solidFill>
                <a:latin typeface="Rockwell" pitchFamily="18" charset="0"/>
              </a:rPr>
              <a:t>Fibers</a:t>
            </a:r>
          </a:p>
        </p:txBody>
      </p:sp>
      <p:sp>
        <p:nvSpPr>
          <p:cNvPr id="1048880" name="Text Box 23"/>
          <p:cNvSpPr txBox="1"/>
          <p:nvPr/>
        </p:nvSpPr>
        <p:spPr>
          <a:xfrm rot="0">
            <a:off x="1371600" y="2651125"/>
            <a:ext cx="457200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>
              <a:spcBef>
                <a:spcPct val="50000"/>
              </a:spcBef>
            </a:pPr>
            <a:r>
              <a:rPr altLang="en-US" b="1" sz="2000" lang="en-US">
                <a:solidFill>
                  <a:srgbClr val="003399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typeface="Rockwell Extra Bold" pitchFamily="18" charset="0"/>
              </a:rPr>
              <a:t>+</a:t>
            </a:r>
          </a:p>
        </p:txBody>
      </p:sp>
      <p:sp>
        <p:nvSpPr>
          <p:cNvPr id="1048881" name="Text Box 24"/>
          <p:cNvSpPr txBox="1"/>
          <p:nvPr/>
        </p:nvSpPr>
        <p:spPr>
          <a:xfrm rot="0">
            <a:off x="2438400" y="4175125"/>
            <a:ext cx="457200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>
              <a:spcBef>
                <a:spcPct val="50000"/>
              </a:spcBef>
            </a:pPr>
            <a:r>
              <a:rPr altLang="en-US" b="1" sz="2000" lang="en-US">
                <a:solidFill>
                  <a:srgbClr val="F200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typeface="Rockwell Extra Bold" pitchFamily="18" charset="0"/>
              </a:rPr>
              <a:t>+</a:t>
            </a:r>
          </a:p>
        </p:txBody>
      </p:sp>
      <p:sp>
        <p:nvSpPr>
          <p:cNvPr id="1048882" name="Text Box 26"/>
          <p:cNvSpPr txBox="1"/>
          <p:nvPr/>
        </p:nvSpPr>
        <p:spPr>
          <a:xfrm rot="0">
            <a:off x="7010400" y="76200"/>
            <a:ext cx="1981200" cy="6248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indent="0" lvl="0" marL="0">
              <a:spcBef>
                <a:spcPct val="50000"/>
              </a:spcBef>
              <a:buFontTx/>
              <a:buNone/>
            </a:pPr>
            <a:r>
              <a:rPr altLang="en-US" sz="1800" i="1" lang="en-US">
                <a:solidFill>
                  <a:srgbClr val="003399"/>
                </a:solidFill>
                <a:latin typeface="Calibri" pitchFamily="34" charset="0"/>
              </a:rPr>
              <a:t>Connective tissue</a:t>
            </a: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69696"/>
        </a:dk2>
        <a:lt2>
          <a:srgbClr val="000000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</a:extraClrScheme>
    <a:extraClrScheme>
      <a:clrScheme name="Default Color Scheme 4">
        <a:dk1>
          <a:srgbClr val="000000"/>
        </a:dk1>
        <a:lt1>
          <a:srgbClr val="DEF6F1"/>
        </a:lt1>
        <a:dk2>
          <a:srgbClr val="969696"/>
        </a:dk2>
        <a:lt2>
          <a:srgbClr val="000000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</a:extraClrScheme>
    <a:extraClrScheme>
      <a:clrScheme name="Default Color Scheme 5">
        <a:dk1>
          <a:srgbClr val="000000"/>
        </a:dk1>
        <a:lt1>
          <a:srgbClr val="FFFFD9"/>
        </a:lt1>
        <a:dk2>
          <a:srgbClr val="777777"/>
        </a:dk2>
        <a:lt2>
          <a:srgbClr val="000000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</a:extraClrScheme>
    <a:extraClrScheme>
      <a:clrScheme name="Default Color Scheme 6">
        <a:dk1>
          <a:srgbClr val="FFFFFF"/>
        </a:dk1>
        <a:lt1>
          <a:srgbClr val="008080"/>
        </a:lt1>
        <a:dk2>
          <a:srgbClr val="005A58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</a:extraClrScheme>
    <a:extraClrScheme>
      <a:clrScheme name="Default Color Scheme 7">
        <a:dk1>
          <a:srgbClr val="FFFFFF"/>
        </a:dk1>
        <a:lt1>
          <a:srgbClr val="800000"/>
        </a:lt1>
        <a:dk2>
          <a:srgbClr val="5C1F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</a:extraClrScheme>
    <a:extraClrScheme>
      <a:clrScheme name="Default Color Scheme 8">
        <a:dk1>
          <a:srgbClr val="FFFFFF"/>
        </a:dk1>
        <a:lt1>
          <a:srgbClr val="000099"/>
        </a:lt1>
        <a:dk2>
          <a:srgbClr val="003366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</a:extraClrScheme>
    <a:extraClrScheme>
      <a:clrScheme name="Default Color Scheme 9">
        <a:dk1>
          <a:srgbClr val="FFFFFF"/>
        </a:dk1>
        <a:lt1>
          <a:srgbClr val="000000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</a:extraClrScheme>
    <a:extraClrScheme>
      <a:clrScheme name="Default Color Scheme 10">
        <a:dk1>
          <a:srgbClr val="FFFFFF"/>
        </a:dk1>
        <a:lt1>
          <a:srgbClr val="686B5D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</a:extraClrScheme>
    <a:extraClrScheme>
      <a:clrScheme name="Default Color Scheme 11">
        <a:dk1>
          <a:srgbClr val="FFFFFF"/>
        </a:dk1>
        <a:lt1>
          <a:srgbClr val="666699"/>
        </a:lt1>
        <a:dk2>
          <a:srgbClr val="3E3E5C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</a:extraClrScheme>
    <a:extraClrScheme>
      <a:clrScheme name="Default Color Scheme 12">
        <a:dk1>
          <a:srgbClr val="FFFFFF"/>
        </a:dk1>
        <a:lt1>
          <a:srgbClr val="523E26"/>
        </a:lt1>
        <a:dk2>
          <a:srgbClr val="2D2015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7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al-hasoob</dc:creator>
  <cp:lastModifiedBy>Tilahun</cp:lastModifiedBy>
  <dcterms:created xsi:type="dcterms:W3CDTF">2010-03-08T03:00:10Z</dcterms:created>
  <dcterms:modified xsi:type="dcterms:W3CDTF">2025-08-10T13:32:31Z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154b52f1d6d3411f8010bc941ffec507</vt:lpwstr>
  </property>
</Properties>
</file>