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Masters/slideMaster3.xml" ContentType="application/vnd.openxmlformats-officedocument.presentationml.slideMaster+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Masters/slideMaster4.xml" ContentType="application/vnd.openxmlformats-officedocument.presentationml.slideMaster+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Masters/slideMaster5.xml" ContentType="application/vnd.openxmlformats-officedocument.presentationml.slideMaster+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5.xml" ContentType="application/vnd.openxmlformats-officedocument.theme+xml"/>
  <Override PartName="/ppt/notesMasters/notesMaster1.xml" ContentType="application/vnd.openxmlformats-officedocument.presentationml.notesMaster+xml"/>
  <Override PartName="/ppt/theme/theme6.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2.xml" ContentType="application/vnd.openxmlformats-officedocument.presentationml.notesSlide+xml"/>
  <Override PartName="/ppt/slides/slide12.xml" ContentType="application/vnd.openxmlformats-officedocument.presentationml.slide+xml"/>
  <Override PartName="/ppt/notesSlides/notesSlide3.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4.xml" ContentType="application/vnd.openxmlformats-officedocument.presentationml.notes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5.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7.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 id="2147483649" r:id="rId2"/>
    <p:sldMasterId id="2147483650" r:id="rId3"/>
    <p:sldMasterId id="2147483651" r:id="rId4"/>
    <p:sldMasterId id="2147483652" r:id="rId5"/>
  </p:sldMasterIdLst>
  <p:notesMasterIdLst>
    <p:notesMasterId r:id="rId6"/>
  </p:notesMasterIdLst>
  <p:sldIdLst>
    <p:sldId id="257" r:id="rId7"/>
    <p:sldId id="26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Lst>
  <p:sldSz type="screen4x3" cy="6858000" cx="9144000"/>
  <p:notesSz cx="6858000" cy="9144000"/>
  <p:defaultTex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restored" preferSingleView="0">
    <p:restoredLeft sz="15620"/>
    <p:restoredTop sz="98255" autoAdjust="0"/>
  </p:normalViewPr>
  <p:slideViewPr>
    <p:cSldViewPr showGuides="0" snapToGrid="1" snapToObjects="0">
      <p:cViewPr varScale="0">
        <p:scale>
          <a:sx n="69" d="100"/>
          <a:sy n="69" d="100"/>
        </p:scale>
        <p:origin x="-1314" y="-120"/>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tableStyles" Target="tableStyles.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302" name=""/>
        <p:cNvGrpSpPr/>
        <p:nvPr/>
      </p:nvGrpSpPr>
      <p:grpSpPr>
        <a:xfrm rot="0">
          <a:off x="0" y="0"/>
          <a:ext cx="0" cy="0"/>
          <a:chOff x="0" y="0"/>
          <a:chExt cx="0" cy="0"/>
        </a:xfrm>
      </p:grpSpPr>
      <p:sp>
        <p:nvSpPr>
          <p:cNvPr id="1049194" name="Header Placeholder 1"/>
          <p:cNvSpPr/>
          <p:nvPr>
            <p:ph type="hdr" sz="quarter" idx="0"/>
          </p:nvPr>
        </p:nvSpPr>
        <p:spPr>
          <a:xfrm rot="0">
            <a:off x="0" y="0"/>
            <a:ext cx="2971800" cy="457200"/>
          </a:xfrm>
          <a:prstGeom prst="rect"/>
          <a:noFill/>
          <a:ln>
            <a:noFill/>
          </a:ln>
        </p:spPr>
        <p:txBody>
          <a:bodyPr anchor="t" bIns="45720" lIns="91440" rIns="91440" tIns="45720" vert="horz"/>
          <a:p>
            <a:pPr eaLnBrk="1" hangingPunct="1" lvl="0"/>
            <a:endParaRPr altLang="en-US" sz="1200" lang="en-US"/>
          </a:p>
        </p:txBody>
      </p:sp>
      <p:sp>
        <p:nvSpPr>
          <p:cNvPr id="1049195" name="Date Placeholder 2"/>
          <p:cNvSpPr/>
          <p:nvPr>
            <p:ph type="dt" sz="full" idx="1"/>
          </p:nvPr>
        </p:nvSpPr>
        <p:spPr>
          <a:xfrm rot="0">
            <a:off x="3884612" y="0"/>
            <a:ext cx="2971800" cy="457200"/>
          </a:xfrm>
          <a:prstGeom prst="rect"/>
          <a:noFill/>
          <a:ln>
            <a:noFill/>
          </a:ln>
        </p:spPr>
        <p:txBody>
          <a:bodyPr anchor="t" bIns="45720" lIns="91440" rIns="91440" tIns="45720" vert="horz"/>
          <a:p>
            <a:pPr algn="r" eaLnBrk="1" hangingPunct="1" lvl="0"/>
            <a:fld id="{566ABCEB-ACFC-4714-9973-3DA970169C29}" type="datetime1">
              <a:rPr altLang="en-US" sz="1200" lang="en-US"/>
              <a:pPr algn="r" eaLnBrk="1" hangingPunct="1" lvl="0"/>
            </a:fld>
            <a:endParaRPr altLang="en-US" sz="1200" lang="en-US"/>
          </a:p>
        </p:txBody>
      </p:sp>
      <p:sp>
        <p:nvSpPr>
          <p:cNvPr id="1049196" name="Slide Image Placeholder 3"/>
          <p:cNvSpPr/>
          <p:nvPr>
            <p:ph type="sldImg" sz="full" idx="2"/>
          </p:nvPr>
        </p:nvSpPr>
        <p:spPr>
          <a:xfrm rot="0">
            <a:off x="1143000" y="685800"/>
            <a:ext cx="4572000" cy="3429000"/>
          </a:xfrm>
          <a:prstGeom prst="rect"/>
          <a:noFill/>
          <a:ln w="12700" cap="flat" cmpd="sng">
            <a:solidFill>
              <a:srgbClr val="000000">
                <a:alpha val="100000"/>
              </a:srgbClr>
            </a:solidFill>
            <a:prstDash val="solid"/>
            <a:round/>
          </a:ln>
        </p:spPr>
        <p:txBody>
          <a:bodyPr anchor="ctr" bIns="45720" lIns="91440" rIns="91440" tIns="45720" vert="horz"/>
          <a:p/>
        </p:txBody>
      </p:sp>
      <p:sp>
        <p:nvSpPr>
          <p:cNvPr id="1049197" name="Notes Placeholder 4"/>
          <p:cNvSpPr/>
          <p:nvPr>
            <p:ph type="body" sz="quarter" idx="3"/>
          </p:nvPr>
        </p:nvSpPr>
        <p:spPr>
          <a:xfrm rot="0">
            <a:off x="685800" y="4343400"/>
            <a:ext cx="5486400" cy="4114800"/>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9198" name="Footer Placeholder 5"/>
          <p:cNvSpPr/>
          <p:nvPr>
            <p:ph type="ftr" sz="quarter" idx="4"/>
          </p:nvPr>
        </p:nvSpPr>
        <p:spPr>
          <a:xfrm rot="0">
            <a:off x="0" y="8685212"/>
            <a:ext cx="2971800" cy="457200"/>
          </a:xfrm>
          <a:prstGeom prst="rect"/>
          <a:noFill/>
          <a:ln>
            <a:noFill/>
          </a:ln>
        </p:spPr>
        <p:txBody>
          <a:bodyPr anchor="b" bIns="45720" lIns="91440" rIns="91440" tIns="45720" vert="horz"/>
          <a:p>
            <a:pPr eaLnBrk="1" hangingPunct="1" lvl="0"/>
            <a:endParaRPr altLang="en-US" sz="1200" lang="en-US"/>
          </a:p>
        </p:txBody>
      </p:sp>
      <p:sp>
        <p:nvSpPr>
          <p:cNvPr id="1049199" name="Slide Number Placeholder 6"/>
          <p:cNvSpPr/>
          <p:nvPr>
            <p:ph type="sldNum" sz="quarter" idx="5"/>
          </p:nvPr>
        </p:nvSpPr>
        <p:spPr>
          <a:xfrm rot="0">
            <a:off x="3884612" y="8685212"/>
            <a:ext cx="2971800" cy="457200"/>
          </a:xfrm>
          <a:prstGeom prst="rect"/>
          <a:noFill/>
          <a:ln>
            <a:noFill/>
          </a:ln>
        </p:spPr>
        <p:txBody>
          <a:bodyPr anchor="b" bIns="45720" lIns="91440" rIns="91440" tIns="45720" vert="horz"/>
          <a:p>
            <a:pPr algn="r" eaLnBrk="1" hangingPunct="1" lvl="0"/>
            <a:fld id="{566ABCEB-ACFC-4714-9973-3DA970169C29}" type="slidenum">
              <a:rPr altLang="en-US" sz="1200" lang="en-US"/>
              <a:pPr algn="r" eaLnBrk="1" hangingPunct="1" lvl="0"/>
            </a:fld>
            <a:endParaRPr altLang="en-US" sz="1200" lang="en-US"/>
          </a:p>
        </p:txBody>
      </p:sp>
    </p:spTree>
  </p:cSld>
  <p:clrMap accent1="dk1" accent2="dk1" accent3="dk1" accent4="dk1" accent5="dk1" accent6="dk1" bg1="dk1" bg2="dk1" tx1="dk1" tx2="dk1" hlink="dk1" folHlink="dk1"/>
  <p:notesStyle>
    <a:lvl1pPr algn="l" eaLnBrk="0" fontAlgn="base" hangingPunct="0" indent="0" latinLnBrk="0" marL="0" rtl="0">
      <a:lnSpc>
        <a:spcPct val="100000"/>
      </a:lnSpc>
      <a:spcBef>
        <a:spcPct val="30000"/>
      </a:spcBef>
      <a:spcAft>
        <a:spcPct val="0"/>
      </a:spcAft>
      <a:buFontTx/>
      <a:buNone/>
      <a:defRPr baseline="0" b="0" sz="1200" i="0" u="none">
        <a:solidFill>
          <a:schemeClr val="dk1"/>
        </a:solidFill>
        <a:latin typeface="Calibri" pitchFamily="34" charset="0"/>
        <a:sym typeface="Arial" pitchFamily="0" charset="0"/>
      </a:defRPr>
    </a:lvl1pPr>
    <a:lvl2pPr algn="l" eaLnBrk="0" fontAlgn="base" hangingPunct="0" indent="0" latinLnBrk="0" marL="457200" rtl="0">
      <a:lnSpc>
        <a:spcPct val="100000"/>
      </a:lnSpc>
      <a:spcBef>
        <a:spcPct val="30000"/>
      </a:spcBef>
      <a:spcAft>
        <a:spcPct val="0"/>
      </a:spcAft>
      <a:buFontTx/>
      <a:buNone/>
      <a:defRPr baseline="0" b="0" sz="1200" i="0" u="none">
        <a:solidFill>
          <a:schemeClr val="dk1"/>
        </a:solidFill>
        <a:latin typeface="Calibri" pitchFamily="34" charset="0"/>
        <a:sym typeface="Arial" pitchFamily="0" charset="0"/>
      </a:defRPr>
    </a:lvl2pPr>
    <a:lvl3pPr algn="l" eaLnBrk="0" fontAlgn="base" hangingPunct="0" indent="0" latinLnBrk="0" marL="914400" rtl="0">
      <a:lnSpc>
        <a:spcPct val="100000"/>
      </a:lnSpc>
      <a:spcBef>
        <a:spcPct val="30000"/>
      </a:spcBef>
      <a:spcAft>
        <a:spcPct val="0"/>
      </a:spcAft>
      <a:buFontTx/>
      <a:buNone/>
      <a:defRPr baseline="0" b="0" sz="1200" i="0" u="none">
        <a:solidFill>
          <a:schemeClr val="dk1"/>
        </a:solidFill>
        <a:latin typeface="Calibri" pitchFamily="34" charset="0"/>
        <a:sym typeface="Arial" pitchFamily="0" charset="0"/>
      </a:defRPr>
    </a:lvl3pPr>
    <a:lvl4pPr algn="l" eaLnBrk="0" fontAlgn="base" hangingPunct="0" indent="0" latinLnBrk="0" marL="1371600" rtl="0">
      <a:lnSpc>
        <a:spcPct val="100000"/>
      </a:lnSpc>
      <a:spcBef>
        <a:spcPct val="30000"/>
      </a:spcBef>
      <a:spcAft>
        <a:spcPct val="0"/>
      </a:spcAft>
      <a:buFontTx/>
      <a:buNone/>
      <a:defRPr baseline="0" b="0" sz="1200" i="0" u="none">
        <a:solidFill>
          <a:schemeClr val="dk1"/>
        </a:solidFill>
        <a:latin typeface="Calibri" pitchFamily="34" charset="0"/>
        <a:sym typeface="Arial" pitchFamily="0" charset="0"/>
      </a:defRPr>
    </a:lvl4pPr>
    <a:lvl5pPr algn="l" eaLnBrk="0" fontAlgn="base" hangingPunct="0" indent="0" latinLnBrk="0" marL="1828800" rtl="0">
      <a:lnSpc>
        <a:spcPct val="100000"/>
      </a:lnSpc>
      <a:spcBef>
        <a:spcPct val="30000"/>
      </a:spcBef>
      <a:spcAft>
        <a:spcPct val="0"/>
      </a:spcAft>
      <a:buFontTx/>
      <a:buNone/>
      <a:defRPr baseline="0" b="0" sz="1200" i="0" u="none">
        <a:solidFill>
          <a:schemeClr val="dk1"/>
        </a:solidFill>
        <a:latin typeface="Calibri" pitchFamily="34" charset="0"/>
        <a:sym typeface="Arial" pitchFamily="0"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rot="0">
          <a:off x="0" y="0"/>
          <a:ext cx="0" cy="0"/>
          <a:chOff x="0" y="0"/>
          <a:chExt cx="0" cy="0"/>
        </a:xfrm>
      </p:grpSpPr>
      <p:sp>
        <p:nvSpPr>
          <p:cNvPr id="1048585" name="Slide Image Placeholder 1"/>
          <p:cNvSpPr/>
          <p:nvPr>
            <p:ph type="sldImg" sz="full" idx="0"/>
          </p:nvPr>
        </p:nvSpPr>
        <p:spPr bwMode="auto">
          <a:xfrm rot="0">
            <a:off x="1143000" y="685800"/>
            <a:ext cx="4572000" cy="34290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586" name="Notes Placeholder 2"/>
          <p:cNvSpPr/>
          <p:nvPr>
            <p:ph type="body" sz="full" idx="1"/>
          </p:nvPr>
        </p:nvSpPr>
        <p:spPr bwMode="auto">
          <a:xfrm rot="0">
            <a:off x="685800" y="4343400"/>
            <a:ext cx="5486400" cy="4114800"/>
          </a:xfrm>
          <a:prstGeom prst="rect"/>
          <a:noFill/>
          <a:ln>
            <a:noFill/>
          </a:ln>
        </p:spPr>
        <p:txBody>
          <a:bodyPr anchor="t" bIns="45720" lIns="91440" rIns="91440" tIns="45720" vert="horz"/>
          <a:p>
            <a:pPr eaLnBrk="1" hangingPunct="1" lvl="0">
              <a:spcBef>
                <a:spcPct val="0"/>
              </a:spcBef>
            </a:pPr>
            <a:endParaRPr altLang="en-US" lang="en-US"/>
          </a:p>
        </p:txBody>
      </p:sp>
      <p:sp>
        <p:nvSpPr>
          <p:cNvPr id="1048587" name="Slide Number Placeholder 3"/>
          <p:cNvSpPr txBox="1"/>
          <p:nvPr/>
        </p:nvSpPr>
        <p:spPr>
          <a:xfrm rot="0">
            <a:off x="3884612" y="8685212"/>
            <a:ext cx="2971800" cy="457200"/>
          </a:xfrm>
          <a:prstGeom prst="rect"/>
          <a:noFill/>
          <a:ln>
            <a:noFill/>
          </a:ln>
        </p:spPr>
        <p:txBody>
          <a:bodyPr anchor="b" bIns="45720" lIns="91440" rIns="91440" tIns="45720" vert="horz"/>
          <a:p>
            <a:pPr algn="r" eaLnBrk="1" hangingPunct="1" lvl="0">
              <a:spcBef>
                <a:spcPct val="0"/>
              </a:spcBef>
            </a:pPr>
            <a:fld id="{566ABCEB-ACFC-4714-9973-3DA970169C29}" type="slidenum">
              <a:rPr altLang="en-US" lang="en-US">
                <a:latin typeface="Arial" pitchFamily="0" charset="0"/>
                <a:ea typeface="Arial" pitchFamily="0" charset="0"/>
              </a:rPr>
              <a:pPr algn="r" eaLnBrk="1" hangingPunct="1" lvl="0">
                <a:spcBef>
                  <a:spcPct val="0"/>
                </a:spcBef>
              </a:pPr>
            </a:fld>
            <a:endParaRPr altLang="en-US" lang="en-US">
              <a:latin typeface="Arial" pitchFamily="0" charset="0"/>
              <a:ea typeface="Arial" pitchFamily="0"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52" name=""/>
        <p:cNvGrpSpPr/>
        <p:nvPr/>
      </p:nvGrpSpPr>
      <p:grpSpPr>
        <a:xfrm rot="0">
          <a:off x="0" y="0"/>
          <a:ext cx="0" cy="0"/>
          <a:chOff x="0" y="0"/>
          <a:chExt cx="0" cy="0"/>
        </a:xfrm>
      </p:grpSpPr>
      <p:sp>
        <p:nvSpPr>
          <p:cNvPr id="1048705" name="Rectangle 2"/>
          <p:cNvSpPr/>
          <p:nvPr>
            <p:ph type="sldImg" sz="full" idx="0"/>
          </p:nvPr>
        </p:nvSpPr>
        <p:spPr bwMode="auto">
          <a:xfrm rot="0">
            <a:off x="1143000" y="685800"/>
            <a:ext cx="4572000" cy="34290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706" name="Rectangle 3"/>
          <p:cNvSpPr/>
          <p:nvPr>
            <p:ph type="body" sz="full" idx="1"/>
          </p:nvPr>
        </p:nvSpPr>
        <p:spPr bwMode="auto">
          <a:xfrm rot="0">
            <a:off x="685800" y="4343400"/>
            <a:ext cx="5486400" cy="4114800"/>
          </a:xfrm>
          <a:prstGeom prst="rect"/>
          <a:noFill/>
          <a:ln>
            <a:noFill/>
          </a:ln>
        </p:spPr>
        <p:txBody>
          <a:bodyPr anchor="t" bIns="45720" lIns="91440" rIns="91440" tIns="45720" vert="horz"/>
          <a:p>
            <a:pPr lvl="0"/>
            <a:r>
              <a:rPr altLang="en-US" b="1" sz="1000" lang="th-TH">
                <a:latin typeface="Tahoma" pitchFamily="34" charset="0"/>
                <a:cs typeface="Tahoma" pitchFamily="34" charset="0"/>
              </a:rPr>
              <a:t>Plasma cell</a:t>
            </a:r>
          </a:p>
          <a:p>
            <a:pPr lvl="0"/>
            <a:r>
              <a:rPr altLang="en-US" sz="1000" lang="th-TH">
                <a:latin typeface="Tahoma" pitchFamily="34" charset="0"/>
                <a:cs typeface="Tahoma" pitchFamily="34" charset="0"/>
              </a:rPr>
              <a:t>	Plasma cell เป็น </a:t>
            </a:r>
            <a:r>
              <a:rPr altLang="en-US" b="1" sz="1000" i="1" lang="en-US">
                <a:latin typeface="Tahoma" pitchFamily="34" charset="0"/>
                <a:ea typeface="Tahoma" pitchFamily="34" charset="0"/>
              </a:rPr>
              <a:t>Classical example of protein secreting cells</a:t>
            </a:r>
            <a:r>
              <a:rPr altLang="en-US" sz="1000" lang="th-TH">
                <a:latin typeface="Tahoma" pitchFamily="34" charset="0"/>
                <a:cs typeface="Tahoma" pitchFamily="34" charset="0"/>
              </a:rPr>
              <a:t> โดยประกอบด้วย </a:t>
            </a:r>
            <a:r>
              <a:rPr altLang="en-US" sz="1000" lang="en-US">
                <a:latin typeface="Tahoma" pitchFamily="34" charset="0"/>
                <a:ea typeface="Tahoma" pitchFamily="34" charset="0"/>
              </a:rPr>
              <a:t>cytoplasmic organelles </a:t>
            </a:r>
            <a:r>
              <a:rPr altLang="en-US" sz="1000" lang="th-TH">
                <a:latin typeface="Tahoma" pitchFamily="34" charset="0"/>
                <a:cs typeface="Tahoma" pitchFamily="34" charset="0"/>
              </a:rPr>
              <a:t>อย่างครบถ้วนและมากมายตามหน้าที่ของเซลล์</a:t>
            </a:r>
          </a:p>
          <a:p>
            <a:pPr lvl="0"/>
            <a:r>
              <a:rPr altLang="en-US" sz="1000" lang="th-TH">
                <a:latin typeface="Tahoma" pitchFamily="34" charset="0"/>
                <a:cs typeface="Tahoma" pitchFamily="34" charset="0"/>
              </a:rPr>
              <a:t>	ลักษณะเมื่อศึกษาด้วย </a:t>
            </a:r>
            <a:r>
              <a:rPr altLang="en-US" sz="1000" lang="en-US">
                <a:latin typeface="Tahoma" pitchFamily="34" charset="0"/>
                <a:ea typeface="Tahoma" pitchFamily="34" charset="0"/>
              </a:rPr>
              <a:t>EM </a:t>
            </a:r>
            <a:r>
              <a:rPr altLang="en-US" sz="1000" lang="th-TH">
                <a:latin typeface="Tahoma" pitchFamily="34" charset="0"/>
                <a:cs typeface="Tahoma" pitchFamily="34" charset="0"/>
              </a:rPr>
              <a:t>ของ </a:t>
            </a:r>
            <a:r>
              <a:rPr altLang="en-US" sz="1000" lang="en-US">
                <a:latin typeface="Tahoma" pitchFamily="34" charset="0"/>
                <a:ea typeface="Tahoma" pitchFamily="34" charset="0"/>
              </a:rPr>
              <a:t>plasma cell </a:t>
            </a:r>
            <a:r>
              <a:rPr altLang="en-US" sz="1000" lang="th-TH">
                <a:latin typeface="Tahoma" pitchFamily="34" charset="0"/>
                <a:cs typeface="Tahoma" pitchFamily="34" charset="0"/>
              </a:rPr>
              <a:t>มีลักษณะดังนี้</a:t>
            </a:r>
          </a:p>
          <a:p>
            <a:pPr lvl="0"/>
            <a:r>
              <a:rPr altLang="en-US" sz="1000" lang="th-TH">
                <a:latin typeface="Tahoma" pitchFamily="34" charset="0"/>
                <a:cs typeface="Tahoma" pitchFamily="34" charset="0"/>
              </a:rPr>
              <a:t>	</a:t>
            </a:r>
            <a:r>
              <a:rPr altLang="en-US" sz="1000" lang="th-TH">
                <a:latin typeface="Tahoma" pitchFamily="34" charset="0"/>
                <a:cs typeface="Tahoma" pitchFamily="34" charset="0"/>
                <a:sym typeface="Wingdings 2" pitchFamily="18" charset="2"/>
              </a:rPr>
              <a:t> </a:t>
            </a:r>
            <a:r>
              <a:rPr altLang="en-US" sz="1000" lang="th-TH">
                <a:latin typeface="Tahoma" pitchFamily="34" charset="0"/>
                <a:cs typeface="Tahoma" pitchFamily="34" charset="0"/>
              </a:rPr>
              <a:t>เซลล์รูปไข่ Irregular shape หรือ ค่อนข้างกลม</a:t>
            </a:r>
          </a:p>
          <a:p>
            <a:pPr lvl="0"/>
            <a:r>
              <a:rPr altLang="en-US" sz="1000" lang="th-TH">
                <a:latin typeface="Tahoma" pitchFamily="34" charset="0"/>
                <a:cs typeface="Tahoma" pitchFamily="34" charset="0"/>
              </a:rPr>
              <a:t>	</a:t>
            </a:r>
            <a:r>
              <a:rPr altLang="en-US" sz="1000" lang="th-TH">
                <a:latin typeface="Tahoma" pitchFamily="34" charset="0"/>
                <a:cs typeface="Tahoma" pitchFamily="34" charset="0"/>
                <a:sym typeface="Wingdings 2" pitchFamily="18" charset="2"/>
              </a:rPr>
              <a:t> </a:t>
            </a:r>
            <a:r>
              <a:rPr altLang="en-US" sz="1000" lang="th-TH">
                <a:latin typeface="Tahoma" pitchFamily="34" charset="0"/>
                <a:cs typeface="Tahoma" pitchFamily="34" charset="0"/>
              </a:rPr>
              <a:t>Nucleus ขนาดเล็กอยู่ขอบๆ ของเซลล์ (</a:t>
            </a:r>
            <a:r>
              <a:rPr altLang="en-US" b="1" sz="1000" lang="th-TH">
                <a:latin typeface="Tahoma" pitchFamily="34" charset="0"/>
                <a:cs typeface="Tahoma" pitchFamily="34" charset="0"/>
              </a:rPr>
              <a:t>Eccentric nucleus</a:t>
            </a:r>
            <a:r>
              <a:rPr altLang="en-US" sz="1000" lang="en-US">
                <a:latin typeface="Tahoma" pitchFamily="34" charset="0"/>
                <a:ea typeface="Tahoma" pitchFamily="34" charset="0"/>
              </a:rPr>
              <a:t>) ภายใน Nucleus มี large central nucleolus, </a:t>
            </a:r>
            <a:r>
              <a:rPr altLang="en-US" sz="1000" lang="th-TH">
                <a:latin typeface="Tahoma" pitchFamily="34" charset="0"/>
                <a:cs typeface="Tahoma" pitchFamily="34" charset="0"/>
              </a:rPr>
              <a:t>ส่วน Chromatin granules หยาบจับตัวเป็นกลุ่มตามขอบของ Nuclear membrane ทำให้ Nucleus มีลักษณะคล้ายกงล้อเกวียน (</a:t>
            </a:r>
            <a:r>
              <a:rPr altLang="en-US" b="1" sz="1000" lang="th-TH">
                <a:latin typeface="Tahoma" pitchFamily="34" charset="0"/>
                <a:cs typeface="Tahoma" pitchFamily="34" charset="0"/>
              </a:rPr>
              <a:t>Cartwheel appearance</a:t>
            </a:r>
            <a:r>
              <a:rPr altLang="en-US" sz="1000" lang="th-TH">
                <a:latin typeface="Tahoma" pitchFamily="34" charset="0"/>
                <a:cs typeface="Tahoma" pitchFamily="34" charset="0"/>
              </a:rPr>
              <a:t>)หรือคล้ายหน้าปัดนาฬิกา </a:t>
            </a:r>
            <a:r>
              <a:rPr altLang="en-US" b="1" sz="1000" lang="en-US">
                <a:latin typeface="Tahoma" pitchFamily="34" charset="0"/>
                <a:ea typeface="Tahoma" pitchFamily="34" charset="0"/>
              </a:rPr>
              <a:t>(clock Face)</a:t>
            </a:r>
            <a:r>
              <a:rPr altLang="en-US" sz="1000" lang="en-US">
                <a:latin typeface="Tahoma" pitchFamily="34" charset="0"/>
                <a:ea typeface="Tahoma" pitchFamily="34" charset="0"/>
              </a:rPr>
              <a:t> </a:t>
            </a:r>
          </a:p>
          <a:p>
            <a:pPr lvl="0"/>
            <a:r>
              <a:rPr altLang="en-US" sz="1000" lang="en-US">
                <a:latin typeface="Tahoma" pitchFamily="34" charset="0"/>
                <a:ea typeface="Tahoma" pitchFamily="34" charset="0"/>
              </a:rPr>
              <a:t>	</a:t>
            </a:r>
            <a:r>
              <a:rPr altLang="en-US" sz="1000" lang="en-US">
                <a:latin typeface="Tahoma" pitchFamily="34" charset="0"/>
                <a:ea typeface="Tahoma" pitchFamily="34" charset="0"/>
                <a:sym typeface="Wingdings 2" pitchFamily="18" charset="2"/>
              </a:rPr>
              <a:t> </a:t>
            </a:r>
            <a:r>
              <a:rPr altLang="en-US" sz="1000" lang="th-TH">
                <a:latin typeface="Tahoma" pitchFamily="34" charset="0"/>
                <a:cs typeface="Tahoma" pitchFamily="34" charset="0"/>
              </a:rPr>
              <a:t>Cytoplasm มี</a:t>
            </a:r>
            <a:r>
              <a:rPr altLang="en-US" sz="1000" lang="en-US">
                <a:latin typeface="Tahoma" pitchFamily="34" charset="0"/>
                <a:ea typeface="Tahoma" pitchFamily="34" charset="0"/>
              </a:rPr>
              <a:t>organelles </a:t>
            </a:r>
            <a:r>
              <a:rPr altLang="en-US" sz="1000" lang="th-TH">
                <a:latin typeface="Tahoma" pitchFamily="34" charset="0"/>
                <a:cs typeface="Tahoma" pitchFamily="34" charset="0"/>
              </a:rPr>
              <a:t>ต่างๆจำนวนมากดังนี้</a:t>
            </a:r>
          </a:p>
          <a:p>
            <a:pPr lvl="0"/>
            <a:r>
              <a:rPr altLang="en-US" sz="1000" lang="th-TH">
                <a:latin typeface="Tahoma" pitchFamily="34" charset="0"/>
                <a:cs typeface="Tahoma" pitchFamily="34" charset="0"/>
              </a:rPr>
              <a:t>	</a:t>
            </a:r>
            <a:r>
              <a:rPr altLang="en-US" sz="1000" lang="en-US">
                <a:latin typeface="Tahoma" pitchFamily="34" charset="0"/>
                <a:ea typeface="Tahoma" pitchFamily="34" charset="0"/>
              </a:rPr>
              <a:t>- </a:t>
            </a:r>
            <a:r>
              <a:rPr altLang="en-US" sz="1000" lang="th-TH">
                <a:latin typeface="Tahoma" pitchFamily="34" charset="0"/>
                <a:cs typeface="Tahoma" pitchFamily="34" charset="0"/>
              </a:rPr>
              <a:t> </a:t>
            </a:r>
            <a:r>
              <a:rPr altLang="en-US" sz="1000" lang="en-US">
                <a:latin typeface="Tahoma" pitchFamily="34" charset="0"/>
                <a:ea typeface="Tahoma" pitchFamily="34" charset="0"/>
              </a:rPr>
              <a:t>space cistern of </a:t>
            </a:r>
            <a:r>
              <a:rPr altLang="en-US" sz="1000" lang="th-TH">
                <a:latin typeface="Tahoma" pitchFamily="34" charset="0"/>
                <a:cs typeface="Tahoma" pitchFamily="34" charset="0"/>
              </a:rPr>
              <a:t>Rough endoplasmic reticulum มาก</a:t>
            </a:r>
          </a:p>
          <a:p>
            <a:pPr lvl="0"/>
            <a:r>
              <a:rPr altLang="en-US" sz="1000" lang="th-TH">
                <a:latin typeface="Tahoma" pitchFamily="34" charset="0"/>
                <a:cs typeface="Tahoma" pitchFamily="34" charset="0"/>
              </a:rPr>
              <a:t>	</a:t>
            </a:r>
            <a:r>
              <a:rPr altLang="en-US" sz="1000" lang="en-US">
                <a:latin typeface="Tahoma" pitchFamily="34" charset="0"/>
                <a:ea typeface="Tahoma" pitchFamily="34" charset="0"/>
              </a:rPr>
              <a:t>- </a:t>
            </a:r>
            <a:r>
              <a:rPr altLang="en-US" sz="1000" lang="th-TH">
                <a:latin typeface="Tahoma" pitchFamily="34" charset="0"/>
                <a:cs typeface="Tahoma" pitchFamily="34" charset="0"/>
              </a:rPr>
              <a:t> บริเวณใกล้ๆ กับ Nucleus จะมี Golgi apparatus และ Centrosphere อยู่</a:t>
            </a:r>
          </a:p>
          <a:p>
            <a:pPr lvl="0"/>
            <a:r>
              <a:rPr altLang="en-US" sz="1000" lang="th-TH">
                <a:latin typeface="Tahoma" pitchFamily="34" charset="0"/>
                <a:cs typeface="Tahoma" pitchFamily="34" charset="0"/>
              </a:rPr>
              <a:t>	</a:t>
            </a:r>
            <a:r>
              <a:rPr altLang="en-US" sz="1000" lang="en-US">
                <a:latin typeface="Tahoma" pitchFamily="34" charset="0"/>
                <a:ea typeface="Tahoma" pitchFamily="34" charset="0"/>
              </a:rPr>
              <a:t>- </a:t>
            </a:r>
            <a:r>
              <a:rPr altLang="en-US" sz="1000" lang="th-TH">
                <a:latin typeface="Tahoma" pitchFamily="34" charset="0"/>
                <a:cs typeface="Tahoma" pitchFamily="34" charset="0"/>
              </a:rPr>
              <a:t> </a:t>
            </a:r>
            <a:r>
              <a:rPr altLang="en-US" sz="1000" lang="en-US">
                <a:latin typeface="Tahoma" pitchFamily="34" charset="0"/>
                <a:ea typeface="Tahoma" pitchFamily="34" charset="0"/>
              </a:rPr>
              <a:t>mitochondria </a:t>
            </a:r>
            <a:r>
              <a:rPr altLang="en-US" sz="1000" lang="th-TH">
                <a:latin typeface="Tahoma" pitchFamily="34" charset="0"/>
                <a:cs typeface="Tahoma" pitchFamily="34" charset="0"/>
              </a:rPr>
              <a:t>อยู่กระจาย</a:t>
            </a:r>
          </a:p>
          <a:p>
            <a:pPr lvl="0"/>
            <a:r>
              <a:rPr altLang="en-US" sz="1000" lang="th-TH">
                <a:latin typeface="Tahoma" pitchFamily="34" charset="0"/>
                <a:cs typeface="Tahoma" pitchFamily="34" charset="0"/>
              </a:rPr>
              <a:t>	</a:t>
            </a:r>
            <a:r>
              <a:rPr altLang="en-US" sz="1000" lang="en-US">
                <a:latin typeface="Tahoma" pitchFamily="34" charset="0"/>
                <a:ea typeface="Tahoma" pitchFamily="34" charset="0"/>
              </a:rPr>
              <a:t>- </a:t>
            </a:r>
            <a:r>
              <a:rPr altLang="en-US" sz="1000" lang="th-TH">
                <a:latin typeface="Tahoma" pitchFamily="34" charset="0"/>
                <a:cs typeface="Tahoma" pitchFamily="34" charset="0"/>
              </a:rPr>
              <a:t>ไม่พบ </a:t>
            </a:r>
            <a:r>
              <a:rPr altLang="en-US" sz="1000" lang="en-US">
                <a:latin typeface="Tahoma" pitchFamily="34" charset="0"/>
                <a:ea typeface="Tahoma" pitchFamily="34" charset="0"/>
              </a:rPr>
              <a:t>secretory granule </a:t>
            </a:r>
            <a:r>
              <a:rPr altLang="en-US" sz="1000" lang="th-TH">
                <a:latin typeface="Tahoma" pitchFamily="34" charset="0"/>
                <a:cs typeface="Tahoma" pitchFamily="34" charset="0"/>
              </a:rPr>
              <a:t>เพราะสร้างเสร็จก็ปล่อยเข้าสู่กระแสเลือดโดยการ </a:t>
            </a:r>
            <a:r>
              <a:rPr altLang="en-US" sz="1000" lang="en-US">
                <a:latin typeface="Tahoma" pitchFamily="34" charset="0"/>
                <a:ea typeface="Tahoma" pitchFamily="34" charset="0"/>
              </a:rPr>
              <a:t>exocytosis </a:t>
            </a:r>
            <a:r>
              <a:rPr altLang="en-US" sz="1000" lang="th-TH">
                <a:latin typeface="Tahoma" pitchFamily="34" charset="0"/>
                <a:cs typeface="Tahoma" pitchFamily="34" charset="0"/>
              </a:rPr>
              <a:t>ตลอดเวลา</a:t>
            </a:r>
          </a:p>
          <a:p>
            <a:pPr lvl="0"/>
            <a:endParaRPr altLang="en-US" lang="th-TH">
              <a:cs typeface="Cordia New" pitchFamily="34" charset="-34"/>
            </a:endParaRPr>
          </a:p>
        </p:txBody>
      </p:sp>
      <p:sp>
        <p:nvSpPr>
          <p:cNvPr id="1048707" name="Slide Number Placeholder 5"/>
          <p:cNvSpPr txBox="1"/>
          <p:nvPr/>
        </p:nvSpPr>
        <p:spPr>
          <a:xfrm rot="0">
            <a:off x="3884612" y="8685212"/>
            <a:ext cx="2971800" cy="457200"/>
          </a:xfrm>
          <a:prstGeom prst="rect"/>
          <a:noFill/>
          <a:ln>
            <a:noFill/>
          </a:ln>
        </p:spPr>
        <p:txBody>
          <a:bodyPr anchor="b" bIns="45720" lIns="91440" rIns="91440" tIns="45720" vert="horz"/>
          <a:p>
            <a:pPr algn="r" eaLnBrk="1" hangingPunct="1" lvl="0">
              <a:spcBef>
                <a:spcPct val="0"/>
              </a:spcBef>
            </a:pPr>
            <a:fld id="{566ABCEB-ACFC-4714-9973-3DA970169C29}" type="slidenum">
              <a:rPr altLang="en-US" lang="en-US">
                <a:latin typeface="Arial" pitchFamily="0" charset="0"/>
                <a:ea typeface="Arial" pitchFamily="0" charset="0"/>
              </a:rPr>
              <a:pPr algn="r" eaLnBrk="1" hangingPunct="1" lvl="0">
                <a:spcBef>
                  <a:spcPct val="0"/>
                </a:spcBef>
              </a:pPr>
            </a:fld>
            <a:endParaRPr altLang="en-US" lang="en-US">
              <a:latin typeface="Arial" pitchFamily="0" charset="0"/>
              <a:ea typeface="Arial" pitchFamily="0"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56" name=""/>
        <p:cNvGrpSpPr/>
        <p:nvPr/>
      </p:nvGrpSpPr>
      <p:grpSpPr>
        <a:xfrm rot="0">
          <a:off x="0" y="0"/>
          <a:ext cx="0" cy="0"/>
          <a:chOff x="0" y="0"/>
          <a:chExt cx="0" cy="0"/>
        </a:xfrm>
      </p:grpSpPr>
      <p:sp>
        <p:nvSpPr>
          <p:cNvPr id="1048712" name="Rectangle 7"/>
          <p:cNvSpPr txBox="1"/>
          <p:nvPr/>
        </p:nvSpPr>
        <p:spPr>
          <a:xfrm rot="0">
            <a:off x="3884612" y="8685212"/>
            <a:ext cx="2971800" cy="457200"/>
          </a:xfrm>
          <a:prstGeom prst="rect"/>
          <a:noFill/>
          <a:ln>
            <a:noFill/>
          </a:ln>
        </p:spPr>
        <p:txBody>
          <a:bodyPr anchor="b" bIns="45720" lIns="91440" rIns="91440" tIns="45720" vert="horz"/>
          <a:p>
            <a:pPr algn="r" eaLnBrk="1" hangingPunct="1" lvl="0">
              <a:spcBef>
                <a:spcPct val="0"/>
              </a:spcBef>
            </a:pPr>
            <a:fld id="{566ABCEB-ACFC-4714-9973-3DA970169C29}" type="slidenum">
              <a:rPr altLang="en-US" lang="en-US">
                <a:latin typeface="Arial" pitchFamily="0" charset="0"/>
                <a:ea typeface="Arial" pitchFamily="0" charset="0"/>
              </a:rPr>
              <a:pPr algn="r" eaLnBrk="1" hangingPunct="1" lvl="0">
                <a:spcBef>
                  <a:spcPct val="0"/>
                </a:spcBef>
              </a:pPr>
            </a:fld>
            <a:endParaRPr altLang="en-US" lang="en-US">
              <a:latin typeface="Arial" pitchFamily="0" charset="0"/>
              <a:ea typeface="Arial" pitchFamily="0" charset="0"/>
            </a:endParaRPr>
          </a:p>
        </p:txBody>
      </p:sp>
      <p:sp>
        <p:nvSpPr>
          <p:cNvPr id="1048713" name="Rectangle 2"/>
          <p:cNvSpPr/>
          <p:nvPr>
            <p:ph type="sldImg" sz="full" idx="0"/>
          </p:nvPr>
        </p:nvSpPr>
        <p:spPr bwMode="auto">
          <a:xfrm rot="0">
            <a:off x="1143000" y="685800"/>
            <a:ext cx="4572000" cy="34290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714" name="Rectangle 3"/>
          <p:cNvSpPr/>
          <p:nvPr>
            <p:ph type="body" sz="full" idx="1"/>
          </p:nvPr>
        </p:nvSpPr>
        <p:spPr bwMode="auto">
          <a:xfrm rot="0">
            <a:off x="685800" y="4343400"/>
            <a:ext cx="5486400" cy="4114800"/>
          </a:xfrm>
          <a:prstGeom prst="rect"/>
          <a:noFill/>
          <a:ln>
            <a:noFill/>
          </a:ln>
        </p:spPr>
        <p:txBody>
          <a:bodyPr anchor="t" bIns="45720" lIns="91440" rIns="91440" tIns="45720" vert="horz"/>
          <a:p>
            <a:pPr lvl="0"/>
            <a:endParaRPr altLang="en-US" lang="th-TH">
              <a:cs typeface="Cordia New" pitchFamily="34" charset="-3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rot="0">
          <a:off x="0" y="0"/>
          <a:ext cx="0" cy="0"/>
          <a:chOff x="0" y="0"/>
          <a:chExt cx="0" cy="0"/>
        </a:xfrm>
      </p:grpSpPr>
      <p:sp>
        <p:nvSpPr>
          <p:cNvPr id="1048732" name="Slide Image Placeholder 1"/>
          <p:cNvSpPr/>
          <p:nvPr>
            <p:ph type="sldImg" sz="full" idx="0"/>
          </p:nvPr>
        </p:nvSpPr>
        <p:spPr bwMode="auto">
          <a:xfrm rot="0">
            <a:off x="1143000" y="685800"/>
            <a:ext cx="4572000" cy="34290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733" name="Notes Placeholder 2"/>
          <p:cNvSpPr/>
          <p:nvPr>
            <p:ph type="body" sz="full" idx="1"/>
          </p:nvPr>
        </p:nvSpPr>
        <p:spPr bwMode="auto">
          <a:xfrm rot="0">
            <a:off x="685800" y="4343400"/>
            <a:ext cx="5486400" cy="4114800"/>
          </a:xfrm>
          <a:prstGeom prst="rect"/>
          <a:noFill/>
          <a:ln>
            <a:noFill/>
          </a:ln>
        </p:spPr>
        <p:txBody>
          <a:bodyPr anchor="t" bIns="45720" lIns="91440" rIns="91440" tIns="45720" vert="horz"/>
          <a:p>
            <a:endParaRPr altLang="en-US" lang="en-GB"/>
          </a:p>
        </p:txBody>
      </p:sp>
      <p:sp>
        <p:nvSpPr>
          <p:cNvPr id="1048734" name="Slide Number Placeholder 5"/>
          <p:cNvSpPr txBox="1"/>
          <p:nvPr/>
        </p:nvSpPr>
        <p:spPr>
          <a:xfrm rot="0">
            <a:off x="3884612" y="8685212"/>
            <a:ext cx="2971800" cy="457200"/>
          </a:xfrm>
          <a:prstGeom prst="rect"/>
          <a:noFill/>
          <a:ln>
            <a:noFill/>
          </a:ln>
        </p:spPr>
        <p:txBody>
          <a:bodyPr anchor="b" bIns="45720" lIns="91440" rIns="91440" tIns="45720" vert="horz"/>
          <a:p>
            <a:pPr algn="r" eaLnBrk="1" hangingPunct="1" lvl="0">
              <a:spcBef>
                <a:spcPct val="0"/>
              </a:spcBef>
            </a:pPr>
            <a:fld id="{566ABCEB-ACFC-4714-9973-3DA970169C29}" type="slidenum">
              <a:rPr altLang="en-US" lang="en-US">
                <a:latin typeface="Arial" pitchFamily="0" charset="0"/>
                <a:ea typeface="Arial" pitchFamily="0" charset="0"/>
              </a:rPr>
              <a:pPr algn="r" eaLnBrk="1" hangingPunct="1" lvl="0">
                <a:spcBef>
                  <a:spcPct val="0"/>
                </a:spcBef>
              </a:pPr>
            </a:fld>
            <a:endParaRPr altLang="en-US" lang="en-US">
              <a:latin typeface="Arial" pitchFamily="0" charset="0"/>
              <a:ea typeface="Arial" pitchFamily="0"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90" name=""/>
        <p:cNvGrpSpPr/>
        <p:nvPr/>
      </p:nvGrpSpPr>
      <p:grpSpPr>
        <a:xfrm rot="0">
          <a:off x="0" y="0"/>
          <a:ext cx="0" cy="0"/>
          <a:chOff x="0" y="0"/>
          <a:chExt cx="0" cy="0"/>
        </a:xfrm>
      </p:grpSpPr>
      <p:sp>
        <p:nvSpPr>
          <p:cNvPr id="1048770" name="Slide Image Placeholder 1"/>
          <p:cNvSpPr/>
          <p:nvPr>
            <p:ph type="sldImg" sz="full" idx="0"/>
          </p:nvPr>
        </p:nvSpPr>
        <p:spPr bwMode="auto">
          <a:xfrm rot="0">
            <a:off x="1143000" y="685800"/>
            <a:ext cx="4572000" cy="34290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771" name="Notes Placeholder 2"/>
          <p:cNvSpPr/>
          <p:nvPr>
            <p:ph type="body" sz="full" idx="1"/>
          </p:nvPr>
        </p:nvSpPr>
        <p:spPr bwMode="auto">
          <a:xfrm rot="0">
            <a:off x="685800" y="4343400"/>
            <a:ext cx="5486400" cy="4114800"/>
          </a:xfrm>
          <a:prstGeom prst="rect"/>
          <a:noFill/>
          <a:ln>
            <a:noFill/>
          </a:ln>
        </p:spPr>
        <p:txBody>
          <a:bodyPr anchor="t" bIns="45720" lIns="91440" rIns="91440" tIns="45720" vert="horz"/>
          <a:p>
            <a:endParaRPr altLang="en-US" lang="en-GB"/>
          </a:p>
        </p:txBody>
      </p:sp>
      <p:sp>
        <p:nvSpPr>
          <p:cNvPr id="1048772" name="Slide Number Placeholder 4"/>
          <p:cNvSpPr txBox="1"/>
          <p:nvPr/>
        </p:nvSpPr>
        <p:spPr>
          <a:xfrm rot="0">
            <a:off x="3884612" y="8685212"/>
            <a:ext cx="2971800" cy="457200"/>
          </a:xfrm>
          <a:prstGeom prst="rect"/>
          <a:noFill/>
          <a:ln>
            <a:noFill/>
          </a:ln>
        </p:spPr>
        <p:txBody>
          <a:bodyPr anchor="b" bIns="45720" lIns="91440" rIns="91440" tIns="45720" vert="horz"/>
          <a:p>
            <a:pPr algn="r" eaLnBrk="1" hangingPunct="1" lvl="0">
              <a:spcBef>
                <a:spcPct val="0"/>
              </a:spcBef>
            </a:pPr>
            <a:fld id="{566ABCEB-ACFC-4714-9973-3DA970169C29}" type="slidenum">
              <a:rPr altLang="en-US" lang="en-US">
                <a:solidFill>
                  <a:srgbClr val="000000"/>
                </a:solidFill>
                <a:latin typeface="Arial" pitchFamily="0" charset="0"/>
                <a:ea typeface="Arial" pitchFamily="0" charset="0"/>
              </a:rPr>
              <a:pPr algn="r" eaLnBrk="1" hangingPunct="1" lvl="0">
                <a:spcBef>
                  <a:spcPct val="0"/>
                </a:spcBef>
              </a:pPr>
            </a:fld>
            <a:endParaRPr altLang="en-US" lang="en-US">
              <a:solidFill>
                <a:srgbClr val="000000"/>
              </a:solidFill>
              <a:latin typeface="Arial" pitchFamily="0" charset="0"/>
              <a:ea typeface="Arial" pitchFamily="0"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87" name=""/>
        <p:cNvGrpSpPr/>
        <p:nvPr/>
      </p:nvGrpSpPr>
      <p:grpSpPr>
        <a:xfrm>
          <a:off x="0" y="0"/>
          <a:ext cx="0" cy="0"/>
          <a:chOff x="0" y="0"/>
          <a:chExt cx="0" cy="0"/>
        </a:xfrm>
      </p:grpSpPr>
      <p:sp>
        <p:nvSpPr>
          <p:cNvPr id="1048598"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99"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
        <p:nvSpPr>
          <p:cNvPr id="1048600"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601"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602"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2" name=""/>
        <p:cNvGrpSpPr/>
        <p:nvPr/>
      </p:nvGrpSpPr>
      <p:grpSpPr>
        <a:xfrm>
          <a:off x="0" y="0"/>
          <a:ext cx="0" cy="0"/>
          <a:chOff x="0" y="0"/>
          <a:chExt cx="0" cy="0"/>
        </a:xfrm>
      </p:grpSpPr>
      <p:sp>
        <p:nvSpPr>
          <p:cNvPr id="1048854" name="Title 1"/>
          <p:cNvSpPr>
            <a:spLocks noGrp="1"/>
          </p:cNvSpPr>
          <p:nvPr>
            <p:ph type="title"/>
          </p:nvPr>
        </p:nvSpPr>
        <p:spPr/>
        <p:txBody>
          <a:bodyPr/>
          <a:p>
            <a:r>
              <a:rPr lang="en-US" smtClean="0"/>
              <a:t>Click to edit Master title style</a:t>
            </a:r>
            <a:endParaRPr lang="en-US"/>
          </a:p>
        </p:txBody>
      </p:sp>
      <p:sp>
        <p:nvSpPr>
          <p:cNvPr id="1048855"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56"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57"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58"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47" name=""/>
        <p:cNvGrpSpPr/>
        <p:nvPr/>
      </p:nvGrpSpPr>
      <p:grpSpPr>
        <a:xfrm>
          <a:off x="0" y="0"/>
          <a:ext cx="0" cy="0"/>
          <a:chOff x="0" y="0"/>
          <a:chExt cx="0" cy="0"/>
        </a:xfrm>
      </p:grpSpPr>
      <p:sp>
        <p:nvSpPr>
          <p:cNvPr id="1048882"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883"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48884"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85"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86"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62" name=""/>
        <p:cNvGrpSpPr/>
        <p:nvPr/>
      </p:nvGrpSpPr>
      <p:grpSpPr>
        <a:xfrm>
          <a:off x="0" y="0"/>
          <a:ext cx="0" cy="0"/>
          <a:chOff x="0" y="0"/>
          <a:chExt cx="0" cy="0"/>
        </a:xfrm>
      </p:grpSpPr>
      <p:sp>
        <p:nvSpPr>
          <p:cNvPr id="1048723" name="Title 1"/>
          <p:cNvSpPr>
            <a:spLocks noGrp="1"/>
          </p:cNvSpPr>
          <p:nvPr>
            <p:ph type="title"/>
          </p:nvPr>
        </p:nvSpPr>
        <p:spPr/>
        <p:txBody>
          <a:bodyPr/>
          <a:p>
            <a:r>
              <a:rPr lang="en-US" smtClean="0"/>
              <a:t>Click to edit Master title style</a:t>
            </a:r>
            <a:endParaRPr lang="en-US"/>
          </a:p>
        </p:txBody>
      </p:sp>
      <p:sp>
        <p:nvSpPr>
          <p:cNvPr id="1048724"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5"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6"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727"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728"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43" name=""/>
        <p:cNvGrpSpPr/>
        <p:nvPr/>
      </p:nvGrpSpPr>
      <p:grpSpPr>
        <a:xfrm>
          <a:off x="0" y="0"/>
          <a:ext cx="0" cy="0"/>
          <a:chOff x="0" y="0"/>
          <a:chExt cx="0" cy="0"/>
        </a:xfrm>
      </p:grpSpPr>
      <p:sp>
        <p:nvSpPr>
          <p:cNvPr id="1048859" name="Title 1"/>
          <p:cNvSpPr>
            <a:spLocks noGrp="1"/>
          </p:cNvSpPr>
          <p:nvPr>
            <p:ph type="title"/>
          </p:nvPr>
        </p:nvSpPr>
        <p:spPr/>
        <p:txBody>
          <a:bodyPr/>
          <a:p>
            <a:r>
              <a:rPr lang="en-US" smtClean="0"/>
              <a:t>Click to edit Master title style</a:t>
            </a:r>
            <a:endParaRPr lang="en-US"/>
          </a:p>
        </p:txBody>
      </p:sp>
      <p:sp>
        <p:nvSpPr>
          <p:cNvPr id="1048860"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6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62"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6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64"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65"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66"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44" name=""/>
        <p:cNvGrpSpPr/>
        <p:nvPr/>
      </p:nvGrpSpPr>
      <p:grpSpPr>
        <a:xfrm>
          <a:off x="0" y="0"/>
          <a:ext cx="0" cy="0"/>
          <a:chOff x="0" y="0"/>
          <a:chExt cx="0" cy="0"/>
        </a:xfrm>
      </p:grpSpPr>
      <p:sp>
        <p:nvSpPr>
          <p:cNvPr id="1048867" name="Title 1"/>
          <p:cNvSpPr>
            <a:spLocks noGrp="1"/>
          </p:cNvSpPr>
          <p:nvPr>
            <p:ph type="title"/>
          </p:nvPr>
        </p:nvSpPr>
        <p:spPr/>
        <p:txBody>
          <a:bodyPr/>
          <a:p>
            <a:r>
              <a:rPr lang="en-US" smtClean="0"/>
              <a:t>Click to edit Master title style</a:t>
            </a:r>
            <a:endParaRPr lang="en-US"/>
          </a:p>
        </p:txBody>
      </p:sp>
      <p:sp>
        <p:nvSpPr>
          <p:cNvPr id="104886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69"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70"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9" name=""/>
        <p:cNvGrpSpPr/>
        <p:nvPr/>
      </p:nvGrpSpPr>
      <p:grpSpPr>
        <a:xfrm>
          <a:off x="0" y="0"/>
          <a:ext cx="0" cy="0"/>
          <a:chOff x="0" y="0"/>
          <a:chExt cx="0" cy="0"/>
        </a:xfrm>
      </p:grpSpPr>
      <p:sp>
        <p:nvSpPr>
          <p:cNvPr id="1048581"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582"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83"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49" name=""/>
        <p:cNvGrpSpPr/>
        <p:nvPr/>
      </p:nvGrpSpPr>
      <p:grpSpPr>
        <a:xfrm>
          <a:off x="0" y="0"/>
          <a:ext cx="0" cy="0"/>
          <a:chOff x="0" y="0"/>
          <a:chExt cx="0" cy="0"/>
        </a:xfrm>
      </p:grpSpPr>
      <p:sp>
        <p:nvSpPr>
          <p:cNvPr id="1048892"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89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94"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95"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96"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97"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46" name=""/>
        <p:cNvGrpSpPr/>
        <p:nvPr/>
      </p:nvGrpSpPr>
      <p:grpSpPr>
        <a:xfrm>
          <a:off x="0" y="0"/>
          <a:ext cx="0" cy="0"/>
          <a:chOff x="0" y="0"/>
          <a:chExt cx="0" cy="0"/>
        </a:xfrm>
      </p:grpSpPr>
      <p:sp>
        <p:nvSpPr>
          <p:cNvPr id="104887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877"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en-US" noProof="0" normalizeH="0" spc="0" strike="noStrike" u="none" smtClean="0">
              <a:ln>
                <a:noFill/>
              </a:ln>
              <a:solidFill>
                <a:schemeClr val="tx1"/>
              </a:solidFill>
              <a:effectLst/>
              <a:uLnTx/>
              <a:uFillTx/>
              <a:latin typeface="+mn-lt"/>
              <a:ea typeface="+mn-ea"/>
              <a:cs typeface="+mn-cs"/>
            </a:endParaRPr>
          </a:p>
        </p:txBody>
      </p:sp>
      <p:sp>
        <p:nvSpPr>
          <p:cNvPr id="1048878"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79"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81"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48" name=""/>
        <p:cNvGrpSpPr/>
        <p:nvPr/>
      </p:nvGrpSpPr>
      <p:grpSpPr>
        <a:xfrm>
          <a:off x="0" y="0"/>
          <a:ext cx="0" cy="0"/>
          <a:chOff x="0" y="0"/>
          <a:chExt cx="0" cy="0"/>
        </a:xfrm>
      </p:grpSpPr>
      <p:sp>
        <p:nvSpPr>
          <p:cNvPr id="1048887" name="Title 1"/>
          <p:cNvSpPr>
            <a:spLocks noGrp="1"/>
          </p:cNvSpPr>
          <p:nvPr>
            <p:ph type="title"/>
          </p:nvPr>
        </p:nvSpPr>
        <p:spPr/>
        <p:txBody>
          <a:bodyPr/>
          <a:p>
            <a:r>
              <a:rPr lang="en-US" smtClean="0"/>
              <a:t>Click to edit Master title style</a:t>
            </a:r>
            <a:endParaRPr lang="en-US"/>
          </a:p>
        </p:txBody>
      </p:sp>
      <p:sp>
        <p:nvSpPr>
          <p:cNvPr id="1048888"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89"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9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91"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45" name=""/>
        <p:cNvGrpSpPr/>
        <p:nvPr/>
      </p:nvGrpSpPr>
      <p:grpSpPr>
        <a:xfrm>
          <a:off x="0" y="0"/>
          <a:ext cx="0" cy="0"/>
          <a:chOff x="0" y="0"/>
          <a:chExt cx="0" cy="0"/>
        </a:xfrm>
      </p:grpSpPr>
      <p:sp>
        <p:nvSpPr>
          <p:cNvPr id="1048871"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872"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73"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874"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875"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p:bg bwMode="white">
      <p:bgPr>
        <a:blipFill rotWithShape="0">
          <a:blip xmlns:r="http://schemas.openxmlformats.org/officeDocument/2006/relationships" r:embed="rId1">
            <a:alphaModFix amt="100000"/>
          </a:blip>
          <a:srcRect/>
          <a:tile algn="tl" flip="none" sx="100000" sy="100000" tx="0" ty="0"/>
        </a:blipFill>
      </p:bgPr>
    </p:bg>
    <p:spTree>
      <p:nvGrpSpPr>
        <p:cNvPr id="167" name=""/>
        <p:cNvGrpSpPr/>
        <p:nvPr/>
      </p:nvGrpSpPr>
      <p:grpSpPr>
        <a:xfrm rot="0">
          <a:off x="0" y="0"/>
          <a:ext cx="0" cy="0"/>
          <a:chOff x="0" y="0"/>
          <a:chExt cx="0" cy="0"/>
        </a:xfrm>
      </p:grpSpPr>
      <p:sp>
        <p:nvSpPr>
          <p:cNvPr id="1048737" name="Date Placeholder 3"/>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fld id="{566ABCEB-ACFC-4714-9973-3DA970169C29}" type="datetime1">
              <a:rPr altLang="en-US" sz="1400" lang="en-US"/>
              <a:pPr eaLnBrk="1" hangingPunct="1" lvl="0"/>
            </a:fld>
            <a:endParaRPr altLang="en-US" sz="1400" lang="en-US"/>
          </a:p>
        </p:txBody>
      </p:sp>
      <p:sp>
        <p:nvSpPr>
          <p:cNvPr id="1048738" name="Footer Placeholder 4"/>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r>
              <a:rPr altLang="en-US" sz="1400" lang="en-US"/>
              <a:t>Assist. Prof. Kesorn Sripaoraya</a:t>
            </a:r>
          </a:p>
        </p:txBody>
      </p:sp>
      <p:sp>
        <p:nvSpPr>
          <p:cNvPr id="1048739" name="Slide Number Placeholder 5"/>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740" name="Content Placeholder 4"/>
          <p:cNvSpPr>
            <a:spLocks noGrp="1"/>
          </p:cNvSpPr>
          <p:nvPr>
            <p:ph sz="quarter" idx="3"/>
          </p:nvPr>
        </p:nvSpPr>
        <p:spPr>
          <a:xfrm>
            <a:off x="4648200" y="41148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1" name="Content Placeholder 3"/>
          <p:cNvSpPr>
            <a:spLocks noGrp="1"/>
          </p:cNvSpPr>
          <p:nvPr>
            <p:ph sz="quarter" idx="2"/>
          </p:nvPr>
        </p:nvSpPr>
        <p:spPr>
          <a:xfrm>
            <a:off x="4648200" y="19812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2" name="Text Placeholder 2"/>
          <p:cNvSpPr>
            <a:spLocks noGrp="1"/>
          </p:cNvSpPr>
          <p:nvPr>
            <p:ph type="body" sz="half" idx="1"/>
          </p:nvPr>
        </p:nvSpPr>
        <p:spPr>
          <a:xfrm>
            <a:off x="685800" y="1981200"/>
            <a:ext cx="381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3" name="Title 1"/>
          <p:cNvSpPr>
            <a:spLocks noGrp="1"/>
          </p:cNvSpPr>
          <p:nvPr>
            <p:ph type="title"/>
          </p:nvPr>
        </p:nvSpPr>
        <p:spPr>
          <a:xfrm>
            <a:off x="685800" y="609600"/>
            <a:ext cx="7772400" cy="1143000"/>
          </a:xfrm>
        </p:spPr>
        <p:txBody>
          <a:bodyPr/>
          <a:p>
            <a:r>
              <a:rPr lang="en-US" smtClean="0"/>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09" name=""/>
        <p:cNvGrpSpPr/>
        <p:nvPr/>
      </p:nvGrpSpPr>
      <p:grpSpPr>
        <a:xfrm rot="0">
          <a:off x="0" y="0"/>
          <a:ext cx="0" cy="0"/>
          <a:chOff x="0" y="0"/>
          <a:chExt cx="0" cy="0"/>
        </a:xfrm>
      </p:grpSpPr>
      <p:sp>
        <p:nvSpPr>
          <p:cNvPr id="1048620"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21"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22"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623"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24"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06" name=""/>
        <p:cNvGrpSpPr/>
        <p:nvPr/>
      </p:nvGrpSpPr>
      <p:grpSpPr>
        <a:xfrm rot="0">
          <a:off x="0" y="0"/>
          <a:ext cx="0" cy="0"/>
          <a:chOff x="0" y="0"/>
          <a:chExt cx="0" cy="0"/>
        </a:xfrm>
      </p:grpSpPr>
      <p:sp>
        <p:nvSpPr>
          <p:cNvPr id="104860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1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1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61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3"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0" name=""/>
        <p:cNvGrpSpPr/>
        <p:nvPr/>
      </p:nvGrpSpPr>
      <p:grpSpPr>
        <a:xfrm rot="0">
          <a:off x="0" y="0"/>
          <a:ext cx="0" cy="0"/>
          <a:chOff x="0" y="0"/>
          <a:chExt cx="0" cy="0"/>
        </a:xfrm>
      </p:grpSpPr>
      <p:sp>
        <p:nvSpPr>
          <p:cNvPr id="104889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89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0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01"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902"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2" name=""/>
        <p:cNvGrpSpPr/>
        <p:nvPr/>
      </p:nvGrpSpPr>
      <p:grpSpPr>
        <a:xfrm rot="0">
          <a:off x="0" y="0"/>
          <a:ext cx="0" cy="0"/>
          <a:chOff x="0" y="0"/>
          <a:chExt cx="0" cy="0"/>
        </a:xfrm>
      </p:grpSpPr>
      <p:sp>
        <p:nvSpPr>
          <p:cNvPr id="104891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1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1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1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1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16"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1" name=""/>
        <p:cNvGrpSpPr/>
        <p:nvPr/>
      </p:nvGrpSpPr>
      <p:grpSpPr>
        <a:xfrm rot="0">
          <a:off x="0" y="0"/>
          <a:ext cx="0" cy="0"/>
          <a:chOff x="0" y="0"/>
          <a:chExt cx="0" cy="0"/>
        </a:xfrm>
      </p:grpSpPr>
      <p:sp>
        <p:nvSpPr>
          <p:cNvPr id="1048903"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04"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05"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0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07"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90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09"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910"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6" name=""/>
        <p:cNvGrpSpPr/>
        <p:nvPr/>
      </p:nvGrpSpPr>
      <p:grpSpPr>
        <a:xfrm rot="0">
          <a:off x="0" y="0"/>
          <a:ext cx="0" cy="0"/>
          <a:chOff x="0" y="0"/>
          <a:chExt cx="0" cy="0"/>
        </a:xfrm>
      </p:grpSpPr>
      <p:sp>
        <p:nvSpPr>
          <p:cNvPr id="1048935"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36"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37"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38"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11" name=""/>
        <p:cNvGrpSpPr/>
        <p:nvPr/>
      </p:nvGrpSpPr>
      <p:grpSpPr>
        <a:xfrm rot="0">
          <a:off x="0" y="0"/>
          <a:ext cx="0" cy="0"/>
          <a:chOff x="0" y="0"/>
          <a:chExt cx="0" cy="0"/>
        </a:xfrm>
      </p:grpSpPr>
      <p:sp>
        <p:nvSpPr>
          <p:cNvPr id="104862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2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2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4" name=""/>
        <p:cNvGrpSpPr/>
        <p:nvPr/>
      </p:nvGrpSpPr>
      <p:grpSpPr>
        <a:xfrm rot="0">
          <a:off x="0" y="0"/>
          <a:ext cx="0" cy="0"/>
          <a:chOff x="0" y="0"/>
          <a:chExt cx="0" cy="0"/>
        </a:xfrm>
      </p:grpSpPr>
      <p:sp>
        <p:nvSpPr>
          <p:cNvPr id="104892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2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2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24"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925"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26"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9" name=""/>
        <p:cNvGrpSpPr/>
        <p:nvPr/>
      </p:nvGrpSpPr>
      <p:grpSpPr>
        <a:xfrm rot="0">
          <a:off x="0" y="0"/>
          <a:ext cx="0" cy="0"/>
          <a:chOff x="0" y="0"/>
          <a:chExt cx="0" cy="0"/>
        </a:xfrm>
      </p:grpSpPr>
      <p:sp>
        <p:nvSpPr>
          <p:cNvPr id="104895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5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5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5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955" name="Picture Placeholder 2"/>
          <p:cNvSpPr>
            <a:spLocks noGrp="1"/>
          </p:cNvSpPr>
          <p:nvPr>
            <p:ph type="pic" idx="1"/>
          </p:nvPr>
        </p:nvSpPr>
        <p:spPr>
          <a:xfrm>
            <a:off x="1792288" y="612775"/>
            <a:ext cx="5486400" cy="4114800"/>
          </a:xfrm>
        </p:spPr>
        <p:txBody>
          <a:bodyPr anchor="t" anchorCtr="0" bIns="45720" compatLnSpc="1" lIns="91440" numCol="1" rIns="91440" rtlCol="0" tIns="45720" vert="horz" wrap="square">
            <a:prstTxWarp prst="textNoShape"/>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 typeface="Arial" charset="0"/>
              <a:buNone/>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895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2" name=""/>
        <p:cNvGrpSpPr/>
        <p:nvPr/>
      </p:nvGrpSpPr>
      <p:grpSpPr>
        <a:xfrm rot="0">
          <a:off x="0" y="0"/>
          <a:ext cx="0" cy="0"/>
          <a:chOff x="0" y="0"/>
          <a:chExt cx="0" cy="0"/>
        </a:xfrm>
      </p:grpSpPr>
      <p:sp>
        <p:nvSpPr>
          <p:cNvPr id="104896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6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7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71"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72"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7" name=""/>
        <p:cNvGrpSpPr/>
        <p:nvPr/>
      </p:nvGrpSpPr>
      <p:grpSpPr>
        <a:xfrm rot="0">
          <a:off x="0" y="0"/>
          <a:ext cx="0" cy="0"/>
          <a:chOff x="0" y="0"/>
          <a:chExt cx="0" cy="0"/>
        </a:xfrm>
      </p:grpSpPr>
      <p:sp>
        <p:nvSpPr>
          <p:cNvPr id="104893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4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4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42"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43"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8" name=""/>
        <p:cNvGrpSpPr/>
        <p:nvPr/>
      </p:nvGrpSpPr>
      <p:grpSpPr>
        <a:xfrm rot="0">
          <a:off x="0" y="0"/>
          <a:ext cx="0" cy="0"/>
          <a:chOff x="0" y="0"/>
          <a:chExt cx="0" cy="0"/>
        </a:xfrm>
      </p:grpSpPr>
      <p:sp>
        <p:nvSpPr>
          <p:cNvPr id="1048944"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45"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46"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47" name="Content Placeholder 4"/>
          <p:cNvSpPr>
            <a:spLocks noGrp="1"/>
          </p:cNvSpPr>
          <p:nvPr>
            <p:ph sz="quarter" idx="3"/>
          </p:nvPr>
        </p:nvSpPr>
        <p:spPr>
          <a:xfrm>
            <a:off x="4648200" y="41148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48" name="Content Placeholder 3"/>
          <p:cNvSpPr>
            <a:spLocks noGrp="1"/>
          </p:cNvSpPr>
          <p:nvPr>
            <p:ph sz="quarter" idx="2"/>
          </p:nvPr>
        </p:nvSpPr>
        <p:spPr>
          <a:xfrm>
            <a:off x="4648200" y="19812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49" name="Text Placeholder 2"/>
          <p:cNvSpPr>
            <a:spLocks noGrp="1"/>
          </p:cNvSpPr>
          <p:nvPr>
            <p:ph type="body" sz="half" idx="1"/>
          </p:nvPr>
        </p:nvSpPr>
        <p:spPr>
          <a:xfrm>
            <a:off x="685800" y="1981200"/>
            <a:ext cx="381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50" name="Title 1"/>
          <p:cNvSpPr>
            <a:spLocks noGrp="1"/>
          </p:cNvSpPr>
          <p:nvPr>
            <p:ph type="title"/>
          </p:nvPr>
        </p:nvSpPr>
        <p:spPr>
          <a:xfrm>
            <a:off x="685800" y="609600"/>
            <a:ext cx="7772400" cy="1143000"/>
          </a:xfrm>
        </p:spPr>
        <p:txBody>
          <a:bodyPr/>
          <a:p>
            <a:r>
              <a:rPr lang="en-US" smtClean="0"/>
              <a:t>Click to edit Master title style</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0" name=""/>
        <p:cNvGrpSpPr/>
        <p:nvPr/>
      </p:nvGrpSpPr>
      <p:grpSpPr>
        <a:xfrm rot="0">
          <a:off x="0" y="0"/>
          <a:ext cx="0" cy="0"/>
          <a:chOff x="0" y="0"/>
          <a:chExt cx="0" cy="0"/>
        </a:xfrm>
      </p:grpSpPr>
      <p:sp>
        <p:nvSpPr>
          <p:cNvPr id="1048957"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58"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59"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60" name="Content Placeholder 3"/>
          <p:cNvSpPr>
            <a:spLocks noGrp="1"/>
          </p:cNvSpPr>
          <p:nvPr>
            <p:ph sz="half" idx="2"/>
          </p:nvPr>
        </p:nvSpPr>
        <p:spPr>
          <a:xfrm>
            <a:off x="4648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61" name="Text Placeholder 2"/>
          <p:cNvSpPr>
            <a:spLocks noGrp="1"/>
          </p:cNvSpPr>
          <p:nvPr>
            <p:ph type="body" sz="half" idx="1"/>
          </p:nvPr>
        </p:nvSpPr>
        <p:spPr>
          <a:xfrm>
            <a:off x="457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62"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3" name=""/>
        <p:cNvGrpSpPr/>
        <p:nvPr/>
      </p:nvGrpSpPr>
      <p:grpSpPr>
        <a:xfrm rot="0">
          <a:off x="0" y="0"/>
          <a:ext cx="0" cy="0"/>
          <a:chOff x="0" y="0"/>
          <a:chExt cx="0" cy="0"/>
        </a:xfrm>
      </p:grpSpPr>
      <p:sp>
        <p:nvSpPr>
          <p:cNvPr id="1048917" name="Date Placeholder 2"/>
          <p:cNvSpPr/>
          <p:nvPr>
            <p:ph type="dt" sz="half" idx="2"/>
          </p:nvPr>
        </p:nvSpPr>
        <p:spPr>
          <a:xfrm rot="0">
            <a:off x="457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18" name="Footer Placeholder 3"/>
          <p:cNvSpPr/>
          <p:nvPr>
            <p:ph type="ftr" sz="quarter" idx="3"/>
          </p:nvPr>
        </p:nvSpPr>
        <p:spPr>
          <a:xfrm rot="0">
            <a:off x="3124200" y="6248400"/>
            <a:ext cx="2895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19" name="Slide Number Placeholder 4"/>
          <p:cNvSpPr/>
          <p:nvPr>
            <p:ph type="sldNum" sz="quarter" idx="4"/>
          </p:nvPr>
        </p:nvSpPr>
        <p:spPr>
          <a:xfrm rot="0">
            <a:off x="6553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20" name="Content Placeholder 1"/>
          <p:cNvSpPr>
            <a:spLocks noGrp="1"/>
          </p:cNvSpPr>
          <p:nvPr>
            <p:ph/>
          </p:nvPr>
        </p:nvSpPr>
        <p:spPr>
          <a:xfrm>
            <a:off x="457200" y="274638"/>
            <a:ext cx="8229600" cy="582136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1" name=""/>
        <p:cNvGrpSpPr/>
        <p:nvPr/>
      </p:nvGrpSpPr>
      <p:grpSpPr>
        <a:xfrm rot="0">
          <a:off x="0" y="0"/>
          <a:ext cx="0" cy="0"/>
          <a:chOff x="0" y="0"/>
          <a:chExt cx="0" cy="0"/>
        </a:xfrm>
      </p:grpSpPr>
      <p:sp>
        <p:nvSpPr>
          <p:cNvPr id="1048963"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64"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GB">
                <a:solidFill>
                  <a:srgbClr val="898989"/>
                </a:solidFill>
              </a:rPr>
              <a:t>Assist. Prof. Kesorn Sripaoraya</a:t>
            </a:r>
          </a:p>
        </p:txBody>
      </p:sp>
      <p:sp>
        <p:nvSpPr>
          <p:cNvPr id="1048965"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GB">
                <a:solidFill>
                  <a:srgbClr val="898989"/>
                </a:solidFill>
              </a:rPr>
              <a:pPr algn="r" eaLnBrk="1" hangingPunct="1" lvl="0"/>
            </a:fld>
            <a:endParaRPr altLang="en-US" sz="1200" lang="en-GB">
              <a:solidFill>
                <a:srgbClr val="898989"/>
              </a:solidFill>
            </a:endParaRPr>
          </a:p>
        </p:txBody>
      </p:sp>
      <p:sp>
        <p:nvSpPr>
          <p:cNvPr id="1048966" name="Table Placeholder 2"/>
          <p:cNvSpPr>
            <a:spLocks noGrp="1"/>
          </p:cNvSpPr>
          <p:nvPr>
            <p:ph type="tbl" idx="1"/>
          </p:nvPr>
        </p:nvSpPr>
        <p:spPr>
          <a:xfrm>
            <a:off x="457200" y="1600200"/>
            <a:ext cx="8229600" cy="4525963"/>
          </a:xfrm>
        </p:spPr>
        <p:txBody>
          <a:bodyPr anchor="t" anchorCtr="0" bIns="45720" compatLnSpc="1" lIns="91440" numCol="1" rIns="91440" rtlCol="0" tIns="45720" vert="horz" wrap="square">
            <a:prstTxWarp prst="textNoShape"/>
            <a:normAutofit/>
          </a:bodyPr>
          <a:p>
            <a:pPr algn="l" defTabSz="914400" eaLnBrk="0" fontAlgn="base" hangingPunct="0" indent="-342900" latinLnBrk="0" lvl="0" marL="342900" marR="0" rtl="0">
              <a:lnSpc>
                <a:spcPct val="100000"/>
              </a:lnSpc>
              <a:spcBef>
                <a:spcPct val="20000"/>
              </a:spcBef>
              <a:spcAft>
                <a:spcPct val="0"/>
              </a:spcAft>
              <a:buClrTx/>
              <a:buSzTx/>
              <a:buFont typeface="Arial" charset="0"/>
              <a:buChar char="•"/>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8967"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55" name=""/>
        <p:cNvGrpSpPr/>
        <p:nvPr/>
      </p:nvGrpSpPr>
      <p:grpSpPr>
        <a:xfrm rot="0">
          <a:off x="0" y="0"/>
          <a:ext cx="0" cy="0"/>
          <a:chOff x="0" y="0"/>
          <a:chExt cx="0" cy="0"/>
        </a:xfrm>
      </p:grpSpPr>
      <p:sp>
        <p:nvSpPr>
          <p:cNvPr id="1048927"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28"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29"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ar-SA">
                <a:solidFill>
                  <a:srgbClr val="898989"/>
                </a:solidFill>
              </a:rPr>
              <a:pPr algn="r" eaLnBrk="1" hangingPunct="1" lvl="0"/>
            </a:fld>
            <a:endParaRPr altLang="en-US" sz="1200" lang="ar-SA">
              <a:solidFill>
                <a:srgbClr val="898989"/>
              </a:solidFill>
            </a:endParaRPr>
          </a:p>
        </p:txBody>
      </p:sp>
      <p:sp>
        <p:nvSpPr>
          <p:cNvPr id="1048930" name="Content Placeholder 5"/>
          <p:cNvSpPr>
            <a:spLocks noGrp="1"/>
          </p:cNvSpPr>
          <p:nvPr>
            <p:ph sz="quarter" idx="4"/>
          </p:nvPr>
        </p:nvSpPr>
        <p:spPr>
          <a:xfrm>
            <a:off x="4648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31" name="Content Placeholder 4"/>
          <p:cNvSpPr>
            <a:spLocks noGrp="1"/>
          </p:cNvSpPr>
          <p:nvPr>
            <p:ph sz="quarter" idx="3"/>
          </p:nvPr>
        </p:nvSpPr>
        <p:spPr>
          <a:xfrm>
            <a:off x="457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32" name="Content Placeholder 3"/>
          <p:cNvSpPr>
            <a:spLocks noGrp="1"/>
          </p:cNvSpPr>
          <p:nvPr>
            <p:ph sz="quarter" idx="2"/>
          </p:nvPr>
        </p:nvSpPr>
        <p:spPr>
          <a:xfrm>
            <a:off x="4648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33" name="Content Placeholder 2"/>
          <p:cNvSpPr>
            <a:spLocks noGrp="1"/>
          </p:cNvSpPr>
          <p:nvPr>
            <p:ph sz="quarter" idx="1"/>
          </p:nvPr>
        </p:nvSpPr>
        <p:spPr>
          <a:xfrm>
            <a:off x="457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34" name="Title 1"/>
          <p:cNvSpPr>
            <a:spLocks noGrp="1"/>
          </p:cNvSpPr>
          <p:nvPr>
            <p:ph type="title" sz="quarter"/>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32" name=""/>
        <p:cNvGrpSpPr/>
        <p:nvPr/>
      </p:nvGrpSpPr>
      <p:grpSpPr>
        <a:xfrm rot="0">
          <a:off x="0" y="0"/>
          <a:ext cx="0" cy="0"/>
          <a:chOff x="0" y="0"/>
          <a:chExt cx="0" cy="0"/>
        </a:xfrm>
      </p:grpSpPr>
      <p:sp>
        <p:nvSpPr>
          <p:cNvPr id="104882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83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83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83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83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11" name=""/>
        <p:cNvGrpSpPr/>
        <p:nvPr/>
      </p:nvGrpSpPr>
      <p:grpSpPr>
        <a:xfrm rot="0">
          <a:off x="0" y="0"/>
          <a:ext cx="0" cy="0"/>
          <a:chOff x="0" y="0"/>
          <a:chExt cx="0" cy="0"/>
        </a:xfrm>
      </p:grpSpPr>
      <p:sp>
        <p:nvSpPr>
          <p:cNvPr id="1048784"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85"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86"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787"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8"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7" name=""/>
        <p:cNvGrpSpPr/>
        <p:nvPr/>
      </p:nvGrpSpPr>
      <p:grpSpPr>
        <a:xfrm rot="0">
          <a:off x="0" y="0"/>
          <a:ext cx="0" cy="0"/>
          <a:chOff x="0" y="0"/>
          <a:chExt cx="0" cy="0"/>
        </a:xfrm>
      </p:grpSpPr>
      <p:sp>
        <p:nvSpPr>
          <p:cNvPr id="104899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9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9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99"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9000"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13" name=""/>
        <p:cNvGrpSpPr/>
        <p:nvPr/>
      </p:nvGrpSpPr>
      <p:grpSpPr>
        <a:xfrm rot="0">
          <a:off x="0" y="0"/>
          <a:ext cx="0" cy="0"/>
          <a:chOff x="0" y="0"/>
          <a:chExt cx="0" cy="0"/>
        </a:xfrm>
      </p:grpSpPr>
      <p:sp>
        <p:nvSpPr>
          <p:cNvPr id="1048793"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94"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95"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79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8"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9" name=""/>
        <p:cNvGrpSpPr/>
        <p:nvPr/>
      </p:nvGrpSpPr>
      <p:grpSpPr>
        <a:xfrm rot="0">
          <a:off x="0" y="0"/>
          <a:ext cx="0" cy="0"/>
          <a:chOff x="0" y="0"/>
          <a:chExt cx="0" cy="0"/>
        </a:xfrm>
      </p:grpSpPr>
      <p:sp>
        <p:nvSpPr>
          <p:cNvPr id="1049005"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06"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07"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0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09"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10"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11"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12"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4" name=""/>
        <p:cNvGrpSpPr/>
        <p:nvPr/>
      </p:nvGrpSpPr>
      <p:grpSpPr>
        <a:xfrm rot="0">
          <a:off x="0" y="0"/>
          <a:ext cx="0" cy="0"/>
          <a:chOff x="0" y="0"/>
          <a:chExt cx="0" cy="0"/>
        </a:xfrm>
      </p:grpSpPr>
      <p:sp>
        <p:nvSpPr>
          <p:cNvPr id="104898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8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8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84"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09" name=""/>
        <p:cNvGrpSpPr/>
        <p:nvPr/>
      </p:nvGrpSpPr>
      <p:grpSpPr>
        <a:xfrm rot="0">
          <a:off x="0" y="0"/>
          <a:ext cx="0" cy="0"/>
          <a:chOff x="0" y="0"/>
          <a:chExt cx="0" cy="0"/>
        </a:xfrm>
      </p:grpSpPr>
      <p:sp>
        <p:nvSpPr>
          <p:cNvPr id="104877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8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8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2" name=""/>
        <p:cNvGrpSpPr/>
        <p:nvPr/>
      </p:nvGrpSpPr>
      <p:grpSpPr>
        <a:xfrm rot="0">
          <a:off x="0" y="0"/>
          <a:ext cx="0" cy="0"/>
          <a:chOff x="0" y="0"/>
          <a:chExt cx="0" cy="0"/>
        </a:xfrm>
      </p:grpSpPr>
      <p:sp>
        <p:nvSpPr>
          <p:cNvPr id="1049025"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26"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27"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28"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02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30"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3" name=""/>
        <p:cNvGrpSpPr/>
        <p:nvPr/>
      </p:nvGrpSpPr>
      <p:grpSpPr>
        <a:xfrm rot="0">
          <a:off x="0" y="0"/>
          <a:ext cx="0" cy="0"/>
          <a:chOff x="0" y="0"/>
          <a:chExt cx="0" cy="0"/>
        </a:xfrm>
      </p:grpSpPr>
      <p:sp>
        <p:nvSpPr>
          <p:cNvPr id="104903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3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3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3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035" name="Picture Placeholder 2"/>
          <p:cNvSpPr>
            <a:spLocks noGrp="1"/>
          </p:cNvSpPr>
          <p:nvPr>
            <p:ph type="pic" idx="1"/>
          </p:nvPr>
        </p:nvSpPr>
        <p:spPr>
          <a:xfrm>
            <a:off x="1792288" y="612775"/>
            <a:ext cx="5486400" cy="4114800"/>
          </a:xfrm>
        </p:spPr>
        <p:txBody>
          <a:bodyPr anchor="t" anchorCtr="0" bIns="45720" compatLnSpc="1" lIns="91440" numCol="1" rIns="91440" rtlCol="0" tIns="45720" vert="horz" wrap="square">
            <a:prstTxWarp prst="textNoShape"/>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 typeface="Arial" charset="0"/>
              <a:buNone/>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03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0" name=""/>
        <p:cNvGrpSpPr/>
        <p:nvPr/>
      </p:nvGrpSpPr>
      <p:grpSpPr>
        <a:xfrm rot="0">
          <a:off x="0" y="0"/>
          <a:ext cx="0" cy="0"/>
          <a:chOff x="0" y="0"/>
          <a:chExt cx="0" cy="0"/>
        </a:xfrm>
      </p:grpSpPr>
      <p:sp>
        <p:nvSpPr>
          <p:cNvPr id="1049013"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14"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15"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16"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17"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6" name=""/>
        <p:cNvGrpSpPr/>
        <p:nvPr/>
      </p:nvGrpSpPr>
      <p:grpSpPr>
        <a:xfrm rot="0">
          <a:off x="0" y="0"/>
          <a:ext cx="0" cy="0"/>
          <a:chOff x="0" y="0"/>
          <a:chExt cx="0" cy="0"/>
        </a:xfrm>
      </p:grpSpPr>
      <p:sp>
        <p:nvSpPr>
          <p:cNvPr id="104899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9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9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94"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95"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1" name=""/>
        <p:cNvGrpSpPr/>
        <p:nvPr/>
      </p:nvGrpSpPr>
      <p:grpSpPr>
        <a:xfrm rot="0">
          <a:off x="0" y="0"/>
          <a:ext cx="0" cy="0"/>
          <a:chOff x="0" y="0"/>
          <a:chExt cx="0" cy="0"/>
        </a:xfrm>
      </p:grpSpPr>
      <p:sp>
        <p:nvSpPr>
          <p:cNvPr id="104901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1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2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21" name="Content Placeholder 4"/>
          <p:cNvSpPr>
            <a:spLocks noGrp="1"/>
          </p:cNvSpPr>
          <p:nvPr>
            <p:ph sz="quarter" idx="3"/>
          </p:nvPr>
        </p:nvSpPr>
        <p:spPr>
          <a:xfrm>
            <a:off x="4648200" y="41148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22" name="Content Placeholder 3"/>
          <p:cNvSpPr>
            <a:spLocks noGrp="1"/>
          </p:cNvSpPr>
          <p:nvPr>
            <p:ph sz="quarter" idx="2"/>
          </p:nvPr>
        </p:nvSpPr>
        <p:spPr>
          <a:xfrm>
            <a:off x="4648200" y="19812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23" name="Text Placeholder 2"/>
          <p:cNvSpPr>
            <a:spLocks noGrp="1"/>
          </p:cNvSpPr>
          <p:nvPr>
            <p:ph type="body" sz="half" idx="1"/>
          </p:nvPr>
        </p:nvSpPr>
        <p:spPr>
          <a:xfrm>
            <a:off x="685800" y="1981200"/>
            <a:ext cx="381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24" name="Title 1"/>
          <p:cNvSpPr>
            <a:spLocks noGrp="1"/>
          </p:cNvSpPr>
          <p:nvPr>
            <p:ph type="title"/>
          </p:nvPr>
        </p:nvSpPr>
        <p:spPr>
          <a:xfrm>
            <a:off x="685800" y="609600"/>
            <a:ext cx="7772400" cy="1143000"/>
          </a:xfrm>
        </p:spPr>
        <p:txBody>
          <a:bodyPr/>
          <a:p>
            <a:r>
              <a:rPr lang="en-US" smtClean="0"/>
              <a:t>Click to edit Master title style</a:t>
            </a:r>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5" name=""/>
        <p:cNvGrpSpPr/>
        <p:nvPr/>
      </p:nvGrpSpPr>
      <p:grpSpPr>
        <a:xfrm rot="0">
          <a:off x="0" y="0"/>
          <a:ext cx="0" cy="0"/>
          <a:chOff x="0" y="0"/>
          <a:chExt cx="0" cy="0"/>
        </a:xfrm>
      </p:grpSpPr>
      <p:sp>
        <p:nvSpPr>
          <p:cNvPr id="1048985"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86"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87"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988" name="Content Placeholder 3"/>
          <p:cNvSpPr>
            <a:spLocks noGrp="1"/>
          </p:cNvSpPr>
          <p:nvPr>
            <p:ph sz="half" idx="2"/>
          </p:nvPr>
        </p:nvSpPr>
        <p:spPr>
          <a:xfrm>
            <a:off x="4648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89" name="Text Placeholder 2"/>
          <p:cNvSpPr>
            <a:spLocks noGrp="1"/>
          </p:cNvSpPr>
          <p:nvPr>
            <p:ph type="body" sz="half" idx="1"/>
          </p:nvPr>
        </p:nvSpPr>
        <p:spPr>
          <a:xfrm>
            <a:off x="457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90"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8" name=""/>
        <p:cNvGrpSpPr/>
        <p:nvPr/>
      </p:nvGrpSpPr>
      <p:grpSpPr>
        <a:xfrm rot="0">
          <a:off x="0" y="0"/>
          <a:ext cx="0" cy="0"/>
          <a:chOff x="0" y="0"/>
          <a:chExt cx="0" cy="0"/>
        </a:xfrm>
      </p:grpSpPr>
      <p:sp>
        <p:nvSpPr>
          <p:cNvPr id="1049001" name="Date Placeholder 2"/>
          <p:cNvSpPr/>
          <p:nvPr>
            <p:ph type="dt" sz="half" idx="2"/>
          </p:nvPr>
        </p:nvSpPr>
        <p:spPr>
          <a:xfrm rot="0">
            <a:off x="457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02" name="Footer Placeholder 3"/>
          <p:cNvSpPr/>
          <p:nvPr>
            <p:ph type="ftr" sz="quarter" idx="3"/>
          </p:nvPr>
        </p:nvSpPr>
        <p:spPr>
          <a:xfrm rot="0">
            <a:off x="3124200" y="6248400"/>
            <a:ext cx="2895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03" name="Slide Number Placeholder 4"/>
          <p:cNvSpPr/>
          <p:nvPr>
            <p:ph type="sldNum" sz="quarter" idx="4"/>
          </p:nvPr>
        </p:nvSpPr>
        <p:spPr>
          <a:xfrm rot="0">
            <a:off x="6553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04" name="Content Placeholder 1"/>
          <p:cNvSpPr>
            <a:spLocks noGrp="1"/>
          </p:cNvSpPr>
          <p:nvPr>
            <p:ph/>
          </p:nvPr>
        </p:nvSpPr>
        <p:spPr>
          <a:xfrm>
            <a:off x="457200" y="274638"/>
            <a:ext cx="8229600" cy="582136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4" name=""/>
        <p:cNvGrpSpPr/>
        <p:nvPr/>
      </p:nvGrpSpPr>
      <p:grpSpPr>
        <a:xfrm rot="0">
          <a:off x="0" y="0"/>
          <a:ext cx="0" cy="0"/>
          <a:chOff x="0" y="0"/>
          <a:chExt cx="0" cy="0"/>
        </a:xfrm>
      </p:grpSpPr>
      <p:sp>
        <p:nvSpPr>
          <p:cNvPr id="1049037"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38"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GB">
                <a:solidFill>
                  <a:srgbClr val="898989"/>
                </a:solidFill>
              </a:rPr>
              <a:t>Assist. Prof. Kesorn Sripaoraya</a:t>
            </a:r>
          </a:p>
        </p:txBody>
      </p:sp>
      <p:sp>
        <p:nvSpPr>
          <p:cNvPr id="1049039"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GB">
                <a:solidFill>
                  <a:srgbClr val="898989"/>
                </a:solidFill>
              </a:rPr>
              <a:pPr algn="r" eaLnBrk="1" hangingPunct="1" lvl="0"/>
            </a:fld>
            <a:endParaRPr altLang="en-US" sz="1200" lang="en-GB">
              <a:solidFill>
                <a:srgbClr val="898989"/>
              </a:solidFill>
            </a:endParaRPr>
          </a:p>
        </p:txBody>
      </p:sp>
      <p:sp>
        <p:nvSpPr>
          <p:cNvPr id="1049040" name="Table Placeholder 2"/>
          <p:cNvSpPr>
            <a:spLocks noGrp="1"/>
          </p:cNvSpPr>
          <p:nvPr>
            <p:ph type="tbl" idx="1"/>
          </p:nvPr>
        </p:nvSpPr>
        <p:spPr>
          <a:xfrm>
            <a:off x="457200" y="1600200"/>
            <a:ext cx="8229600" cy="4525963"/>
          </a:xfrm>
        </p:spPr>
        <p:txBody>
          <a:bodyPr anchor="t" anchorCtr="0" bIns="45720" compatLnSpc="1" lIns="91440" numCol="1" rIns="91440" rtlCol="0" tIns="45720" vert="horz" wrap="square">
            <a:prstTxWarp prst="textNoShape"/>
            <a:normAutofit/>
          </a:bodyPr>
          <a:p>
            <a:pPr algn="l" defTabSz="914400" eaLnBrk="0" fontAlgn="base" hangingPunct="0" indent="-342900" latinLnBrk="0" lvl="0" marL="342900" marR="0" rtl="0">
              <a:lnSpc>
                <a:spcPct val="100000"/>
              </a:lnSpc>
              <a:spcBef>
                <a:spcPct val="20000"/>
              </a:spcBef>
              <a:spcAft>
                <a:spcPct val="0"/>
              </a:spcAft>
              <a:buClrTx/>
              <a:buSzTx/>
              <a:buFont typeface="Arial" charset="0"/>
              <a:buChar char="•"/>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041"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63" name=""/>
        <p:cNvGrpSpPr/>
        <p:nvPr/>
      </p:nvGrpSpPr>
      <p:grpSpPr>
        <a:xfrm rot="0">
          <a:off x="0" y="0"/>
          <a:ext cx="0" cy="0"/>
          <a:chOff x="0" y="0"/>
          <a:chExt cx="0" cy="0"/>
        </a:xfrm>
      </p:grpSpPr>
      <p:sp>
        <p:nvSpPr>
          <p:cNvPr id="1048973"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974"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975"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ar-SA">
                <a:solidFill>
                  <a:srgbClr val="898989"/>
                </a:solidFill>
              </a:rPr>
              <a:pPr algn="r" eaLnBrk="1" hangingPunct="1" lvl="0"/>
            </a:fld>
            <a:endParaRPr altLang="en-US" sz="1200" lang="ar-SA">
              <a:solidFill>
                <a:srgbClr val="898989"/>
              </a:solidFill>
            </a:endParaRPr>
          </a:p>
        </p:txBody>
      </p:sp>
      <p:sp>
        <p:nvSpPr>
          <p:cNvPr id="1048976" name="Content Placeholder 5"/>
          <p:cNvSpPr>
            <a:spLocks noGrp="1"/>
          </p:cNvSpPr>
          <p:nvPr>
            <p:ph sz="quarter" idx="4"/>
          </p:nvPr>
        </p:nvSpPr>
        <p:spPr>
          <a:xfrm>
            <a:off x="4648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77" name="Content Placeholder 4"/>
          <p:cNvSpPr>
            <a:spLocks noGrp="1"/>
          </p:cNvSpPr>
          <p:nvPr>
            <p:ph sz="quarter" idx="3"/>
          </p:nvPr>
        </p:nvSpPr>
        <p:spPr>
          <a:xfrm>
            <a:off x="457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78" name="Content Placeholder 3"/>
          <p:cNvSpPr>
            <a:spLocks noGrp="1"/>
          </p:cNvSpPr>
          <p:nvPr>
            <p:ph sz="quarter" idx="2"/>
          </p:nvPr>
        </p:nvSpPr>
        <p:spPr>
          <a:xfrm>
            <a:off x="4648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79" name="Content Placeholder 2"/>
          <p:cNvSpPr>
            <a:spLocks noGrp="1"/>
          </p:cNvSpPr>
          <p:nvPr>
            <p:ph sz="quarter" idx="1"/>
          </p:nvPr>
        </p:nvSpPr>
        <p:spPr>
          <a:xfrm>
            <a:off x="457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80" name="Title 1"/>
          <p:cNvSpPr>
            <a:spLocks noGrp="1"/>
          </p:cNvSpPr>
          <p:nvPr>
            <p:ph type="title" sz="quarter"/>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301" name=""/>
        <p:cNvGrpSpPr/>
        <p:nvPr/>
      </p:nvGrpSpPr>
      <p:grpSpPr>
        <a:xfrm rot="0">
          <a:off x="0" y="0"/>
          <a:ext cx="0" cy="0"/>
          <a:chOff x="0" y="0"/>
          <a:chExt cx="0" cy="0"/>
        </a:xfrm>
      </p:grpSpPr>
      <p:sp>
        <p:nvSpPr>
          <p:cNvPr id="104918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9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9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9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919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2" name=""/>
        <p:cNvGrpSpPr/>
        <p:nvPr/>
      </p:nvGrpSpPr>
      <p:grpSpPr>
        <a:xfrm rot="0">
          <a:off x="0" y="0"/>
          <a:ext cx="0" cy="0"/>
          <a:chOff x="0" y="0"/>
          <a:chExt cx="0" cy="0"/>
        </a:xfrm>
      </p:grpSpPr>
      <p:sp>
        <p:nvSpPr>
          <p:cNvPr id="104913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4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4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4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43"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9" name=""/>
        <p:cNvGrpSpPr/>
        <p:nvPr/>
      </p:nvGrpSpPr>
      <p:grpSpPr>
        <a:xfrm rot="0">
          <a:off x="0" y="0"/>
          <a:ext cx="0" cy="0"/>
          <a:chOff x="0" y="0"/>
          <a:chExt cx="0" cy="0"/>
        </a:xfrm>
      </p:grpSpPr>
      <p:sp>
        <p:nvSpPr>
          <p:cNvPr id="104917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8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8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82"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9183"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87" name=""/>
        <p:cNvGrpSpPr/>
        <p:nvPr/>
      </p:nvGrpSpPr>
      <p:grpSpPr>
        <a:xfrm rot="0">
          <a:off x="0" y="0"/>
          <a:ext cx="0" cy="0"/>
          <a:chOff x="0" y="0"/>
          <a:chExt cx="0" cy="0"/>
        </a:xfrm>
      </p:grpSpPr>
      <p:sp>
        <p:nvSpPr>
          <p:cNvPr id="104876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6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6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765"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6"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7"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7" name=""/>
        <p:cNvGrpSpPr/>
        <p:nvPr/>
      </p:nvGrpSpPr>
      <p:grpSpPr>
        <a:xfrm rot="0">
          <a:off x="0" y="0"/>
          <a:ext cx="0" cy="0"/>
          <a:chOff x="0" y="0"/>
          <a:chExt cx="0" cy="0"/>
        </a:xfrm>
      </p:grpSpPr>
      <p:sp>
        <p:nvSpPr>
          <p:cNvPr id="104916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6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7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7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72"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17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74"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175"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0" name=""/>
        <p:cNvGrpSpPr/>
        <p:nvPr/>
      </p:nvGrpSpPr>
      <p:grpSpPr>
        <a:xfrm rot="0">
          <a:off x="0" y="0"/>
          <a:ext cx="0" cy="0"/>
          <a:chOff x="0" y="0"/>
          <a:chExt cx="0" cy="0"/>
        </a:xfrm>
      </p:grpSpPr>
      <p:sp>
        <p:nvSpPr>
          <p:cNvPr id="104912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2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3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31"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8" name=""/>
        <p:cNvGrpSpPr/>
        <p:nvPr/>
      </p:nvGrpSpPr>
      <p:grpSpPr>
        <a:xfrm rot="0">
          <a:off x="0" y="0"/>
          <a:ext cx="0" cy="0"/>
          <a:chOff x="0" y="0"/>
          <a:chExt cx="0" cy="0"/>
        </a:xfrm>
      </p:grpSpPr>
      <p:sp>
        <p:nvSpPr>
          <p:cNvPr id="104917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7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7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3" name=""/>
        <p:cNvGrpSpPr/>
        <p:nvPr/>
      </p:nvGrpSpPr>
      <p:grpSpPr>
        <a:xfrm rot="0">
          <a:off x="0" y="0"/>
          <a:ext cx="0" cy="0"/>
          <a:chOff x="0" y="0"/>
          <a:chExt cx="0" cy="0"/>
        </a:xfrm>
      </p:grpSpPr>
      <p:sp>
        <p:nvSpPr>
          <p:cNvPr id="1049144"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45"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46"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47"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148"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49"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6" name=""/>
        <p:cNvGrpSpPr/>
        <p:nvPr/>
      </p:nvGrpSpPr>
      <p:grpSpPr>
        <a:xfrm rot="0">
          <a:off x="0" y="0"/>
          <a:ext cx="0" cy="0"/>
          <a:chOff x="0" y="0"/>
          <a:chExt cx="0" cy="0"/>
        </a:xfrm>
      </p:grpSpPr>
      <p:sp>
        <p:nvSpPr>
          <p:cNvPr id="104916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6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6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65"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166" name="Picture Placeholder 2"/>
          <p:cNvSpPr>
            <a:spLocks noGrp="1"/>
          </p:cNvSpPr>
          <p:nvPr>
            <p:ph type="pic" idx="1"/>
          </p:nvPr>
        </p:nvSpPr>
        <p:spPr>
          <a:xfrm>
            <a:off x="1792288" y="612775"/>
            <a:ext cx="5486400" cy="4114800"/>
          </a:xfrm>
        </p:spPr>
        <p:txBody>
          <a:bodyPr anchor="t" anchorCtr="0" bIns="45720" compatLnSpc="1" lIns="91440" numCol="1" rIns="91440" rtlCol="0" tIns="45720" vert="horz" wrap="square">
            <a:prstTxWarp prst="textNoShape"/>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 typeface="Arial" charset="0"/>
              <a:buNone/>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167"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9" name=""/>
        <p:cNvGrpSpPr/>
        <p:nvPr/>
      </p:nvGrpSpPr>
      <p:grpSpPr>
        <a:xfrm rot="0">
          <a:off x="0" y="0"/>
          <a:ext cx="0" cy="0"/>
          <a:chOff x="0" y="0"/>
          <a:chExt cx="0" cy="0"/>
        </a:xfrm>
      </p:grpSpPr>
      <p:sp>
        <p:nvSpPr>
          <p:cNvPr id="1049123"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24"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25"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26"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27"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300" name=""/>
        <p:cNvGrpSpPr/>
        <p:nvPr/>
      </p:nvGrpSpPr>
      <p:grpSpPr>
        <a:xfrm rot="0">
          <a:off x="0" y="0"/>
          <a:ext cx="0" cy="0"/>
          <a:chOff x="0" y="0"/>
          <a:chExt cx="0" cy="0"/>
        </a:xfrm>
      </p:grpSpPr>
      <p:sp>
        <p:nvSpPr>
          <p:cNvPr id="1049184"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85"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86"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87"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88"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1" name=""/>
        <p:cNvGrpSpPr/>
        <p:nvPr/>
      </p:nvGrpSpPr>
      <p:grpSpPr>
        <a:xfrm rot="0">
          <a:off x="0" y="0"/>
          <a:ext cx="0" cy="0"/>
          <a:chOff x="0" y="0"/>
          <a:chExt cx="0" cy="0"/>
        </a:xfrm>
      </p:grpSpPr>
      <p:sp>
        <p:nvSpPr>
          <p:cNvPr id="104913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3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3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35" name="Content Placeholder 4"/>
          <p:cNvSpPr>
            <a:spLocks noGrp="1"/>
          </p:cNvSpPr>
          <p:nvPr>
            <p:ph sz="quarter" idx="3"/>
          </p:nvPr>
        </p:nvSpPr>
        <p:spPr>
          <a:xfrm>
            <a:off x="4648200" y="41148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36" name="Content Placeholder 3"/>
          <p:cNvSpPr>
            <a:spLocks noGrp="1"/>
          </p:cNvSpPr>
          <p:nvPr>
            <p:ph sz="quarter" idx="2"/>
          </p:nvPr>
        </p:nvSpPr>
        <p:spPr>
          <a:xfrm>
            <a:off x="4648200" y="19812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37" name="Text Placeholder 2"/>
          <p:cNvSpPr>
            <a:spLocks noGrp="1"/>
          </p:cNvSpPr>
          <p:nvPr>
            <p:ph type="body" sz="half" idx="1"/>
          </p:nvPr>
        </p:nvSpPr>
        <p:spPr>
          <a:xfrm>
            <a:off x="685800" y="1981200"/>
            <a:ext cx="381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38" name="Title 1"/>
          <p:cNvSpPr>
            <a:spLocks noGrp="1"/>
          </p:cNvSpPr>
          <p:nvPr>
            <p:ph type="title"/>
          </p:nvPr>
        </p:nvSpPr>
        <p:spPr>
          <a:xfrm>
            <a:off x="685800" y="609600"/>
            <a:ext cx="7772400" cy="1143000"/>
          </a:xfrm>
        </p:spPr>
        <p:txBody>
          <a:bodyPr/>
          <a:p>
            <a:r>
              <a:rPr lang="en-US" smtClean="0"/>
              <a:t>Click to edit Master title style</a:t>
            </a:r>
            <a:endParaRPr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8" name=""/>
        <p:cNvGrpSpPr/>
        <p:nvPr/>
      </p:nvGrpSpPr>
      <p:grpSpPr>
        <a:xfrm rot="0">
          <a:off x="0" y="0"/>
          <a:ext cx="0" cy="0"/>
          <a:chOff x="0" y="0"/>
          <a:chExt cx="0" cy="0"/>
        </a:xfrm>
      </p:grpSpPr>
      <p:sp>
        <p:nvSpPr>
          <p:cNvPr id="1049117"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18"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19"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20" name="Content Placeholder 3"/>
          <p:cNvSpPr>
            <a:spLocks noGrp="1"/>
          </p:cNvSpPr>
          <p:nvPr>
            <p:ph sz="half" idx="2"/>
          </p:nvPr>
        </p:nvSpPr>
        <p:spPr>
          <a:xfrm>
            <a:off x="4648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21" name="Text Placeholder 2"/>
          <p:cNvSpPr>
            <a:spLocks noGrp="1"/>
          </p:cNvSpPr>
          <p:nvPr>
            <p:ph type="body" sz="half" idx="1"/>
          </p:nvPr>
        </p:nvSpPr>
        <p:spPr>
          <a:xfrm>
            <a:off x="457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22"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5" name=""/>
        <p:cNvGrpSpPr/>
        <p:nvPr/>
      </p:nvGrpSpPr>
      <p:grpSpPr>
        <a:xfrm rot="0">
          <a:off x="0" y="0"/>
          <a:ext cx="0" cy="0"/>
          <a:chOff x="0" y="0"/>
          <a:chExt cx="0" cy="0"/>
        </a:xfrm>
      </p:grpSpPr>
      <p:sp>
        <p:nvSpPr>
          <p:cNvPr id="1049158" name="Date Placeholder 2"/>
          <p:cNvSpPr/>
          <p:nvPr>
            <p:ph type="dt" sz="half" idx="2"/>
          </p:nvPr>
        </p:nvSpPr>
        <p:spPr>
          <a:xfrm rot="0">
            <a:off x="457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59" name="Footer Placeholder 3"/>
          <p:cNvSpPr/>
          <p:nvPr>
            <p:ph type="ftr" sz="quarter" idx="3"/>
          </p:nvPr>
        </p:nvSpPr>
        <p:spPr>
          <a:xfrm rot="0">
            <a:off x="3124200" y="6248400"/>
            <a:ext cx="2895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60" name="Slide Number Placeholder 4"/>
          <p:cNvSpPr/>
          <p:nvPr>
            <p:ph type="sldNum" sz="quarter" idx="4"/>
          </p:nvPr>
        </p:nvSpPr>
        <p:spPr>
          <a:xfrm rot="0">
            <a:off x="6553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61" name="Content Placeholder 1"/>
          <p:cNvSpPr>
            <a:spLocks noGrp="1"/>
          </p:cNvSpPr>
          <p:nvPr>
            <p:ph/>
          </p:nvPr>
        </p:nvSpPr>
        <p:spPr>
          <a:xfrm>
            <a:off x="457200" y="274638"/>
            <a:ext cx="8229600" cy="582136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7" name=""/>
        <p:cNvGrpSpPr/>
        <p:nvPr/>
      </p:nvGrpSpPr>
      <p:grpSpPr>
        <a:xfrm rot="0">
          <a:off x="0" y="0"/>
          <a:ext cx="0" cy="0"/>
          <a:chOff x="0" y="0"/>
          <a:chExt cx="0" cy="0"/>
        </a:xfrm>
      </p:grpSpPr>
      <p:sp>
        <p:nvSpPr>
          <p:cNvPr id="1049112"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13"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GB">
                <a:solidFill>
                  <a:srgbClr val="898989"/>
                </a:solidFill>
              </a:rPr>
              <a:t>Assist. Prof. Kesorn Sripaoraya</a:t>
            </a:r>
          </a:p>
        </p:txBody>
      </p:sp>
      <p:sp>
        <p:nvSpPr>
          <p:cNvPr id="1049114"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GB">
                <a:solidFill>
                  <a:srgbClr val="898989"/>
                </a:solidFill>
              </a:rPr>
              <a:pPr algn="r" eaLnBrk="1" hangingPunct="1" lvl="0"/>
            </a:fld>
            <a:endParaRPr altLang="en-US" sz="1200" lang="en-GB">
              <a:solidFill>
                <a:srgbClr val="898989"/>
              </a:solidFill>
            </a:endParaRPr>
          </a:p>
        </p:txBody>
      </p:sp>
      <p:sp>
        <p:nvSpPr>
          <p:cNvPr id="1049115" name="Table Placeholder 2"/>
          <p:cNvSpPr>
            <a:spLocks noGrp="1"/>
          </p:cNvSpPr>
          <p:nvPr>
            <p:ph type="tbl" idx="1"/>
          </p:nvPr>
        </p:nvSpPr>
        <p:spPr>
          <a:xfrm>
            <a:off x="457200" y="1600200"/>
            <a:ext cx="8229600" cy="4525963"/>
          </a:xfrm>
        </p:spPr>
        <p:txBody>
          <a:bodyPr anchor="t" anchorCtr="0" bIns="45720" compatLnSpc="1" lIns="91440" numCol="1" rIns="91440" rtlCol="0" tIns="45720" vert="horz" wrap="square">
            <a:prstTxWarp prst="textNoShape"/>
            <a:normAutofit/>
          </a:bodyPr>
          <a:p>
            <a:pPr algn="l" defTabSz="914400" eaLnBrk="0" fontAlgn="base" hangingPunct="0" indent="-342900" latinLnBrk="0" lvl="0" marL="342900" marR="0" rtl="0">
              <a:lnSpc>
                <a:spcPct val="100000"/>
              </a:lnSpc>
              <a:spcBef>
                <a:spcPct val="20000"/>
              </a:spcBef>
              <a:spcAft>
                <a:spcPct val="0"/>
              </a:spcAft>
              <a:buClrTx/>
              <a:buSzTx/>
              <a:buFont typeface="Arial" charset="0"/>
              <a:buChar char="•"/>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116"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94" name=""/>
        <p:cNvGrpSpPr/>
        <p:nvPr/>
      </p:nvGrpSpPr>
      <p:grpSpPr>
        <a:xfrm rot="0">
          <a:off x="0" y="0"/>
          <a:ext cx="0" cy="0"/>
          <a:chOff x="0" y="0"/>
          <a:chExt cx="0" cy="0"/>
        </a:xfrm>
      </p:grpSpPr>
      <p:sp>
        <p:nvSpPr>
          <p:cNvPr id="1049150"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51"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52"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ar-SA">
                <a:solidFill>
                  <a:srgbClr val="898989"/>
                </a:solidFill>
              </a:rPr>
              <a:pPr algn="r" eaLnBrk="1" hangingPunct="1" lvl="0"/>
            </a:fld>
            <a:endParaRPr altLang="en-US" sz="1200" lang="ar-SA">
              <a:solidFill>
                <a:srgbClr val="898989"/>
              </a:solidFill>
            </a:endParaRPr>
          </a:p>
        </p:txBody>
      </p:sp>
      <p:sp>
        <p:nvSpPr>
          <p:cNvPr id="1049153" name="Content Placeholder 5"/>
          <p:cNvSpPr>
            <a:spLocks noGrp="1"/>
          </p:cNvSpPr>
          <p:nvPr>
            <p:ph sz="quarter" idx="4"/>
          </p:nvPr>
        </p:nvSpPr>
        <p:spPr>
          <a:xfrm>
            <a:off x="4648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54" name="Content Placeholder 4"/>
          <p:cNvSpPr>
            <a:spLocks noGrp="1"/>
          </p:cNvSpPr>
          <p:nvPr>
            <p:ph sz="quarter" idx="3"/>
          </p:nvPr>
        </p:nvSpPr>
        <p:spPr>
          <a:xfrm>
            <a:off x="457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55" name="Content Placeholder 3"/>
          <p:cNvSpPr>
            <a:spLocks noGrp="1"/>
          </p:cNvSpPr>
          <p:nvPr>
            <p:ph sz="quarter" idx="2"/>
          </p:nvPr>
        </p:nvSpPr>
        <p:spPr>
          <a:xfrm>
            <a:off x="4648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56" name="Content Placeholder 2"/>
          <p:cNvSpPr>
            <a:spLocks noGrp="1"/>
          </p:cNvSpPr>
          <p:nvPr>
            <p:ph sz="quarter" idx="1"/>
          </p:nvPr>
        </p:nvSpPr>
        <p:spPr>
          <a:xfrm>
            <a:off x="457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57" name="Title 1"/>
          <p:cNvSpPr>
            <a:spLocks noGrp="1"/>
          </p:cNvSpPr>
          <p:nvPr>
            <p:ph type="title" sz="quarter"/>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9" name=""/>
        <p:cNvGrpSpPr/>
        <p:nvPr/>
      </p:nvGrpSpPr>
      <p:grpSpPr>
        <a:xfrm rot="0">
          <a:off x="0" y="0"/>
          <a:ext cx="0" cy="0"/>
          <a:chOff x="0" y="0"/>
          <a:chExt cx="0" cy="0"/>
        </a:xfrm>
      </p:grpSpPr>
      <p:sp>
        <p:nvSpPr>
          <p:cNvPr id="104906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6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6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65"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9066"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40" name=""/>
        <p:cNvGrpSpPr/>
        <p:nvPr/>
      </p:nvGrpSpPr>
      <p:grpSpPr>
        <a:xfrm rot="0">
          <a:off x="0" y="0"/>
          <a:ext cx="0" cy="0"/>
          <a:chOff x="0" y="0"/>
          <a:chExt cx="0" cy="0"/>
        </a:xfrm>
      </p:grpSpPr>
      <p:sp>
        <p:nvSpPr>
          <p:cNvPr id="1048671"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72"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73"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674"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5"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6" name=""/>
        <p:cNvGrpSpPr/>
        <p:nvPr/>
      </p:nvGrpSpPr>
      <p:grpSpPr>
        <a:xfrm rot="0">
          <a:off x="0" y="0"/>
          <a:ext cx="0" cy="0"/>
          <a:chOff x="0" y="0"/>
          <a:chExt cx="0" cy="0"/>
        </a:xfrm>
      </p:grpSpPr>
      <p:sp>
        <p:nvSpPr>
          <p:cNvPr id="1049107"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08"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09"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10"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9111"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42" name=""/>
        <p:cNvGrpSpPr/>
        <p:nvPr/>
      </p:nvGrpSpPr>
      <p:grpSpPr>
        <a:xfrm rot="0">
          <a:off x="0" y="0"/>
          <a:ext cx="0" cy="0"/>
          <a:chOff x="0" y="0"/>
          <a:chExt cx="0" cy="0"/>
        </a:xfrm>
      </p:grpSpPr>
      <p:sp>
        <p:nvSpPr>
          <p:cNvPr id="1048677"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78"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79"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68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1"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2"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2" name=""/>
        <p:cNvGrpSpPr/>
        <p:nvPr/>
      </p:nvGrpSpPr>
      <p:grpSpPr>
        <a:xfrm rot="0">
          <a:off x="0" y="0"/>
          <a:ext cx="0" cy="0"/>
          <a:chOff x="0" y="0"/>
          <a:chExt cx="0" cy="0"/>
        </a:xfrm>
      </p:grpSpPr>
      <p:sp>
        <p:nvSpPr>
          <p:cNvPr id="104908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8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8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8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86"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87"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8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89"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49" name=""/>
        <p:cNvGrpSpPr/>
        <p:nvPr/>
      </p:nvGrpSpPr>
      <p:grpSpPr>
        <a:xfrm rot="0">
          <a:off x="0" y="0"/>
          <a:ext cx="0" cy="0"/>
          <a:chOff x="0" y="0"/>
          <a:chExt cx="0" cy="0"/>
        </a:xfrm>
      </p:grpSpPr>
      <p:sp>
        <p:nvSpPr>
          <p:cNvPr id="1048700"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01"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02"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8703"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153" name=""/>
        <p:cNvGrpSpPr/>
        <p:nvPr/>
      </p:nvGrpSpPr>
      <p:grpSpPr>
        <a:xfrm rot="0">
          <a:off x="0" y="0"/>
          <a:ext cx="0" cy="0"/>
          <a:chOff x="0" y="0"/>
          <a:chExt cx="0" cy="0"/>
        </a:xfrm>
      </p:grpSpPr>
      <p:sp>
        <p:nvSpPr>
          <p:cNvPr id="104870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0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1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5" name=""/>
        <p:cNvGrpSpPr/>
        <p:nvPr/>
      </p:nvGrpSpPr>
      <p:grpSpPr>
        <a:xfrm rot="0">
          <a:off x="0" y="0"/>
          <a:ext cx="0" cy="0"/>
          <a:chOff x="0" y="0"/>
          <a:chExt cx="0" cy="0"/>
        </a:xfrm>
      </p:grpSpPr>
      <p:sp>
        <p:nvSpPr>
          <p:cNvPr id="104904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4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4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45"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04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47"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4" name=""/>
        <p:cNvGrpSpPr/>
        <p:nvPr/>
      </p:nvGrpSpPr>
      <p:grpSpPr>
        <a:xfrm rot="0">
          <a:off x="0" y="0"/>
          <a:ext cx="0" cy="0"/>
          <a:chOff x="0" y="0"/>
          <a:chExt cx="0" cy="0"/>
        </a:xfrm>
      </p:grpSpPr>
      <p:sp>
        <p:nvSpPr>
          <p:cNvPr id="104909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9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9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99"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9100" name="Picture Placeholder 2"/>
          <p:cNvSpPr>
            <a:spLocks noGrp="1"/>
          </p:cNvSpPr>
          <p:nvPr>
            <p:ph type="pic" idx="1"/>
          </p:nvPr>
        </p:nvSpPr>
        <p:spPr>
          <a:xfrm>
            <a:off x="1792288" y="612775"/>
            <a:ext cx="5486400" cy="4114800"/>
          </a:xfrm>
        </p:spPr>
        <p:txBody>
          <a:bodyPr anchor="t" anchorCtr="0" bIns="45720" compatLnSpc="1" lIns="91440" numCol="1" rIns="91440" rtlCol="0" tIns="45720" vert="horz" wrap="square">
            <a:prstTxWarp prst="textNoShape"/>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 typeface="Arial" charset="0"/>
              <a:buNone/>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101"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6" name=""/>
        <p:cNvGrpSpPr/>
        <p:nvPr/>
      </p:nvGrpSpPr>
      <p:grpSpPr>
        <a:xfrm rot="0">
          <a:off x="0" y="0"/>
          <a:ext cx="0" cy="0"/>
          <a:chOff x="0" y="0"/>
          <a:chExt cx="0" cy="0"/>
        </a:xfrm>
      </p:grpSpPr>
      <p:sp>
        <p:nvSpPr>
          <p:cNvPr id="104904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4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5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51"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52" name="Title 1"/>
          <p:cNvSpPr>
            <a:spLocks noGrp="1"/>
          </p:cNvSpPr>
          <p:nvPr>
            <p:ph type="title"/>
          </p:nvPr>
        </p:nvSpPr>
        <p:spPr/>
        <p:txBody>
          <a:bodyPr/>
          <a:p>
            <a:r>
              <a:rPr lang="en-US" smtClean="0"/>
              <a:t>Click to edit Master title style</a:t>
            </a:r>
            <a:endParaRPr 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5" name=""/>
        <p:cNvGrpSpPr/>
        <p:nvPr/>
      </p:nvGrpSpPr>
      <p:grpSpPr>
        <a:xfrm rot="0">
          <a:off x="0" y="0"/>
          <a:ext cx="0" cy="0"/>
          <a:chOff x="0" y="0"/>
          <a:chExt cx="0" cy="0"/>
        </a:xfrm>
      </p:grpSpPr>
      <p:sp>
        <p:nvSpPr>
          <p:cNvPr id="1049102"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103"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104"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105"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106"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0" name=""/>
        <p:cNvGrpSpPr/>
        <p:nvPr/>
      </p:nvGrpSpPr>
      <p:grpSpPr>
        <a:xfrm rot="0">
          <a:off x="0" y="0"/>
          <a:ext cx="0" cy="0"/>
          <a:chOff x="0" y="0"/>
          <a:chExt cx="0" cy="0"/>
        </a:xfrm>
      </p:grpSpPr>
      <p:sp>
        <p:nvSpPr>
          <p:cNvPr id="1049067"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68"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69"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70" name="Content Placeholder 4"/>
          <p:cNvSpPr>
            <a:spLocks noGrp="1"/>
          </p:cNvSpPr>
          <p:nvPr>
            <p:ph sz="quarter" idx="3"/>
          </p:nvPr>
        </p:nvSpPr>
        <p:spPr>
          <a:xfrm>
            <a:off x="4648200" y="41148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71" name="Content Placeholder 3"/>
          <p:cNvSpPr>
            <a:spLocks noGrp="1"/>
          </p:cNvSpPr>
          <p:nvPr>
            <p:ph sz="quarter" idx="2"/>
          </p:nvPr>
        </p:nvSpPr>
        <p:spPr>
          <a:xfrm>
            <a:off x="4648200" y="1981200"/>
            <a:ext cx="3810000" cy="19812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72" name="Text Placeholder 2"/>
          <p:cNvSpPr>
            <a:spLocks noGrp="1"/>
          </p:cNvSpPr>
          <p:nvPr>
            <p:ph type="body" sz="half" idx="1"/>
          </p:nvPr>
        </p:nvSpPr>
        <p:spPr>
          <a:xfrm>
            <a:off x="685800" y="1981200"/>
            <a:ext cx="381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73" name="Title 1"/>
          <p:cNvSpPr>
            <a:spLocks noGrp="1"/>
          </p:cNvSpPr>
          <p:nvPr>
            <p:ph type="title"/>
          </p:nvPr>
        </p:nvSpPr>
        <p:spPr>
          <a:xfrm>
            <a:off x="685800" y="609600"/>
            <a:ext cx="7772400" cy="1143000"/>
          </a:xfrm>
        </p:spPr>
        <p:txBody>
          <a:bodyPr/>
          <a:p>
            <a:r>
              <a:rPr lang="en-US" smtClean="0"/>
              <a:t>Click to edit Master title style</a:t>
            </a:r>
            <a:endParaRPr 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3" name=""/>
        <p:cNvGrpSpPr/>
        <p:nvPr/>
      </p:nvGrpSpPr>
      <p:grpSpPr>
        <a:xfrm rot="0">
          <a:off x="0" y="0"/>
          <a:ext cx="0" cy="0"/>
          <a:chOff x="0" y="0"/>
          <a:chExt cx="0" cy="0"/>
        </a:xfrm>
      </p:grpSpPr>
      <p:sp>
        <p:nvSpPr>
          <p:cNvPr id="1049090"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91"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92"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93" name="Content Placeholder 3"/>
          <p:cNvSpPr>
            <a:spLocks noGrp="1"/>
          </p:cNvSpPr>
          <p:nvPr>
            <p:ph sz="half" idx="2"/>
          </p:nvPr>
        </p:nvSpPr>
        <p:spPr>
          <a:xfrm>
            <a:off x="4648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94" name="Text Placeholder 2"/>
          <p:cNvSpPr>
            <a:spLocks noGrp="1"/>
          </p:cNvSpPr>
          <p:nvPr>
            <p:ph type="body" sz="half" idx="1"/>
          </p:nvPr>
        </p:nvSpPr>
        <p:spPr>
          <a:xfrm>
            <a:off x="457200" y="1600201"/>
            <a:ext cx="4038600" cy="4525963"/>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95"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8" name=""/>
        <p:cNvGrpSpPr/>
        <p:nvPr/>
      </p:nvGrpSpPr>
      <p:grpSpPr>
        <a:xfrm rot="0">
          <a:off x="0" y="0"/>
          <a:ext cx="0" cy="0"/>
          <a:chOff x="0" y="0"/>
          <a:chExt cx="0" cy="0"/>
        </a:xfrm>
      </p:grpSpPr>
      <p:sp>
        <p:nvSpPr>
          <p:cNvPr id="1049058" name="Date Placeholder 2"/>
          <p:cNvSpPr/>
          <p:nvPr>
            <p:ph type="dt" sz="half" idx="2"/>
          </p:nvPr>
        </p:nvSpPr>
        <p:spPr>
          <a:xfrm rot="0">
            <a:off x="457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59" name="Footer Placeholder 3"/>
          <p:cNvSpPr/>
          <p:nvPr>
            <p:ph type="ftr" sz="quarter" idx="3"/>
          </p:nvPr>
        </p:nvSpPr>
        <p:spPr>
          <a:xfrm rot="0">
            <a:off x="3124200" y="6248400"/>
            <a:ext cx="2895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60" name="Slide Number Placeholder 4"/>
          <p:cNvSpPr/>
          <p:nvPr>
            <p:ph type="sldNum" sz="quarter" idx="4"/>
          </p:nvPr>
        </p:nvSpPr>
        <p:spPr>
          <a:xfrm rot="0">
            <a:off x="6553200" y="6248400"/>
            <a:ext cx="2133600" cy="457200"/>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
        <p:nvSpPr>
          <p:cNvPr id="1049061" name="Content Placeholder 1"/>
          <p:cNvSpPr>
            <a:spLocks noGrp="1"/>
          </p:cNvSpPr>
          <p:nvPr>
            <p:ph/>
          </p:nvPr>
        </p:nvSpPr>
        <p:spPr>
          <a:xfrm>
            <a:off x="457200" y="274638"/>
            <a:ext cx="8229600" cy="5821362"/>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77" name=""/>
        <p:cNvGrpSpPr/>
        <p:nvPr/>
      </p:nvGrpSpPr>
      <p:grpSpPr>
        <a:xfrm rot="0">
          <a:off x="0" y="0"/>
          <a:ext cx="0" cy="0"/>
          <a:chOff x="0" y="0"/>
          <a:chExt cx="0" cy="0"/>
        </a:xfrm>
      </p:grpSpPr>
      <p:sp>
        <p:nvSpPr>
          <p:cNvPr id="1049053"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54"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GB">
                <a:solidFill>
                  <a:srgbClr val="898989"/>
                </a:solidFill>
              </a:rPr>
              <a:t>Assist. Prof. Kesorn Sripaoraya</a:t>
            </a:r>
          </a:p>
        </p:txBody>
      </p:sp>
      <p:sp>
        <p:nvSpPr>
          <p:cNvPr id="1049055"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GB">
                <a:solidFill>
                  <a:srgbClr val="898989"/>
                </a:solidFill>
              </a:rPr>
              <a:pPr algn="r" eaLnBrk="1" hangingPunct="1" lvl="0"/>
            </a:fld>
            <a:endParaRPr altLang="en-US" sz="1200" lang="en-GB">
              <a:solidFill>
                <a:srgbClr val="898989"/>
              </a:solidFill>
            </a:endParaRPr>
          </a:p>
        </p:txBody>
      </p:sp>
      <p:sp>
        <p:nvSpPr>
          <p:cNvPr id="1049056" name="Table Placeholder 2"/>
          <p:cNvSpPr>
            <a:spLocks noGrp="1"/>
          </p:cNvSpPr>
          <p:nvPr>
            <p:ph type="tbl" idx="1"/>
          </p:nvPr>
        </p:nvSpPr>
        <p:spPr>
          <a:xfrm>
            <a:off x="457200" y="1600200"/>
            <a:ext cx="8229600" cy="4525963"/>
          </a:xfrm>
        </p:spPr>
        <p:txBody>
          <a:bodyPr anchor="t" anchorCtr="0" bIns="45720" compatLnSpc="1" lIns="91440" numCol="1" rIns="91440" rtlCol="0" tIns="45720" vert="horz" wrap="square">
            <a:prstTxWarp prst="textNoShape"/>
            <a:normAutofit/>
          </a:bodyPr>
          <a:p>
            <a:pPr algn="l" defTabSz="914400" eaLnBrk="0" fontAlgn="base" hangingPunct="0" indent="-342900" latinLnBrk="0" lvl="0" marL="342900" marR="0" rtl="0">
              <a:lnSpc>
                <a:spcPct val="100000"/>
              </a:lnSpc>
              <a:spcBef>
                <a:spcPct val="20000"/>
              </a:spcBef>
              <a:spcAft>
                <a:spcPct val="0"/>
              </a:spcAft>
              <a:buClrTx/>
              <a:buSzTx/>
              <a:buFont typeface="Arial" charset="0"/>
              <a:buChar char="•"/>
            </a:pPr>
            <a:endParaRPr baseline="0" b="0" cap="none" sz="3200" i="0" kern="1200" kumimoji="0" lang="en-US" noProof="0" normalizeH="0" spc="0" strike="noStrike" u="none" smtClean="0">
              <a:ln>
                <a:noFill/>
              </a:ln>
              <a:solidFill>
                <a:schemeClr val="tx1"/>
              </a:solidFill>
              <a:effectLst/>
              <a:uLnTx/>
              <a:uFillTx/>
              <a:latin typeface="+mn-lt"/>
              <a:ea typeface="+mn-ea"/>
              <a:cs typeface="+mn-cs"/>
            </a:endParaRPr>
          </a:p>
        </p:txBody>
      </p:sp>
      <p:sp>
        <p:nvSpPr>
          <p:cNvPr id="1049057" name="Title 1"/>
          <p:cNvSpPr>
            <a:spLocks noGrp="1"/>
          </p:cNvSpPr>
          <p:nvPr>
            <p:ph type="title"/>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cSld>
    <p:bg bwMode="white">
      <p:bgPr>
        <a:solidFill>
          <a:schemeClr val="lt1"/>
        </a:solidFill>
      </p:bgPr>
    </p:bg>
    <p:spTree>
      <p:nvGrpSpPr>
        <p:cNvPr id="281" name=""/>
        <p:cNvGrpSpPr/>
        <p:nvPr/>
      </p:nvGrpSpPr>
      <p:grpSpPr>
        <a:xfrm rot="0">
          <a:off x="0" y="0"/>
          <a:ext cx="0" cy="0"/>
          <a:chOff x="0" y="0"/>
          <a:chExt cx="0" cy="0"/>
        </a:xfrm>
      </p:grpSpPr>
      <p:sp>
        <p:nvSpPr>
          <p:cNvPr id="1049074" name="Rectangle 4"/>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9075" name="Rectangle 5"/>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9076" name="Rectangle 6"/>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ar-SA">
                <a:solidFill>
                  <a:srgbClr val="898989"/>
                </a:solidFill>
              </a:rPr>
              <a:pPr algn="r" eaLnBrk="1" hangingPunct="1" lvl="0"/>
            </a:fld>
            <a:endParaRPr altLang="en-US" sz="1200" lang="ar-SA">
              <a:solidFill>
                <a:srgbClr val="898989"/>
              </a:solidFill>
            </a:endParaRPr>
          </a:p>
        </p:txBody>
      </p:sp>
      <p:sp>
        <p:nvSpPr>
          <p:cNvPr id="1049077" name="Content Placeholder 5"/>
          <p:cNvSpPr>
            <a:spLocks noGrp="1"/>
          </p:cNvSpPr>
          <p:nvPr>
            <p:ph sz="quarter" idx="4"/>
          </p:nvPr>
        </p:nvSpPr>
        <p:spPr>
          <a:xfrm>
            <a:off x="4648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78" name="Content Placeholder 4"/>
          <p:cNvSpPr>
            <a:spLocks noGrp="1"/>
          </p:cNvSpPr>
          <p:nvPr>
            <p:ph sz="quarter" idx="3"/>
          </p:nvPr>
        </p:nvSpPr>
        <p:spPr>
          <a:xfrm>
            <a:off x="457200" y="3938588"/>
            <a:ext cx="4038600" cy="2187575"/>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79" name="Content Placeholder 3"/>
          <p:cNvSpPr>
            <a:spLocks noGrp="1"/>
          </p:cNvSpPr>
          <p:nvPr>
            <p:ph sz="quarter" idx="2"/>
          </p:nvPr>
        </p:nvSpPr>
        <p:spPr>
          <a:xfrm>
            <a:off x="4648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80" name="Content Placeholder 2"/>
          <p:cNvSpPr>
            <a:spLocks noGrp="1"/>
          </p:cNvSpPr>
          <p:nvPr>
            <p:ph sz="quarter" idx="1"/>
          </p:nvPr>
        </p:nvSpPr>
        <p:spPr>
          <a:xfrm>
            <a:off x="457200" y="1600200"/>
            <a:ext cx="4038600" cy="2185988"/>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81" name="Title 1"/>
          <p:cNvSpPr>
            <a:spLocks noGrp="1"/>
          </p:cNvSpPr>
          <p:nvPr>
            <p:ph type="title" sz="quarter"/>
          </p:nvPr>
        </p:nvSpPr>
        <p:spPr>
          <a:xfrm>
            <a:off x="457200" y="274638"/>
            <a:ext cx="8229600" cy="1143000"/>
          </a:xfrm>
        </p:spPr>
        <p:txBody>
          <a:bodyPr/>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image" Target="../media/image1.jpeg"/><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slideLayout" Target="../slideLayouts/slideLayout60.xml"/><Relationship Id="rId17"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slideLayout" Target="../slideLayouts/slideLayout73.xml"/><Relationship Id="rId14" Type="http://schemas.openxmlformats.org/officeDocument/2006/relationships/slideLayout" Target="../slideLayouts/slideLayout74.xml"/><Relationship Id="rId15" Type="http://schemas.openxmlformats.org/officeDocument/2006/relationships/slideLayout" Target="../slideLayouts/slideLayout75.xml"/><Relationship Id="rId16" Type="http://schemas.openxmlformats.org/officeDocument/2006/relationships/slideLayout" Target="../slideLayouts/slideLayout76.xml"/><Relationship Id="rId1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blipFill rotWithShape="0">
          <a:blip xmlns:r="http://schemas.openxmlformats.org/officeDocument/2006/relationships" r:embed="rId13">
            <a:alphaModFix amt="100000"/>
          </a:blip>
          <a:srcRect/>
          <a:tile algn="tl" flip="none" sx="100000" sy="100000" tx="0" ty="0"/>
        </a:blipFill>
      </p:bgPr>
    </p:bg>
    <p:spTree>
      <p:nvGrpSpPr>
        <p:cNvPr id="16" name=""/>
        <p:cNvGrpSpPr/>
        <p:nvPr/>
      </p:nvGrpSpPr>
      <p:grpSpPr>
        <a:xfrm rot="0">
          <a:off x="0" y="0"/>
          <a:ext cx="0" cy="0"/>
          <a:chOff x="0" y="0"/>
          <a:chExt cx="0" cy="0"/>
        </a:xfrm>
      </p:grpSpPr>
      <p:sp>
        <p:nvSpPr>
          <p:cNvPr id="1048576" name="Rectangle 2"/>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US"/>
              <a:t>Click to edit Master title style</a:t>
            </a:r>
          </a:p>
        </p:txBody>
      </p:sp>
      <p:sp>
        <p:nvSpPr>
          <p:cNvPr id="1048577" name="Rectangle 3"/>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sz="1400" lang="en-U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sz="1400" lang="en-U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r" eaLnBrk="1" hangingPunct="1" lvl="0"/>
            <a:fld id="{566ABCEB-ACFC-4714-9973-3DA970169C29}" type="slidenum">
              <a:rPr altLang="en-US" sz="1400" lang="en-US"/>
              <a:pPr algn="r" eaLnBrk="1" hangingPunct="1" lvl="0"/>
            </a:fld>
            <a:endParaRPr altLang="en-US" sz="1400" lang="en-US"/>
          </a:p>
        </p:txBody>
      </p:sp>
    </p:spTree>
  </p:cSld>
  <p:clrMap accent1="accent1" accent2="accent2" accent3="accent3" accent4="accent4" accent5="accent5" accent6="accent6" bg1="lt1" bg2="dk2" tx1="dk1" tx2="lt2"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dt="0" ftr="0" hdr="1" sldNum="0"/>
  <p:txStyles>
    <p:titleStyle>
      <a:lvl1pPr algn="ctr" eaLnBrk="0" fontAlgn="base" hangingPunct="0" rtl="0">
        <a:spcBef>
          <a:spcPct val="0"/>
        </a:spcBef>
        <a:spcAft>
          <a:spcPct val="0"/>
        </a:spcAft>
        <a:defRPr sz="4400">
          <a:solidFill>
            <a:schemeClr val="tx2"/>
          </a:solidFill>
          <a:latin typeface="+mj-lt"/>
          <a:ea typeface="+mj-ea"/>
          <a:cs typeface="+mj-cs"/>
        </a:defRPr>
      </a:lvl1pPr>
      <a:lvl2pPr algn="ctr" eaLnBrk="0" fontAlgn="base" hangingPunct="0" rtl="0">
        <a:spcBef>
          <a:spcPct val="0"/>
        </a:spcBef>
        <a:spcAft>
          <a:spcPct val="0"/>
        </a:spcAft>
        <a:defRPr sz="4400">
          <a:solidFill>
            <a:schemeClr val="tx2"/>
          </a:solidFill>
          <a:latin typeface="Arial" charset="0"/>
          <a:cs typeface="Arial" charset="0"/>
        </a:defRPr>
      </a:lvl2pPr>
      <a:lvl3pPr algn="ctr" eaLnBrk="0" fontAlgn="base" hangingPunct="0" rtl="0">
        <a:spcBef>
          <a:spcPct val="0"/>
        </a:spcBef>
        <a:spcAft>
          <a:spcPct val="0"/>
        </a:spcAft>
        <a:defRPr sz="4400">
          <a:solidFill>
            <a:schemeClr val="tx2"/>
          </a:solidFill>
          <a:latin typeface="Arial" charset="0"/>
          <a:cs typeface="Arial" charset="0"/>
        </a:defRPr>
      </a:lvl3pPr>
      <a:lvl4pPr algn="ctr" eaLnBrk="0" fontAlgn="base" hangingPunct="0" rtl="0">
        <a:spcBef>
          <a:spcPct val="0"/>
        </a:spcBef>
        <a:spcAft>
          <a:spcPct val="0"/>
        </a:spcAft>
        <a:defRPr sz="4400">
          <a:solidFill>
            <a:schemeClr val="tx2"/>
          </a:solidFill>
          <a:latin typeface="Arial" charset="0"/>
          <a:cs typeface="Arial" charset="0"/>
        </a:defRPr>
      </a:lvl4pPr>
      <a:lvl5pPr algn="ctr" eaLnBrk="0" fontAlgn="base" hangingPunct="0" rtl="0">
        <a:spcBef>
          <a:spcPct val="0"/>
        </a:spcBef>
        <a:spcAft>
          <a:spcPct val="0"/>
        </a:spcAft>
        <a:defRPr sz="4400">
          <a:solidFill>
            <a:schemeClr val="tx2"/>
          </a:solidFill>
          <a:latin typeface="Arial" charset="0"/>
          <a:cs typeface="Arial" charset="0"/>
        </a:defRPr>
      </a:lvl5pPr>
      <a:lvl6pPr algn="ctr" fontAlgn="base" marL="457200" rtl="0">
        <a:spcBef>
          <a:spcPct val="0"/>
        </a:spcBef>
        <a:spcAft>
          <a:spcPct val="0"/>
        </a:spcAft>
        <a:defRPr sz="4400">
          <a:solidFill>
            <a:schemeClr val="tx2"/>
          </a:solidFill>
          <a:latin typeface="Arial" charset="0"/>
          <a:cs typeface="Arial" charset="0"/>
        </a:defRPr>
      </a:lvl6pPr>
      <a:lvl7pPr algn="ctr" fontAlgn="base" marL="914400" rtl="0">
        <a:spcBef>
          <a:spcPct val="0"/>
        </a:spcBef>
        <a:spcAft>
          <a:spcPct val="0"/>
        </a:spcAft>
        <a:defRPr sz="4400">
          <a:solidFill>
            <a:schemeClr val="tx2"/>
          </a:solidFill>
          <a:latin typeface="Arial" charset="0"/>
          <a:cs typeface="Arial" charset="0"/>
        </a:defRPr>
      </a:lvl7pPr>
      <a:lvl8pPr algn="ctr" fontAlgn="base" marL="1371600" rtl="0">
        <a:spcBef>
          <a:spcPct val="0"/>
        </a:spcBef>
        <a:spcAft>
          <a:spcPct val="0"/>
        </a:spcAft>
        <a:defRPr sz="4400">
          <a:solidFill>
            <a:schemeClr val="tx2"/>
          </a:solidFill>
          <a:latin typeface="Arial" charset="0"/>
          <a:cs typeface="Arial" charset="0"/>
        </a:defRPr>
      </a:lvl8pPr>
      <a:lvl9pPr algn="ctr" fontAlgn="base" marL="1828800" rtl="0">
        <a:spcBef>
          <a:spcPct val="0"/>
        </a:spcBef>
        <a:spcAft>
          <a:spcPct val="0"/>
        </a:spcAft>
        <a:defRPr sz="4400">
          <a:solidFill>
            <a:schemeClr val="tx2"/>
          </a:solidFill>
          <a:latin typeface="Arial" charset="0"/>
          <a:cs typeface="Arial"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cs typeface="+mn-cs"/>
        </a:defRPr>
      </a:lvl2pPr>
      <a:lvl3pPr algn="l" eaLnBrk="0" fontAlgn="base" hangingPunct="0" indent="-228600" marL="1143000" rtl="0">
        <a:spcBef>
          <a:spcPct val="20000"/>
        </a:spcBef>
        <a:spcAft>
          <a:spcPct val="0"/>
        </a:spcAft>
        <a:buChar char="•"/>
        <a:defRPr sz="2400">
          <a:solidFill>
            <a:schemeClr val="tx1"/>
          </a:solidFill>
          <a:latin typeface="+mn-lt"/>
          <a:cs typeface="+mn-cs"/>
        </a:defRPr>
      </a:lvl3pPr>
      <a:lvl4pPr algn="l" eaLnBrk="0" fontAlgn="base" hangingPunct="0" indent="-228600" marL="1600200" rtl="0">
        <a:spcBef>
          <a:spcPct val="20000"/>
        </a:spcBef>
        <a:spcAft>
          <a:spcPct val="0"/>
        </a:spcAft>
        <a:buChar char="–"/>
        <a:defRPr sz="2000">
          <a:solidFill>
            <a:schemeClr val="tx1"/>
          </a:solidFill>
          <a:latin typeface="+mn-lt"/>
          <a:cs typeface="+mn-cs"/>
        </a:defRPr>
      </a:lvl4pPr>
      <a:lvl5pPr algn="l" eaLnBrk="0" fontAlgn="base" hangingPunct="0" indent="-228600" marL="2057400" rtl="0">
        <a:spcBef>
          <a:spcPct val="20000"/>
        </a:spcBef>
        <a:spcAft>
          <a:spcPct val="0"/>
        </a:spcAft>
        <a:buChar char="»"/>
        <a:defRPr sz="2000">
          <a:solidFill>
            <a:schemeClr val="tx1"/>
          </a:solidFill>
          <a:latin typeface="+mn-lt"/>
          <a:cs typeface="+mn-cs"/>
        </a:defRPr>
      </a:lvl5pPr>
      <a:lvl6pPr algn="l" fontAlgn="base" indent="-228600" marL="2514600" rtl="0">
        <a:spcBef>
          <a:spcPct val="20000"/>
        </a:spcBef>
        <a:spcAft>
          <a:spcPct val="0"/>
        </a:spcAft>
        <a:buChar char="»"/>
        <a:defRPr sz="2000">
          <a:solidFill>
            <a:schemeClr val="tx1"/>
          </a:solidFill>
          <a:latin typeface="+mn-lt"/>
          <a:cs typeface="+mn-cs"/>
        </a:defRPr>
      </a:lvl6pPr>
      <a:lvl7pPr algn="l" fontAlgn="base" indent="-228600" marL="2971800" rtl="0">
        <a:spcBef>
          <a:spcPct val="20000"/>
        </a:spcBef>
        <a:spcAft>
          <a:spcPct val="0"/>
        </a:spcAft>
        <a:buChar char="»"/>
        <a:defRPr sz="2000">
          <a:solidFill>
            <a:schemeClr val="tx1"/>
          </a:solidFill>
          <a:latin typeface="+mn-lt"/>
          <a:cs typeface="+mn-cs"/>
        </a:defRPr>
      </a:lvl7pPr>
      <a:lvl8pPr algn="l" fontAlgn="base" indent="-228600" marL="3429000" rtl="0">
        <a:spcBef>
          <a:spcPct val="20000"/>
        </a:spcBef>
        <a:spcAft>
          <a:spcPct val="0"/>
        </a:spcAft>
        <a:buChar char="»"/>
        <a:defRPr sz="2000">
          <a:solidFill>
            <a:schemeClr val="tx1"/>
          </a:solidFill>
          <a:latin typeface="+mn-lt"/>
          <a:cs typeface="+mn-cs"/>
        </a:defRPr>
      </a:lvl8pPr>
      <a:lvl9pPr algn="l" fontAlgn="base" indent="-228600" marL="3886200" rtl="0">
        <a:spcBef>
          <a:spcPct val="20000"/>
        </a:spcBef>
        <a:spcAft>
          <a:spcPct val="0"/>
        </a:spcAft>
        <a:buChar char="»"/>
        <a:defRPr sz="2000">
          <a:solidFill>
            <a:schemeClr val="tx1"/>
          </a:solidFill>
          <a:latin typeface="+mn-lt"/>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89" name=""/>
        <p:cNvGrpSpPr/>
        <p:nvPr/>
      </p:nvGrpSpPr>
      <p:grpSpPr>
        <a:xfrm rot="0">
          <a:off x="0" y="0"/>
          <a:ext cx="0" cy="0"/>
          <a:chOff x="0" y="0"/>
          <a:chExt cx="0" cy="0"/>
        </a:xfrm>
      </p:grpSpPr>
      <p:sp>
        <p:nvSpPr>
          <p:cNvPr id="1048604" name="Title Placeholder 1"/>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US"/>
              <a:t>Click to edit Master title style</a:t>
            </a:r>
          </a:p>
        </p:txBody>
      </p:sp>
      <p:sp>
        <p:nvSpPr>
          <p:cNvPr id="1048605" name="Text Placeholder 2"/>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60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0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0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 accent1="accent1" accent2="accent2" accent3="accent3" accent4="accent4" accent5="accent5" accent6="accent6" bg1="lt1" bg2="dk2" tx1="dk1" tx2="lt2"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hf dt="0" ftr="0" hdr="0" sldNum="0"/>
  <p:txStyles>
    <p:titleStyle>
      <a:lvl1pPr algn="ctr" eaLnBrk="0" fontAlgn="base" hangingPunct="0" rtl="0">
        <a:spcBef>
          <a:spcPct val="0"/>
        </a:spcBef>
        <a:spcAft>
          <a:spcPct val="0"/>
        </a:spcAft>
        <a:defRPr sz="4400" kern="1200">
          <a:solidFill>
            <a:schemeClr val="tx1"/>
          </a:solidFill>
          <a:latin typeface="+mj-lt"/>
          <a:ea typeface="+mj-ea"/>
          <a:cs typeface="+mj-cs"/>
        </a:defRPr>
      </a:lvl1pPr>
      <a:lvl2pPr algn="ctr" eaLnBrk="0" fontAlgn="base" hangingPunct="0" rtl="0">
        <a:spcBef>
          <a:spcPct val="0"/>
        </a:spcBef>
        <a:spcAft>
          <a:spcPct val="0"/>
        </a:spcAft>
        <a:defRPr sz="4400">
          <a:solidFill>
            <a:schemeClr val="tx1"/>
          </a:solidFill>
          <a:latin typeface="Calibri" pitchFamily="34" charset="0"/>
        </a:defRPr>
      </a:lvl2pPr>
      <a:lvl3pPr algn="ctr" eaLnBrk="0" fontAlgn="base" hangingPunct="0" rtl="0">
        <a:spcBef>
          <a:spcPct val="0"/>
        </a:spcBef>
        <a:spcAft>
          <a:spcPct val="0"/>
        </a:spcAft>
        <a:defRPr sz="4400">
          <a:solidFill>
            <a:schemeClr val="tx1"/>
          </a:solidFill>
          <a:latin typeface="Calibri" pitchFamily="34" charset="0"/>
        </a:defRPr>
      </a:lvl3pPr>
      <a:lvl4pPr algn="ctr" eaLnBrk="0" fontAlgn="base" hangingPunct="0" rtl="0">
        <a:spcBef>
          <a:spcPct val="0"/>
        </a:spcBef>
        <a:spcAft>
          <a:spcPct val="0"/>
        </a:spcAft>
        <a:defRPr sz="4400">
          <a:solidFill>
            <a:schemeClr val="tx1"/>
          </a:solidFill>
          <a:latin typeface="Calibri" pitchFamily="34" charset="0"/>
        </a:defRPr>
      </a:lvl4pPr>
      <a:lvl5pPr algn="ctr" eaLnBrk="0" fontAlgn="base" hangingPunct="0" rtl="0">
        <a:spcBef>
          <a:spcPct val="0"/>
        </a:spcBef>
        <a:spcAft>
          <a:spcPct val="0"/>
        </a:spcAft>
        <a:defRPr sz="4400">
          <a:solidFill>
            <a:schemeClr val="tx1"/>
          </a:solidFill>
          <a:latin typeface="Calibri" pitchFamily="34" charset="0"/>
        </a:defRPr>
      </a:lvl5pPr>
      <a:lvl6pPr algn="ctr" fontAlgn="base" marL="457200" rtl="0">
        <a:spcBef>
          <a:spcPct val="0"/>
        </a:spcBef>
        <a:spcAft>
          <a:spcPct val="0"/>
        </a:spcAft>
        <a:defRPr sz="4400">
          <a:solidFill>
            <a:schemeClr val="tx1"/>
          </a:solidFill>
          <a:latin typeface="Calibri" pitchFamily="34" charset="0"/>
        </a:defRPr>
      </a:lvl6pPr>
      <a:lvl7pPr algn="ctr" fontAlgn="base" marL="914400" rtl="0">
        <a:spcBef>
          <a:spcPct val="0"/>
        </a:spcBef>
        <a:spcAft>
          <a:spcPct val="0"/>
        </a:spcAft>
        <a:defRPr sz="4400">
          <a:solidFill>
            <a:schemeClr val="tx1"/>
          </a:solidFill>
          <a:latin typeface="Calibri" pitchFamily="34" charset="0"/>
        </a:defRPr>
      </a:lvl7pPr>
      <a:lvl8pPr algn="ctr" fontAlgn="base" marL="1371600" rtl="0">
        <a:spcBef>
          <a:spcPct val="0"/>
        </a:spcBef>
        <a:spcAft>
          <a:spcPct val="0"/>
        </a:spcAft>
        <a:defRPr sz="4400">
          <a:solidFill>
            <a:schemeClr val="tx1"/>
          </a:solidFill>
          <a:latin typeface="Calibri" pitchFamily="34" charset="0"/>
        </a:defRPr>
      </a:lvl8pPr>
      <a:lvl9pPr algn="ctr" fontAlgn="base" marL="1828800" rtl="0">
        <a:spcBef>
          <a:spcPct val="0"/>
        </a:spcBef>
        <a:spcAft>
          <a:spcPct val="0"/>
        </a:spcAft>
        <a:defRPr sz="4400">
          <a:solidFill>
            <a:schemeClr val="tx1"/>
          </a:solidFill>
          <a:latin typeface="Calibri" pitchFamily="34" charset="0"/>
        </a:defRPr>
      </a:lvl9pPr>
    </p:titleStyle>
    <p:bodyStyle>
      <a:lvl1pPr algn="l" eaLnBrk="0" fontAlgn="base" hangingPunct="0" indent="-342900" marL="342900" rtl="0">
        <a:spcBef>
          <a:spcPct val="20000"/>
        </a:spcBef>
        <a:spcAft>
          <a:spcPct val="0"/>
        </a:spcAft>
        <a:buFont typeface="Arial" charset="0"/>
        <a:buChar char="•"/>
        <a:defRPr sz="3200" kern="1200">
          <a:solidFill>
            <a:schemeClr val="tx1"/>
          </a:solidFill>
          <a:latin typeface="+mn-lt"/>
          <a:ea typeface="+mn-ea"/>
          <a:cs typeface="+mn-cs"/>
        </a:defRPr>
      </a:lvl1pPr>
      <a:lvl2pPr algn="l" eaLnBrk="0" fontAlgn="base" hangingPunct="0" indent="-285750" marL="742950" rtl="0">
        <a:spcBef>
          <a:spcPct val="20000"/>
        </a:spcBef>
        <a:spcAft>
          <a:spcPct val="0"/>
        </a:spcAft>
        <a:buFont typeface="Arial" charset="0"/>
        <a:buChar char="–"/>
        <a:defRPr sz="2800" kern="1200">
          <a:solidFill>
            <a:schemeClr val="tx1"/>
          </a:solidFill>
          <a:latin typeface="+mn-lt"/>
          <a:ea typeface="+mn-ea"/>
          <a:cs typeface="+mn-cs"/>
        </a:defRPr>
      </a:lvl2pPr>
      <a:lvl3pPr algn="l" eaLnBrk="0" fontAlgn="base" hangingPunct="0" indent="-228600" marL="1143000" rtl="0">
        <a:spcBef>
          <a:spcPct val="20000"/>
        </a:spcBef>
        <a:spcAft>
          <a:spcPct val="0"/>
        </a:spcAft>
        <a:buFont typeface="Arial" charset="0"/>
        <a:buChar char="•"/>
        <a:defRPr sz="2400" kern="1200">
          <a:solidFill>
            <a:schemeClr val="tx1"/>
          </a:solidFill>
          <a:latin typeface="+mn-lt"/>
          <a:ea typeface="+mn-ea"/>
          <a:cs typeface="+mn-cs"/>
        </a:defRPr>
      </a:lvl3pPr>
      <a:lvl4pPr algn="l" eaLnBrk="0" fontAlgn="base" hangingPunct="0" indent="-228600" marL="1600200" rtl="0">
        <a:spcBef>
          <a:spcPct val="20000"/>
        </a:spcBef>
        <a:spcAft>
          <a:spcPct val="0"/>
        </a:spcAft>
        <a:buFont typeface="Arial" charset="0"/>
        <a:buChar char="–"/>
        <a:defRPr sz="2000" kern="1200">
          <a:solidFill>
            <a:schemeClr val="tx1"/>
          </a:solidFill>
          <a:latin typeface="+mn-lt"/>
          <a:ea typeface="+mn-ea"/>
          <a:cs typeface="+mn-cs"/>
        </a:defRPr>
      </a:lvl4pPr>
      <a:lvl5pPr algn="l" eaLnBrk="0" fontAlgn="base" hangingPunct="0" indent="-228600" marL="2057400" rtl="0">
        <a:spcBef>
          <a:spcPct val="20000"/>
        </a:spcBef>
        <a:spcAft>
          <a:spcPct val="0"/>
        </a:spcAft>
        <a:buFont typeface="Arial"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92" name=""/>
        <p:cNvGrpSpPr/>
        <p:nvPr/>
      </p:nvGrpSpPr>
      <p:grpSpPr>
        <a:xfrm rot="0">
          <a:off x="0" y="0"/>
          <a:ext cx="0" cy="0"/>
          <a:chOff x="0" y="0"/>
          <a:chExt cx="0" cy="0"/>
        </a:xfrm>
      </p:grpSpPr>
      <p:sp>
        <p:nvSpPr>
          <p:cNvPr id="1048774" name="Title Placeholder 1"/>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US"/>
              <a:t>Click to edit Master title style</a:t>
            </a:r>
          </a:p>
        </p:txBody>
      </p:sp>
      <p:sp>
        <p:nvSpPr>
          <p:cNvPr id="1048775" name="Text Placeholder 2"/>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776"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77"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78"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 accent1="accent1" accent2="accent2" accent3="accent3" accent4="accent4" accent5="accent5" accent6="accent6" bg1="lt1" bg2="dk2" tx1="dk1" tx2="lt2"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hf dt="0" ftr="0" hdr="0" sldNum="0"/>
  <p:txStyles>
    <p:titleStyle>
      <a:lvl1pPr algn="ctr" eaLnBrk="0" fontAlgn="base" hangingPunct="0" rtl="0">
        <a:spcBef>
          <a:spcPct val="0"/>
        </a:spcBef>
        <a:spcAft>
          <a:spcPct val="0"/>
        </a:spcAft>
        <a:defRPr sz="4400" kern="1200">
          <a:solidFill>
            <a:schemeClr val="tx1"/>
          </a:solidFill>
          <a:latin typeface="+mj-lt"/>
          <a:ea typeface="+mj-ea"/>
          <a:cs typeface="+mj-cs"/>
        </a:defRPr>
      </a:lvl1pPr>
      <a:lvl2pPr algn="ctr" eaLnBrk="0" fontAlgn="base" hangingPunct="0" rtl="0">
        <a:spcBef>
          <a:spcPct val="0"/>
        </a:spcBef>
        <a:spcAft>
          <a:spcPct val="0"/>
        </a:spcAft>
        <a:defRPr sz="4400">
          <a:solidFill>
            <a:schemeClr val="tx1"/>
          </a:solidFill>
          <a:latin typeface="Calibri" pitchFamily="34" charset="0"/>
        </a:defRPr>
      </a:lvl2pPr>
      <a:lvl3pPr algn="ctr" eaLnBrk="0" fontAlgn="base" hangingPunct="0" rtl="0">
        <a:spcBef>
          <a:spcPct val="0"/>
        </a:spcBef>
        <a:spcAft>
          <a:spcPct val="0"/>
        </a:spcAft>
        <a:defRPr sz="4400">
          <a:solidFill>
            <a:schemeClr val="tx1"/>
          </a:solidFill>
          <a:latin typeface="Calibri" pitchFamily="34" charset="0"/>
        </a:defRPr>
      </a:lvl3pPr>
      <a:lvl4pPr algn="ctr" eaLnBrk="0" fontAlgn="base" hangingPunct="0" rtl="0">
        <a:spcBef>
          <a:spcPct val="0"/>
        </a:spcBef>
        <a:spcAft>
          <a:spcPct val="0"/>
        </a:spcAft>
        <a:defRPr sz="4400">
          <a:solidFill>
            <a:schemeClr val="tx1"/>
          </a:solidFill>
          <a:latin typeface="Calibri" pitchFamily="34" charset="0"/>
        </a:defRPr>
      </a:lvl4pPr>
      <a:lvl5pPr algn="ctr" eaLnBrk="0" fontAlgn="base" hangingPunct="0" rtl="0">
        <a:spcBef>
          <a:spcPct val="0"/>
        </a:spcBef>
        <a:spcAft>
          <a:spcPct val="0"/>
        </a:spcAft>
        <a:defRPr sz="4400">
          <a:solidFill>
            <a:schemeClr val="tx1"/>
          </a:solidFill>
          <a:latin typeface="Calibri" pitchFamily="34" charset="0"/>
        </a:defRPr>
      </a:lvl5pPr>
      <a:lvl6pPr algn="ctr" fontAlgn="base" marL="457200" rtl="0">
        <a:spcBef>
          <a:spcPct val="0"/>
        </a:spcBef>
        <a:spcAft>
          <a:spcPct val="0"/>
        </a:spcAft>
        <a:defRPr sz="4400">
          <a:solidFill>
            <a:schemeClr val="tx1"/>
          </a:solidFill>
          <a:latin typeface="Calibri" pitchFamily="34" charset="0"/>
        </a:defRPr>
      </a:lvl6pPr>
      <a:lvl7pPr algn="ctr" fontAlgn="base" marL="914400" rtl="0">
        <a:spcBef>
          <a:spcPct val="0"/>
        </a:spcBef>
        <a:spcAft>
          <a:spcPct val="0"/>
        </a:spcAft>
        <a:defRPr sz="4400">
          <a:solidFill>
            <a:schemeClr val="tx1"/>
          </a:solidFill>
          <a:latin typeface="Calibri" pitchFamily="34" charset="0"/>
        </a:defRPr>
      </a:lvl7pPr>
      <a:lvl8pPr algn="ctr" fontAlgn="base" marL="1371600" rtl="0">
        <a:spcBef>
          <a:spcPct val="0"/>
        </a:spcBef>
        <a:spcAft>
          <a:spcPct val="0"/>
        </a:spcAft>
        <a:defRPr sz="4400">
          <a:solidFill>
            <a:schemeClr val="tx1"/>
          </a:solidFill>
          <a:latin typeface="Calibri" pitchFamily="34" charset="0"/>
        </a:defRPr>
      </a:lvl8pPr>
      <a:lvl9pPr algn="ctr" fontAlgn="base" marL="1828800" rtl="0">
        <a:spcBef>
          <a:spcPct val="0"/>
        </a:spcBef>
        <a:spcAft>
          <a:spcPct val="0"/>
        </a:spcAft>
        <a:defRPr sz="4400">
          <a:solidFill>
            <a:schemeClr val="tx1"/>
          </a:solidFill>
          <a:latin typeface="Calibri" pitchFamily="34" charset="0"/>
        </a:defRPr>
      </a:lvl9pPr>
    </p:titleStyle>
    <p:bodyStyle>
      <a:lvl1pPr algn="l" eaLnBrk="0" fontAlgn="base" hangingPunct="0" indent="-342900" marL="342900" rtl="0">
        <a:spcBef>
          <a:spcPct val="20000"/>
        </a:spcBef>
        <a:spcAft>
          <a:spcPct val="0"/>
        </a:spcAft>
        <a:buFont typeface="Arial" charset="0"/>
        <a:buChar char="•"/>
        <a:defRPr sz="3200" kern="1200">
          <a:solidFill>
            <a:schemeClr val="tx1"/>
          </a:solidFill>
          <a:latin typeface="+mn-lt"/>
          <a:ea typeface="+mn-ea"/>
          <a:cs typeface="+mn-cs"/>
        </a:defRPr>
      </a:lvl1pPr>
      <a:lvl2pPr algn="l" eaLnBrk="0" fontAlgn="base" hangingPunct="0" indent="-285750" marL="742950" rtl="0">
        <a:spcBef>
          <a:spcPct val="20000"/>
        </a:spcBef>
        <a:spcAft>
          <a:spcPct val="0"/>
        </a:spcAft>
        <a:buFont typeface="Arial" charset="0"/>
        <a:buChar char="–"/>
        <a:defRPr sz="2800" kern="1200">
          <a:solidFill>
            <a:schemeClr val="tx1"/>
          </a:solidFill>
          <a:latin typeface="+mn-lt"/>
          <a:ea typeface="+mn-ea"/>
          <a:cs typeface="+mn-cs"/>
        </a:defRPr>
      </a:lvl2pPr>
      <a:lvl3pPr algn="l" eaLnBrk="0" fontAlgn="base" hangingPunct="0" indent="-228600" marL="1143000" rtl="0">
        <a:spcBef>
          <a:spcPct val="20000"/>
        </a:spcBef>
        <a:spcAft>
          <a:spcPct val="0"/>
        </a:spcAft>
        <a:buFont typeface="Arial" charset="0"/>
        <a:buChar char="•"/>
        <a:defRPr sz="2400" kern="1200">
          <a:solidFill>
            <a:schemeClr val="tx1"/>
          </a:solidFill>
          <a:latin typeface="+mn-lt"/>
          <a:ea typeface="+mn-ea"/>
          <a:cs typeface="+mn-cs"/>
        </a:defRPr>
      </a:lvl3pPr>
      <a:lvl4pPr algn="l" eaLnBrk="0" fontAlgn="base" hangingPunct="0" indent="-228600" marL="1600200" rtl="0">
        <a:spcBef>
          <a:spcPct val="20000"/>
        </a:spcBef>
        <a:spcAft>
          <a:spcPct val="0"/>
        </a:spcAft>
        <a:buFont typeface="Arial" charset="0"/>
        <a:buChar char="–"/>
        <a:defRPr sz="2000" kern="1200">
          <a:solidFill>
            <a:schemeClr val="tx1"/>
          </a:solidFill>
          <a:latin typeface="+mn-lt"/>
          <a:ea typeface="+mn-ea"/>
          <a:cs typeface="+mn-cs"/>
        </a:defRPr>
      </a:lvl4pPr>
      <a:lvl5pPr algn="l" eaLnBrk="0" fontAlgn="base" hangingPunct="0" indent="-228600" marL="2057400" rtl="0">
        <a:spcBef>
          <a:spcPct val="20000"/>
        </a:spcBef>
        <a:spcAft>
          <a:spcPct val="0"/>
        </a:spcAft>
        <a:buFont typeface="Arial"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70" name=""/>
        <p:cNvGrpSpPr/>
        <p:nvPr/>
      </p:nvGrpSpPr>
      <p:grpSpPr>
        <a:xfrm rot="0">
          <a:off x="0" y="0"/>
          <a:ext cx="0" cy="0"/>
          <a:chOff x="0" y="0"/>
          <a:chExt cx="0" cy="0"/>
        </a:xfrm>
      </p:grpSpPr>
      <p:sp>
        <p:nvSpPr>
          <p:cNvPr id="1048757" name="Title Placeholder 1"/>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US"/>
              <a:t>Click to edit Master title style</a:t>
            </a:r>
          </a:p>
        </p:txBody>
      </p:sp>
      <p:sp>
        <p:nvSpPr>
          <p:cNvPr id="1048758" name="Text Placeholder 2"/>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759"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760"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761"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 accent1="accent1" accent2="accent2" accent3="accent3" accent4="accent4" accent5="accent5" accent6="accent6" bg1="lt1" bg2="dk2" tx1="dk1" tx2="lt2"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dt="0" ftr="0" hdr="0" sldNum="0"/>
  <p:txStyles>
    <p:titleStyle>
      <a:lvl1pPr algn="ctr" eaLnBrk="0" fontAlgn="base" hangingPunct="0" rtl="0">
        <a:spcBef>
          <a:spcPct val="0"/>
        </a:spcBef>
        <a:spcAft>
          <a:spcPct val="0"/>
        </a:spcAft>
        <a:defRPr sz="4400" kern="1200">
          <a:solidFill>
            <a:schemeClr val="tx1"/>
          </a:solidFill>
          <a:latin typeface="+mj-lt"/>
          <a:ea typeface="+mj-ea"/>
          <a:cs typeface="+mj-cs"/>
        </a:defRPr>
      </a:lvl1pPr>
      <a:lvl2pPr algn="ctr" eaLnBrk="0" fontAlgn="base" hangingPunct="0" rtl="0">
        <a:spcBef>
          <a:spcPct val="0"/>
        </a:spcBef>
        <a:spcAft>
          <a:spcPct val="0"/>
        </a:spcAft>
        <a:defRPr sz="4400">
          <a:solidFill>
            <a:schemeClr val="tx1"/>
          </a:solidFill>
          <a:latin typeface="Calibri" pitchFamily="34" charset="0"/>
        </a:defRPr>
      </a:lvl2pPr>
      <a:lvl3pPr algn="ctr" eaLnBrk="0" fontAlgn="base" hangingPunct="0" rtl="0">
        <a:spcBef>
          <a:spcPct val="0"/>
        </a:spcBef>
        <a:spcAft>
          <a:spcPct val="0"/>
        </a:spcAft>
        <a:defRPr sz="4400">
          <a:solidFill>
            <a:schemeClr val="tx1"/>
          </a:solidFill>
          <a:latin typeface="Calibri" pitchFamily="34" charset="0"/>
        </a:defRPr>
      </a:lvl3pPr>
      <a:lvl4pPr algn="ctr" eaLnBrk="0" fontAlgn="base" hangingPunct="0" rtl="0">
        <a:spcBef>
          <a:spcPct val="0"/>
        </a:spcBef>
        <a:spcAft>
          <a:spcPct val="0"/>
        </a:spcAft>
        <a:defRPr sz="4400">
          <a:solidFill>
            <a:schemeClr val="tx1"/>
          </a:solidFill>
          <a:latin typeface="Calibri" pitchFamily="34" charset="0"/>
        </a:defRPr>
      </a:lvl4pPr>
      <a:lvl5pPr algn="ctr" eaLnBrk="0" fontAlgn="base" hangingPunct="0" rtl="0">
        <a:spcBef>
          <a:spcPct val="0"/>
        </a:spcBef>
        <a:spcAft>
          <a:spcPct val="0"/>
        </a:spcAft>
        <a:defRPr sz="4400">
          <a:solidFill>
            <a:schemeClr val="tx1"/>
          </a:solidFill>
          <a:latin typeface="Calibri" pitchFamily="34" charset="0"/>
        </a:defRPr>
      </a:lvl5pPr>
      <a:lvl6pPr algn="ctr" fontAlgn="base" marL="457200" rtl="0">
        <a:spcBef>
          <a:spcPct val="0"/>
        </a:spcBef>
        <a:spcAft>
          <a:spcPct val="0"/>
        </a:spcAft>
        <a:defRPr sz="4400">
          <a:solidFill>
            <a:schemeClr val="tx1"/>
          </a:solidFill>
          <a:latin typeface="Calibri" pitchFamily="34" charset="0"/>
        </a:defRPr>
      </a:lvl6pPr>
      <a:lvl7pPr algn="ctr" fontAlgn="base" marL="914400" rtl="0">
        <a:spcBef>
          <a:spcPct val="0"/>
        </a:spcBef>
        <a:spcAft>
          <a:spcPct val="0"/>
        </a:spcAft>
        <a:defRPr sz="4400">
          <a:solidFill>
            <a:schemeClr val="tx1"/>
          </a:solidFill>
          <a:latin typeface="Calibri" pitchFamily="34" charset="0"/>
        </a:defRPr>
      </a:lvl7pPr>
      <a:lvl8pPr algn="ctr" fontAlgn="base" marL="1371600" rtl="0">
        <a:spcBef>
          <a:spcPct val="0"/>
        </a:spcBef>
        <a:spcAft>
          <a:spcPct val="0"/>
        </a:spcAft>
        <a:defRPr sz="4400">
          <a:solidFill>
            <a:schemeClr val="tx1"/>
          </a:solidFill>
          <a:latin typeface="Calibri" pitchFamily="34" charset="0"/>
        </a:defRPr>
      </a:lvl8pPr>
      <a:lvl9pPr algn="ctr" fontAlgn="base" marL="1828800" rtl="0">
        <a:spcBef>
          <a:spcPct val="0"/>
        </a:spcBef>
        <a:spcAft>
          <a:spcPct val="0"/>
        </a:spcAft>
        <a:defRPr sz="4400">
          <a:solidFill>
            <a:schemeClr val="tx1"/>
          </a:solidFill>
          <a:latin typeface="Calibri" pitchFamily="34" charset="0"/>
        </a:defRPr>
      </a:lvl9pPr>
    </p:titleStyle>
    <p:bodyStyle>
      <a:lvl1pPr algn="l" eaLnBrk="0" fontAlgn="base" hangingPunct="0" indent="-342900" marL="342900" rtl="0">
        <a:spcBef>
          <a:spcPct val="20000"/>
        </a:spcBef>
        <a:spcAft>
          <a:spcPct val="0"/>
        </a:spcAft>
        <a:buFont typeface="Arial" charset="0"/>
        <a:buChar char="•"/>
        <a:defRPr sz="3200" kern="1200">
          <a:solidFill>
            <a:schemeClr val="tx1"/>
          </a:solidFill>
          <a:latin typeface="+mn-lt"/>
          <a:ea typeface="+mn-ea"/>
          <a:cs typeface="+mn-cs"/>
        </a:defRPr>
      </a:lvl1pPr>
      <a:lvl2pPr algn="l" eaLnBrk="0" fontAlgn="base" hangingPunct="0" indent="-285750" marL="742950" rtl="0">
        <a:spcBef>
          <a:spcPct val="20000"/>
        </a:spcBef>
        <a:spcAft>
          <a:spcPct val="0"/>
        </a:spcAft>
        <a:buFont typeface="Arial" charset="0"/>
        <a:buChar char="–"/>
        <a:defRPr sz="2800" kern="1200">
          <a:solidFill>
            <a:schemeClr val="tx1"/>
          </a:solidFill>
          <a:latin typeface="+mn-lt"/>
          <a:ea typeface="+mn-ea"/>
          <a:cs typeface="+mn-cs"/>
        </a:defRPr>
      </a:lvl2pPr>
      <a:lvl3pPr algn="l" eaLnBrk="0" fontAlgn="base" hangingPunct="0" indent="-228600" marL="1143000" rtl="0">
        <a:spcBef>
          <a:spcPct val="20000"/>
        </a:spcBef>
        <a:spcAft>
          <a:spcPct val="0"/>
        </a:spcAft>
        <a:buFont typeface="Arial" charset="0"/>
        <a:buChar char="•"/>
        <a:defRPr sz="2400" kern="1200">
          <a:solidFill>
            <a:schemeClr val="tx1"/>
          </a:solidFill>
          <a:latin typeface="+mn-lt"/>
          <a:ea typeface="+mn-ea"/>
          <a:cs typeface="+mn-cs"/>
        </a:defRPr>
      </a:lvl3pPr>
      <a:lvl4pPr algn="l" eaLnBrk="0" fontAlgn="base" hangingPunct="0" indent="-228600" marL="1600200" rtl="0">
        <a:spcBef>
          <a:spcPct val="20000"/>
        </a:spcBef>
        <a:spcAft>
          <a:spcPct val="0"/>
        </a:spcAft>
        <a:buFont typeface="Arial" charset="0"/>
        <a:buChar char="–"/>
        <a:defRPr sz="2000" kern="1200">
          <a:solidFill>
            <a:schemeClr val="tx1"/>
          </a:solidFill>
          <a:latin typeface="+mn-lt"/>
          <a:ea typeface="+mn-ea"/>
          <a:cs typeface="+mn-cs"/>
        </a:defRPr>
      </a:lvl4pPr>
      <a:lvl5pPr algn="l" eaLnBrk="0" fontAlgn="base" hangingPunct="0" indent="-228600" marL="2057400" rtl="0">
        <a:spcBef>
          <a:spcPct val="20000"/>
        </a:spcBef>
        <a:spcAft>
          <a:spcPct val="0"/>
        </a:spcAft>
        <a:buFont typeface="Arial"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23" name=""/>
        <p:cNvGrpSpPr/>
        <p:nvPr/>
      </p:nvGrpSpPr>
      <p:grpSpPr>
        <a:xfrm rot="0">
          <a:off x="0" y="0"/>
          <a:ext cx="0" cy="0"/>
          <a:chOff x="0" y="0"/>
          <a:chExt cx="0" cy="0"/>
        </a:xfrm>
      </p:grpSpPr>
      <p:sp>
        <p:nvSpPr>
          <p:cNvPr id="1048666" name="Title Placeholder 1"/>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n-US"/>
              <a:t>Click to edit Master title style</a:t>
            </a:r>
          </a:p>
        </p:txBody>
      </p:sp>
      <p:sp>
        <p:nvSpPr>
          <p:cNvPr id="1048667" name="Text Placeholder 2"/>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668" name="Date Placeholder 3"/>
          <p:cNvSpPr/>
          <p:nvPr>
            <p:ph type="dt" sz="half" idx="2"/>
          </p:nvPr>
        </p:nvSpPr>
        <p:spPr>
          <a:xfrm rot="0">
            <a:off x="457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eaLnBrk="1" hangingPunct="1" lvl="0"/>
            <a:fld id="{566ABCEB-ACFC-4714-9973-3DA970169C29}" type="datetime1">
              <a:rPr altLang="en-US" sz="1200" lang="en-US">
                <a:solidFill>
                  <a:srgbClr val="898989"/>
                </a:solidFill>
              </a:rPr>
              <a:pPr eaLnBrk="1" hangingPunct="1" lvl="0"/>
            </a:fld>
            <a:endParaRPr altLang="en-US" sz="1200" lang="en-US">
              <a:solidFill>
                <a:srgbClr val="898989"/>
              </a:solidFill>
            </a:endParaRPr>
          </a:p>
        </p:txBody>
      </p:sp>
      <p:sp>
        <p:nvSpPr>
          <p:cNvPr id="1048669" name="Footer Placeholder 4"/>
          <p:cNvSpPr/>
          <p:nvPr>
            <p:ph type="ftr" sz="quarter" idx="3"/>
          </p:nvPr>
        </p:nvSpPr>
        <p:spPr>
          <a:xfrm rot="0">
            <a:off x="3124200" y="6356350"/>
            <a:ext cx="2895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ctr" eaLnBrk="1" hangingPunct="1" lvl="0"/>
            <a:r>
              <a:rPr altLang="en-US" sz="1200" lang="en-US">
                <a:solidFill>
                  <a:srgbClr val="898989"/>
                </a:solidFill>
              </a:rPr>
              <a:t>Assist. Prof. Kesorn Sripaoraya</a:t>
            </a:r>
          </a:p>
        </p:txBody>
      </p:sp>
      <p:sp>
        <p:nvSpPr>
          <p:cNvPr id="1048670" name="Slide Number Placeholder 5"/>
          <p:cNvSpPr/>
          <p:nvPr>
            <p:ph type="sldNum" sz="quarter" idx="4"/>
          </p:nvPr>
        </p:nvSpPr>
        <p:spPr>
          <a:xfrm rot="0">
            <a:off x="6553200" y="6356350"/>
            <a:ext cx="2133600" cy="365125"/>
          </a:xfrm>
          <a:prstGeom prst="rect"/>
          <a:noFill/>
          <a:ln>
            <a:noFill/>
          </a:ln>
        </p:spPr>
        <p:txBody>
          <a:bodyPr anchor="ctr"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Calibri" pitchFamily="34" charset="0"/>
                <a:sym typeface="Arial" pitchFamily="0" charset="0"/>
              </a:defRPr>
            </a:lvl5pPr>
          </a:lstStyle>
          <a:p>
            <a:pPr algn="r" eaLnBrk="1" hangingPunct="1" lvl="0"/>
            <a:fld id="{566ABCEB-ACFC-4714-9973-3DA970169C29}" type="slidenum">
              <a:rPr altLang="en-US" sz="1200" lang="en-US">
                <a:solidFill>
                  <a:srgbClr val="898989"/>
                </a:solidFill>
              </a:rPr>
              <a:pPr algn="r" eaLnBrk="1" hangingPunct="1" lvl="0"/>
            </a:fld>
            <a:endParaRPr altLang="en-US" sz="1200" lang="en-US">
              <a:solidFill>
                <a:srgbClr val="898989"/>
              </a:solidFill>
            </a:endParaRPr>
          </a:p>
        </p:txBody>
      </p:sp>
    </p:spTree>
  </p:cSld>
  <p:clrMap accent1="accent1" accent2="accent2" accent3="accent3" accent4="accent4" accent5="accent5" accent6="accent6" bg1="lt1" bg2="dk2" tx1="dk1" tx2="lt2"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Lst>
  <p:hf dt="0" ftr="0" hdr="0" sldNum="0"/>
  <p:txStyles>
    <p:titleStyle>
      <a:lvl1pPr algn="ctr" eaLnBrk="0" fontAlgn="base" hangingPunct="0" rtl="0">
        <a:spcBef>
          <a:spcPct val="0"/>
        </a:spcBef>
        <a:spcAft>
          <a:spcPct val="0"/>
        </a:spcAft>
        <a:defRPr sz="4400" kern="1200">
          <a:solidFill>
            <a:schemeClr val="tx1"/>
          </a:solidFill>
          <a:latin typeface="+mj-lt"/>
          <a:ea typeface="+mj-ea"/>
          <a:cs typeface="+mj-cs"/>
        </a:defRPr>
      </a:lvl1pPr>
      <a:lvl2pPr algn="ctr" eaLnBrk="0" fontAlgn="base" hangingPunct="0" rtl="0">
        <a:spcBef>
          <a:spcPct val="0"/>
        </a:spcBef>
        <a:spcAft>
          <a:spcPct val="0"/>
        </a:spcAft>
        <a:defRPr sz="4400">
          <a:solidFill>
            <a:schemeClr val="tx1"/>
          </a:solidFill>
          <a:latin typeface="Calibri" pitchFamily="34" charset="0"/>
        </a:defRPr>
      </a:lvl2pPr>
      <a:lvl3pPr algn="ctr" eaLnBrk="0" fontAlgn="base" hangingPunct="0" rtl="0">
        <a:spcBef>
          <a:spcPct val="0"/>
        </a:spcBef>
        <a:spcAft>
          <a:spcPct val="0"/>
        </a:spcAft>
        <a:defRPr sz="4400">
          <a:solidFill>
            <a:schemeClr val="tx1"/>
          </a:solidFill>
          <a:latin typeface="Calibri" pitchFamily="34" charset="0"/>
        </a:defRPr>
      </a:lvl3pPr>
      <a:lvl4pPr algn="ctr" eaLnBrk="0" fontAlgn="base" hangingPunct="0" rtl="0">
        <a:spcBef>
          <a:spcPct val="0"/>
        </a:spcBef>
        <a:spcAft>
          <a:spcPct val="0"/>
        </a:spcAft>
        <a:defRPr sz="4400">
          <a:solidFill>
            <a:schemeClr val="tx1"/>
          </a:solidFill>
          <a:latin typeface="Calibri" pitchFamily="34" charset="0"/>
        </a:defRPr>
      </a:lvl4pPr>
      <a:lvl5pPr algn="ctr" eaLnBrk="0" fontAlgn="base" hangingPunct="0" rtl="0">
        <a:spcBef>
          <a:spcPct val="0"/>
        </a:spcBef>
        <a:spcAft>
          <a:spcPct val="0"/>
        </a:spcAft>
        <a:defRPr sz="4400">
          <a:solidFill>
            <a:schemeClr val="tx1"/>
          </a:solidFill>
          <a:latin typeface="Calibri" pitchFamily="34" charset="0"/>
        </a:defRPr>
      </a:lvl5pPr>
      <a:lvl6pPr algn="ctr" fontAlgn="base" marL="457200" rtl="0">
        <a:spcBef>
          <a:spcPct val="0"/>
        </a:spcBef>
        <a:spcAft>
          <a:spcPct val="0"/>
        </a:spcAft>
        <a:defRPr sz="4400">
          <a:solidFill>
            <a:schemeClr val="tx1"/>
          </a:solidFill>
          <a:latin typeface="Calibri" pitchFamily="34" charset="0"/>
        </a:defRPr>
      </a:lvl6pPr>
      <a:lvl7pPr algn="ctr" fontAlgn="base" marL="914400" rtl="0">
        <a:spcBef>
          <a:spcPct val="0"/>
        </a:spcBef>
        <a:spcAft>
          <a:spcPct val="0"/>
        </a:spcAft>
        <a:defRPr sz="4400">
          <a:solidFill>
            <a:schemeClr val="tx1"/>
          </a:solidFill>
          <a:latin typeface="Calibri" pitchFamily="34" charset="0"/>
        </a:defRPr>
      </a:lvl7pPr>
      <a:lvl8pPr algn="ctr" fontAlgn="base" marL="1371600" rtl="0">
        <a:spcBef>
          <a:spcPct val="0"/>
        </a:spcBef>
        <a:spcAft>
          <a:spcPct val="0"/>
        </a:spcAft>
        <a:defRPr sz="4400">
          <a:solidFill>
            <a:schemeClr val="tx1"/>
          </a:solidFill>
          <a:latin typeface="Calibri" pitchFamily="34" charset="0"/>
        </a:defRPr>
      </a:lvl8pPr>
      <a:lvl9pPr algn="ctr" fontAlgn="base" marL="1828800" rtl="0">
        <a:spcBef>
          <a:spcPct val="0"/>
        </a:spcBef>
        <a:spcAft>
          <a:spcPct val="0"/>
        </a:spcAft>
        <a:defRPr sz="4400">
          <a:solidFill>
            <a:schemeClr val="tx1"/>
          </a:solidFill>
          <a:latin typeface="Calibri" pitchFamily="34" charset="0"/>
        </a:defRPr>
      </a:lvl9pPr>
    </p:titleStyle>
    <p:bodyStyle>
      <a:lvl1pPr algn="l" eaLnBrk="0" fontAlgn="base" hangingPunct="0" indent="-342900" marL="342900" rtl="0">
        <a:spcBef>
          <a:spcPct val="20000"/>
        </a:spcBef>
        <a:spcAft>
          <a:spcPct val="0"/>
        </a:spcAft>
        <a:buFont typeface="Arial" charset="0"/>
        <a:buChar char="•"/>
        <a:defRPr sz="3200" kern="1200">
          <a:solidFill>
            <a:schemeClr val="tx1"/>
          </a:solidFill>
          <a:latin typeface="+mn-lt"/>
          <a:ea typeface="+mn-ea"/>
          <a:cs typeface="+mn-cs"/>
        </a:defRPr>
      </a:lvl1pPr>
      <a:lvl2pPr algn="l" eaLnBrk="0" fontAlgn="base" hangingPunct="0" indent="-285750" marL="742950" rtl="0">
        <a:spcBef>
          <a:spcPct val="20000"/>
        </a:spcBef>
        <a:spcAft>
          <a:spcPct val="0"/>
        </a:spcAft>
        <a:buFont typeface="Arial" charset="0"/>
        <a:buChar char="–"/>
        <a:defRPr sz="2800" kern="1200">
          <a:solidFill>
            <a:schemeClr val="tx1"/>
          </a:solidFill>
          <a:latin typeface="+mn-lt"/>
          <a:ea typeface="+mn-ea"/>
          <a:cs typeface="+mn-cs"/>
        </a:defRPr>
      </a:lvl2pPr>
      <a:lvl3pPr algn="l" eaLnBrk="0" fontAlgn="base" hangingPunct="0" indent="-228600" marL="1143000" rtl="0">
        <a:spcBef>
          <a:spcPct val="20000"/>
        </a:spcBef>
        <a:spcAft>
          <a:spcPct val="0"/>
        </a:spcAft>
        <a:buFont typeface="Arial" charset="0"/>
        <a:buChar char="•"/>
        <a:defRPr sz="2400" kern="1200">
          <a:solidFill>
            <a:schemeClr val="tx1"/>
          </a:solidFill>
          <a:latin typeface="+mn-lt"/>
          <a:ea typeface="+mn-ea"/>
          <a:cs typeface="+mn-cs"/>
        </a:defRPr>
      </a:lvl3pPr>
      <a:lvl4pPr algn="l" eaLnBrk="0" fontAlgn="base" hangingPunct="0" indent="-228600" marL="1600200" rtl="0">
        <a:spcBef>
          <a:spcPct val="20000"/>
        </a:spcBef>
        <a:spcAft>
          <a:spcPct val="0"/>
        </a:spcAft>
        <a:buFont typeface="Arial" charset="0"/>
        <a:buChar char="–"/>
        <a:defRPr sz="2000" kern="1200">
          <a:solidFill>
            <a:schemeClr val="tx1"/>
          </a:solidFill>
          <a:latin typeface="+mn-lt"/>
          <a:ea typeface="+mn-ea"/>
          <a:cs typeface="+mn-cs"/>
        </a:defRPr>
      </a:lvl4pPr>
      <a:lvl5pPr algn="l" eaLnBrk="0" fontAlgn="base" hangingPunct="0" indent="-228600" marL="2057400" rtl="0">
        <a:spcBef>
          <a:spcPct val="20000"/>
        </a:spcBef>
        <a:spcAft>
          <a:spcPct val="0"/>
        </a:spcAft>
        <a:buFont typeface="Arial"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hyperlink" Target="http://biodidac.bio.uottawa.ca/Thumbnails/showimage.cfm?File_name=T4-20A&amp;File_type=GIF" TargetMode="External"/><Relationship Id="rId3" Type="http://schemas.openxmlformats.org/officeDocument/2006/relationships/image" Target="../media/image6.png"/><Relationship Id="rId4" Type="http://schemas.openxmlformats.org/officeDocument/2006/relationships/slideLayout" Target="../slideLayouts/slideLayout62.xml"/></Relationships>
</file>

<file path=ppt/slides/_rels/slide7.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slideLayout" Target="../slideLayouts/slideLayout66.xml"/><Relationship Id="rId5"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jpeg"/><Relationship Id="rId3" Type="http://schemas.openxmlformats.org/officeDocument/2006/relationships/slideLayout" Target="../slideLayouts/slideLayout67.xml"/><Relationship Id="rId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64.xml"/></Relationships>
</file>

<file path=ppt/slides/_rels/slide14.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1" Type="http://schemas.openxmlformats.org/officeDocument/2006/relationships/image" Target="../media/image42.gif"/><Relationship Id="rId2"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image" Target="../media/image45.jpeg"/><Relationship Id="rId2"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image" Target="../media/image46.jpeg"/><Relationship Id="rId2" Type="http://schemas.openxmlformats.org/officeDocument/2006/relationships/image" Target="../media/image47.jpeg"/><Relationship Id="rId3" Type="http://schemas.openxmlformats.org/officeDocument/2006/relationships/image" Target="../media/image48.jpeg"/><Relationship Id="rId4"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jpeg"/><Relationship Id="rId3"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30" name=""/>
        <p:cNvGrpSpPr/>
        <p:nvPr/>
      </p:nvGrpSpPr>
      <p:grpSpPr>
        <a:xfrm rot="0">
          <a:off x="0" y="0"/>
          <a:ext cx="0" cy="0"/>
          <a:chOff x="0" y="0"/>
          <a:chExt cx="0" cy="0"/>
        </a:xfrm>
      </p:grpSpPr>
      <p:sp>
        <p:nvSpPr>
          <p:cNvPr id="1048584" name="TextBox 4"/>
          <p:cNvSpPr txBox="1"/>
          <p:nvPr/>
        </p:nvSpPr>
        <p:spPr>
          <a:xfrm rot="0">
            <a:off x="1912937" y="2041525"/>
            <a:ext cx="4107181" cy="815341"/>
          </a:xfrm>
          <a:prstGeom prst="rect"/>
          <a:noFill/>
          <a:ln>
            <a:noFill/>
          </a:ln>
        </p:spPr>
        <p:txBody>
          <a:bodyPr anchor="t" bIns="45720" lIns="91440" rIns="91440" tIns="45720" vert="horz" wrap="none">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0"/>
              </a:spcBef>
              <a:buFontTx/>
              <a:buNone/>
            </a:pPr>
            <a:r>
              <a:rPr altLang="en-US" sz="4800" lang="en-US">
                <a:solidFill>
                  <a:srgbClr val="003399"/>
                </a:solidFill>
                <a:latin typeface="Cooper Black" pitchFamily="18" charset="0"/>
              </a:rPr>
              <a:t>Basic Tissues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1" showMasterSp="1">
  <p:cSld>
    <p:spTree>
      <p:nvGrpSpPr>
        <p:cNvPr id="108" name=""/>
        <p:cNvGrpSpPr/>
        <p:nvPr/>
      </p:nvGrpSpPr>
      <p:grpSpPr>
        <a:xfrm rot="0">
          <a:off x="0" y="0"/>
          <a:ext cx="0" cy="0"/>
          <a:chOff x="0" y="0"/>
          <a:chExt cx="0" cy="0"/>
        </a:xfrm>
      </p:grpSpPr>
      <p:sp>
        <p:nvSpPr>
          <p:cNvPr id="1048616" name="Title 1"/>
          <p:cNvSpPr/>
          <p:nvPr>
            <p:ph type="title" sz="full" idx="0"/>
          </p:nvPr>
        </p:nvSpPr>
        <p:spPr>
          <a:xfrm rot="0">
            <a:off x="457200" y="165100"/>
            <a:ext cx="8229600" cy="5207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lvl="0"/>
            <a:r>
              <a:rPr altLang="en-US" b="1" lang="en-US">
                <a:solidFill>
                  <a:srgbClr val="6600CC"/>
                </a:solidFill>
              </a:rPr>
              <a:t>Epithelium and CT </a:t>
            </a:r>
          </a:p>
        </p:txBody>
      </p:sp>
      <p:sp>
        <p:nvSpPr>
          <p:cNvPr id="1048617" name="TextBox 6"/>
          <p:cNvSpPr txBox="1"/>
          <p:nvPr/>
        </p:nvSpPr>
        <p:spPr>
          <a:xfrm rot="0">
            <a:off x="6484937" y="5514975"/>
            <a:ext cx="731837" cy="584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lang="en-US">
                <a:latin typeface="Arial" pitchFamily="0" charset="0"/>
                <a:ea typeface="Arial" pitchFamily="0" charset="0"/>
              </a:rPr>
              <a:t>CT</a:t>
            </a:r>
          </a:p>
        </p:txBody>
      </p:sp>
      <p:sp>
        <p:nvSpPr>
          <p:cNvPr id="1048618" name="TextBox 7"/>
          <p:cNvSpPr txBox="1"/>
          <p:nvPr/>
        </p:nvSpPr>
        <p:spPr>
          <a:xfrm rot="0">
            <a:off x="619125" y="2546350"/>
            <a:ext cx="350837" cy="891540"/>
          </a:xfrm>
          <a:prstGeom prst="rect"/>
          <a:solidFill>
            <a:srgbClr val="DDD9C3"/>
          </a:solid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endParaRPr altLang="en-US" lang="en-US"/>
          </a:p>
          <a:p>
            <a:pPr eaLnBrk="1" hangingPunct="1" lvl="0"/>
            <a:endParaRPr altLang="en-US" lang="en-US"/>
          </a:p>
          <a:p>
            <a:pPr eaLnBrk="1" hangingPunct="1" lvl="0"/>
            <a:endParaRPr altLang="en-US" lang="en-US"/>
          </a:p>
        </p:txBody>
      </p:sp>
      <p:pic>
        <p:nvPicPr>
          <p:cNvPr id="2097154" name="Picture 2" descr="C:\from desktop\blood cells and hematopoiesis\male reprod system\epididymis4.tif"/>
          <p:cNvPicPr>
            <a:picLocks/>
          </p:cNvPicPr>
          <p:nvPr/>
        </p:nvPicPr>
        <p:blipFill>
          <a:blip xmlns:r="http://schemas.openxmlformats.org/officeDocument/2006/relationships" r:embed="rId1"/>
          <a:srcRect l="0" t="0" r="0" b="0"/>
          <a:stretch>
            <a:fillRect/>
          </a:stretch>
        </p:blipFill>
        <p:spPr>
          <a:xfrm rot="0">
            <a:off x="195262" y="928687"/>
            <a:ext cx="8769350" cy="5621337"/>
          </a:xfrm>
          <a:prstGeom prst="rect"/>
          <a:noFill/>
          <a:ln>
            <a:noFill/>
          </a:ln>
        </p:spPr>
      </p:pic>
      <p:sp>
        <p:nvSpPr>
          <p:cNvPr id="1048619" name="TextBox 8"/>
          <p:cNvSpPr txBox="1"/>
          <p:nvPr/>
        </p:nvSpPr>
        <p:spPr>
          <a:xfrm rot="0">
            <a:off x="6846887" y="3703637"/>
            <a:ext cx="731837" cy="584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lang="en-US">
                <a:latin typeface="Arial" pitchFamily="0" charset="0"/>
                <a:ea typeface="Arial" pitchFamily="0" charset="0"/>
              </a:rPr>
              <a:t>CT</a:t>
            </a:r>
          </a:p>
        </p:txBody>
      </p:sp>
    </p:spTree>
  </p:cSld>
  <p:clrMapOvr>
    <a:masterClrMapping/>
  </p:clrMapOvr>
  <p:transition spd="fast" advClick="1" advTm="22000"/>
</p:sld>
</file>

<file path=ppt/slides/slide3.xml><?xml version="1.0" encoding="utf-8"?>
<p:sld xmlns:a="http://schemas.openxmlformats.org/drawingml/2006/main" xmlns:r="http://schemas.openxmlformats.org/officeDocument/2006/relationships" xmlns:p="http://schemas.openxmlformats.org/presentationml/2006/main" show="1" showMasterSp="1">
  <p:cSld>
    <p:spTree>
      <p:nvGrpSpPr>
        <p:cNvPr id="122" name=""/>
        <p:cNvGrpSpPr/>
        <p:nvPr/>
      </p:nvGrpSpPr>
      <p:grpSpPr>
        <a:xfrm rot="0">
          <a:off x="0" y="0"/>
          <a:ext cx="0" cy="0"/>
          <a:chOff x="0" y="0"/>
          <a:chExt cx="0" cy="0"/>
        </a:xfrm>
      </p:grpSpPr>
      <p:sp>
        <p:nvSpPr>
          <p:cNvPr id="1048664" name="Title 1"/>
          <p:cNvSpPr/>
          <p:nvPr>
            <p:ph type="ctrTitle" sz="full" idx="0"/>
          </p:nvPr>
        </p:nvSpPr>
        <p:spPr>
          <a:xfrm rot="0">
            <a:off x="609600" y="0"/>
            <a:ext cx="8077200" cy="533400"/>
          </a:xfrm>
          <a:prstGeom prst="rect"/>
          <a:noFill/>
          <a:ln>
            <a:noFill/>
          </a:ln>
        </p:spPr>
        <p:txBody>
          <a:bodyPr anchor="t" bIns="45720" lIns="91440" rIns="91440" tIns="45720" vert="horz"/>
          <a:lstStyle>
            <a:lvl1pPr algn="ctr">
              <a:defRPr sz="4400"/>
            </a:lvl1pPr>
          </a:lstStyle>
          <a:p>
            <a:pPr eaLnBrk="1" hangingPunct="1" lvl="0"/>
            <a:r>
              <a:rPr altLang="en-US" b="1" sz="3200" lang="en-US">
                <a:solidFill>
                  <a:srgbClr val="0070C0"/>
                </a:solidFill>
              </a:rPr>
              <a:t>Ordinary Connective Tissue Cells</a:t>
            </a:r>
          </a:p>
        </p:txBody>
      </p:sp>
      <p:sp>
        <p:nvSpPr>
          <p:cNvPr id="1048665" name="Rectangle 3"/>
          <p:cNvSpPr/>
          <p:nvPr>
            <p:ph type="subTitle" sz="full" idx="1"/>
          </p:nvPr>
        </p:nvSpPr>
        <p:spPr>
          <a:xfrm rot="0">
            <a:off x="0" y="533400"/>
            <a:ext cx="9144000" cy="6324600"/>
          </a:xfrm>
          <a:prstGeom prst="rect"/>
          <a:noFill/>
          <a:ln>
            <a:noFill/>
          </a:ln>
        </p:spPr>
        <p:txBody>
          <a:bodyPr anchor="t" bIns="45720" lIns="91440" rIns="91440" tIns="45720" vert="horz"/>
          <a:lstStyle>
            <a:lvl1pPr algn="ctr" marL="0">
              <a:buFontTx/>
              <a:buNone/>
              <a:defRPr sz="3200">
                <a:solidFill>
                  <a:schemeClr val="dk1"/>
                </a:solidFill>
              </a:defRPr>
            </a:lvl1pPr>
            <a:lvl2pPr algn="ctr" marL="457200">
              <a:buFontTx/>
              <a:buNone/>
            </a:lvl2pPr>
            <a:lvl3pPr algn="ctr" marL="914400">
              <a:buFontTx/>
              <a:buNone/>
            </a:lvl3pPr>
            <a:lvl4pPr algn="ctr" marL="1371600">
              <a:buFontTx/>
              <a:buNone/>
            </a:lvl4pPr>
            <a:lvl5pPr algn="ctr" marL="1828800">
              <a:buFontTx/>
              <a:buNone/>
            </a:lvl5pPr>
          </a:lstStyle>
          <a:p>
            <a:pPr algn="l" eaLnBrk="1" hangingPunct="1" indent="-609600" lvl="0" marL="609600">
              <a:spcBef>
                <a:spcPts val="600"/>
              </a:spcBef>
              <a:buFont typeface="Wingdings 2" pitchFamily="18" charset="2"/>
              <a:buNone/>
            </a:pPr>
            <a:r>
              <a:rPr altLang="en-US" b="1" sz="3600" lang="en-US">
                <a:solidFill>
                  <a:srgbClr val="FF0066"/>
                </a:solidFill>
                <a:latin typeface="Calibri" pitchFamily="34" charset="0"/>
              </a:rPr>
              <a:t>Fixed (Resident) cells</a:t>
            </a:r>
          </a:p>
          <a:p>
            <a:pPr algn="l" eaLnBrk="1" hangingPunct="1" indent="-609600" lvl="0" marL="609600">
              <a:spcBef>
                <a:spcPct val="0"/>
              </a:spcBef>
              <a:buFont typeface="Calibri" pitchFamily="34" charset="0"/>
              <a:buChar char="–"/>
            </a:pPr>
            <a:r>
              <a:rPr altLang="en-US" b="1" lang="en-US">
                <a:solidFill>
                  <a:srgbClr val="9900FF"/>
                </a:solidFill>
                <a:latin typeface="Calibri" pitchFamily="34" charset="0"/>
              </a:rPr>
              <a:t>Fibroblasts and fibrocytes </a:t>
            </a:r>
          </a:p>
          <a:p>
            <a:pPr algn="l" eaLnBrk="1" hangingPunct="1" indent="-609600" lvl="0" marL="609600">
              <a:spcBef>
                <a:spcPct val="0"/>
              </a:spcBef>
              <a:buFont typeface="Calibri" pitchFamily="34" charset="0"/>
              <a:buChar char="–"/>
            </a:pPr>
            <a:r>
              <a:rPr altLang="en-US" b="1" lang="en-US">
                <a:solidFill>
                  <a:srgbClr val="9900FF"/>
                </a:solidFill>
                <a:latin typeface="Calibri" pitchFamily="34" charset="0"/>
              </a:rPr>
              <a:t>Reticular cells</a:t>
            </a:r>
          </a:p>
          <a:p>
            <a:pPr algn="l" eaLnBrk="1" hangingPunct="1" indent="-609600" lvl="0" marL="609600">
              <a:spcBef>
                <a:spcPct val="0"/>
              </a:spcBef>
              <a:buFont typeface="Calibri" pitchFamily="34" charset="0"/>
              <a:buChar char="–"/>
            </a:pPr>
            <a:r>
              <a:rPr altLang="en-US" b="1" lang="en-US">
                <a:solidFill>
                  <a:srgbClr val="9900FF"/>
                </a:solidFill>
                <a:latin typeface="Calibri" pitchFamily="34" charset="0"/>
              </a:rPr>
              <a:t>Myofibroblasts </a:t>
            </a:r>
            <a:r>
              <a:rPr altLang="en-US" b="1" sz="2400" lang="en-US">
                <a:solidFill>
                  <a:srgbClr val="FF0066"/>
                </a:solidFill>
                <a:latin typeface="Calibri" pitchFamily="34" charset="0"/>
              </a:rPr>
              <a:t>(observed during wound healing)</a:t>
            </a:r>
          </a:p>
          <a:p>
            <a:pPr algn="l" eaLnBrk="1" hangingPunct="1" indent="-609600" lvl="0" marL="609600">
              <a:spcBef>
                <a:spcPct val="0"/>
              </a:spcBef>
              <a:buFont typeface="Calibri" pitchFamily="34" charset="0"/>
              <a:buChar char="–"/>
            </a:pPr>
            <a:r>
              <a:rPr altLang="en-US" b="1" lang="en-US">
                <a:solidFill>
                  <a:srgbClr val="9900FF"/>
                </a:solidFill>
                <a:latin typeface="Calibri" pitchFamily="34" charset="0"/>
              </a:rPr>
              <a:t>Adipocytes/Fat cells </a:t>
            </a:r>
            <a:r>
              <a:rPr altLang="en-US" b="1" sz="2800" lang="en-US">
                <a:solidFill>
                  <a:srgbClr val="9900FF"/>
                </a:solidFill>
                <a:latin typeface="Calibri" pitchFamily="34" charset="0"/>
              </a:rPr>
              <a:t>(white or yellow and brown)</a:t>
            </a:r>
          </a:p>
          <a:p>
            <a:pPr algn="l" eaLnBrk="1" hangingPunct="1" indent="-609600" lvl="0" marL="609600">
              <a:spcBef>
                <a:spcPct val="0"/>
              </a:spcBef>
              <a:buFont typeface="Calibri" pitchFamily="34" charset="0"/>
              <a:buChar char="–"/>
            </a:pPr>
            <a:r>
              <a:rPr altLang="en-US" b="1" lang="en-US">
                <a:solidFill>
                  <a:srgbClr val="9900FF"/>
                </a:solidFill>
                <a:latin typeface="Calibri" pitchFamily="34" charset="0"/>
              </a:rPr>
              <a:t>Mast cells</a:t>
            </a:r>
          </a:p>
          <a:p>
            <a:pPr algn="l" eaLnBrk="1" hangingPunct="1" indent="-609600" lvl="0" marL="609600">
              <a:spcBef>
                <a:spcPct val="0"/>
              </a:spcBef>
              <a:buFont typeface="Calibri" pitchFamily="34" charset="0"/>
              <a:buChar char="–"/>
            </a:pPr>
            <a:r>
              <a:rPr altLang="en-US" b="1" sz="2800" lang="en-US">
                <a:solidFill>
                  <a:srgbClr val="9900FF"/>
                </a:solidFill>
                <a:latin typeface="Calibri" pitchFamily="34" charset="0"/>
              </a:rPr>
              <a:t>Fixed macrophages (histiocytes), mesenchymal cells</a:t>
            </a:r>
          </a:p>
          <a:p>
            <a:pPr algn="l" eaLnBrk="1" hangingPunct="1" indent="-609600" lvl="0" marL="609600">
              <a:spcBef>
                <a:spcPts val="600"/>
              </a:spcBef>
            </a:pPr>
            <a:r>
              <a:rPr altLang="en-US" b="1" lang="en-US">
                <a:solidFill>
                  <a:srgbClr val="FF0066"/>
                </a:solidFill>
                <a:latin typeface="Calibri" pitchFamily="34" charset="0"/>
              </a:rPr>
              <a:t>Transient or Wandering cells</a:t>
            </a:r>
          </a:p>
          <a:p>
            <a:pPr algn="l" eaLnBrk="1" hangingPunct="1" indent="-481012" lvl="1" marL="1082675">
              <a:spcBef>
                <a:spcPct val="0"/>
              </a:spcBef>
              <a:buClr>
                <a:srgbClr val="FF00FF"/>
              </a:buClr>
              <a:buFont typeface="Calibri" pitchFamily="34" charset="0"/>
              <a:buChar char="–"/>
            </a:pPr>
            <a:r>
              <a:rPr altLang="en-US" b="1" lang="en-US">
                <a:solidFill>
                  <a:srgbClr val="9900FF"/>
                </a:solidFill>
                <a:latin typeface="Calibri" pitchFamily="34" charset="0"/>
              </a:rPr>
              <a:t>Plasma cells                           </a:t>
            </a:r>
          </a:p>
          <a:p>
            <a:pPr algn="l" eaLnBrk="1" hangingPunct="1" indent="-481012" lvl="1" marL="1082675">
              <a:spcBef>
                <a:spcPct val="0"/>
              </a:spcBef>
              <a:buClr>
                <a:srgbClr val="FF00FF"/>
              </a:buClr>
              <a:buFont typeface="Calibri" pitchFamily="34" charset="0"/>
              <a:buChar char="–"/>
            </a:pPr>
            <a:r>
              <a:rPr altLang="en-US" b="1" lang="en-US">
                <a:solidFill>
                  <a:srgbClr val="9900FF"/>
                </a:solidFill>
                <a:latin typeface="Calibri" pitchFamily="34" charset="0"/>
              </a:rPr>
              <a:t>Neutrophils</a:t>
            </a:r>
          </a:p>
          <a:p>
            <a:pPr algn="l" eaLnBrk="1" hangingPunct="1" indent="-481012" lvl="1" marL="1082675">
              <a:spcBef>
                <a:spcPct val="0"/>
              </a:spcBef>
              <a:buClr>
                <a:srgbClr val="FF00FF"/>
              </a:buClr>
              <a:buFont typeface="Calibri" pitchFamily="34" charset="0"/>
              <a:buChar char="–"/>
            </a:pPr>
            <a:r>
              <a:rPr altLang="en-US" b="1" lang="en-US">
                <a:solidFill>
                  <a:srgbClr val="9900FF"/>
                </a:solidFill>
                <a:latin typeface="Calibri" pitchFamily="34" charset="0"/>
              </a:rPr>
              <a:t>Eosinophils</a:t>
            </a:r>
          </a:p>
          <a:p>
            <a:pPr algn="l" eaLnBrk="1" hangingPunct="1" indent="-481012" lvl="1" marL="1082675">
              <a:spcBef>
                <a:spcPct val="0"/>
              </a:spcBef>
              <a:buClr>
                <a:srgbClr val="FF00FF"/>
              </a:buClr>
              <a:buFont typeface="Calibri" pitchFamily="34" charset="0"/>
              <a:buChar char="–"/>
            </a:pPr>
            <a:r>
              <a:rPr altLang="en-US" b="1" lang="en-US">
                <a:solidFill>
                  <a:srgbClr val="9900FF"/>
                </a:solidFill>
                <a:latin typeface="Calibri" pitchFamily="34" charset="0"/>
              </a:rPr>
              <a:t>Basophils</a:t>
            </a:r>
          </a:p>
          <a:p>
            <a:pPr algn="l" eaLnBrk="1" hangingPunct="1" indent="-481012" lvl="1" marL="1082675">
              <a:spcBef>
                <a:spcPct val="0"/>
              </a:spcBef>
              <a:buClr>
                <a:srgbClr val="FF00FF"/>
              </a:buClr>
              <a:buFont typeface="Calibri" pitchFamily="34" charset="0"/>
              <a:buChar char="–"/>
            </a:pPr>
            <a:r>
              <a:rPr altLang="en-US" b="1" lang="en-US">
                <a:solidFill>
                  <a:srgbClr val="9900FF"/>
                </a:solidFill>
                <a:latin typeface="Calibri" pitchFamily="34" charset="0"/>
              </a:rPr>
              <a:t>Lymphocytes, monocytes &amp; Transient macrophages</a:t>
            </a:r>
          </a:p>
        </p:txBody>
      </p:sp>
    </p:spTree>
  </p:cSld>
  <p:clrMapOvr>
    <a:masterClrMapping/>
  </p:clrMapOvr>
  <p:transition spd="slow" advClick="1"/>
</p:sld>
</file>

<file path=ppt/slides/slide4.xml><?xml version="1.0" encoding="utf-8"?>
<p:sld xmlns:a="http://schemas.openxmlformats.org/drawingml/2006/main" xmlns:r="http://schemas.openxmlformats.org/officeDocument/2006/relationships" xmlns:p="http://schemas.openxmlformats.org/presentationml/2006/main" show="1" showMasterSp="1">
  <p:cSld>
    <p:spTree>
      <p:nvGrpSpPr>
        <p:cNvPr id="141" name=""/>
        <p:cNvGrpSpPr/>
        <p:nvPr/>
      </p:nvGrpSpPr>
      <p:grpSpPr>
        <a:xfrm rot="0">
          <a:off x="0" y="0"/>
          <a:ext cx="0" cy="0"/>
          <a:chOff x="0" y="0"/>
          <a:chExt cx="0" cy="0"/>
        </a:xfrm>
      </p:grpSpPr>
      <p:sp>
        <p:nvSpPr>
          <p:cNvPr id="1048676" name="Title 1"/>
          <p:cNvSpPr/>
          <p:nvPr>
            <p:ph type="title" sz="full" idx="0"/>
          </p:nvPr>
        </p:nvSpPr>
        <p:spPr>
          <a:xfrm rot="0">
            <a:off x="0" y="0"/>
            <a:ext cx="9144000" cy="17526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algn="l" eaLnBrk="1" hangingPunct="1" lvl="0"/>
            <a:r>
              <a:rPr altLang="en-US" b="1" sz="2200" lang="en-US">
                <a:solidFill>
                  <a:srgbClr val="FF0000"/>
                </a:solidFill>
              </a:rPr>
              <a:t>Mesenchyme:</a:t>
            </a:r>
            <a:r>
              <a:rPr altLang="en-US" b="1" sz="2200" lang="en-US">
                <a:solidFill>
                  <a:srgbClr val="002060"/>
                </a:solidFill>
              </a:rPr>
              <a:t> consists of m</a:t>
            </a:r>
            <a:r>
              <a:rPr altLang="en-US" b="1" sz="2200" lang="en-GB">
                <a:solidFill>
                  <a:srgbClr val="9900FF"/>
                </a:solidFill>
              </a:rPr>
              <a:t>esenchymal cells surrounded by an extracellular matrix which they produced and which in turn consists largely of a simple loose ground substance rich in hyaluranon (hyaluronic acid). This section is stained with Masson trichrome which stains collagen fibers green and the lack of collagen in mesenchyme is apparent.</a:t>
            </a:r>
          </a:p>
        </p:txBody>
      </p:sp>
      <p:pic>
        <p:nvPicPr>
          <p:cNvPr id="2097162" name="Picture 2"/>
          <p:cNvPicPr>
            <a:picLocks/>
          </p:cNvPicPr>
          <p:nvPr>
            <p:ph sz="full" idx="1"/>
          </p:nvPr>
        </p:nvPicPr>
        <p:blipFill>
          <a:blip xmlns:r="http://schemas.openxmlformats.org/officeDocument/2006/relationships" r:embed="rId1"/>
          <a:srcRect l="0" t="0" r="0" b="0"/>
          <a:stretch>
            <a:fillRect/>
          </a:stretch>
        </p:blipFill>
        <p:spPr>
          <a:xfrm rot="0">
            <a:off x="1143000" y="1752600"/>
            <a:ext cx="7300912" cy="4913312"/>
          </a:xfrm>
          <a:prstGeom prst="rect"/>
          <a:noFill/>
          <a:ln>
            <a:noFill/>
          </a:ln>
        </p:spPr>
      </p:pic>
    </p:spTree>
  </p:cSld>
  <p:clrMapOvr>
    <a:masterClrMapping/>
  </p:clrMapOvr>
  <p:transition spd="fast" advClick="1"/>
</p:sld>
</file>

<file path=ppt/slides/slide5.xml><?xml version="1.0" encoding="utf-8"?>
<p:sld xmlns:a="http://schemas.openxmlformats.org/drawingml/2006/main" xmlns:r="http://schemas.openxmlformats.org/officeDocument/2006/relationships" xmlns:p="http://schemas.openxmlformats.org/presentationml/2006/main" show="1" showMasterSp="1">
  <p:cSld>
    <p:spTree>
      <p:nvGrpSpPr>
        <p:cNvPr id="143" name=""/>
        <p:cNvGrpSpPr/>
        <p:nvPr/>
      </p:nvGrpSpPr>
      <p:grpSpPr>
        <a:xfrm rot="0">
          <a:off x="0" y="0"/>
          <a:ext cx="0" cy="0"/>
          <a:chOff x="0" y="0"/>
          <a:chExt cx="0" cy="0"/>
        </a:xfrm>
      </p:grpSpPr>
      <p:sp>
        <p:nvSpPr>
          <p:cNvPr id="1048683" name="Title 1"/>
          <p:cNvSpPr/>
          <p:nvPr>
            <p:ph type="title" sz="full" idx="0"/>
          </p:nvPr>
        </p:nvSpPr>
        <p:spPr>
          <a:xfrm rot="0">
            <a:off x="2654300" y="0"/>
            <a:ext cx="3136900" cy="381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600" lang="en-US">
                <a:solidFill>
                  <a:srgbClr val="FF0000"/>
                </a:solidFill>
              </a:rPr>
              <a:t>FIBROBLASTS</a:t>
            </a:r>
          </a:p>
        </p:txBody>
      </p:sp>
      <p:sp>
        <p:nvSpPr>
          <p:cNvPr id="1048684" name="Rectangle 3"/>
          <p:cNvSpPr/>
          <p:nvPr>
            <p:ph sz="half" idx="1"/>
          </p:nvPr>
        </p:nvSpPr>
        <p:spPr>
          <a:xfrm rot="0">
            <a:off x="0" y="736274"/>
            <a:ext cx="5579353" cy="6121726"/>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396875" lvl="1" marL="396875">
              <a:spcBef>
                <a:spcPct val="0"/>
              </a:spcBef>
              <a:buFont typeface="Calibri" pitchFamily="34" charset="0"/>
              <a:buChar char="–"/>
            </a:pPr>
            <a:r>
              <a:rPr altLang="en-US" sz="2400" lang="en-US">
                <a:solidFill>
                  <a:srgbClr val="0070C0"/>
                </a:solidFill>
              </a:rPr>
              <a:t>Fibro = fiber,  blast = forming/making</a:t>
            </a:r>
            <a:endParaRPr sz="2000"/>
          </a:p>
          <a:p>
            <a:pPr eaLnBrk="1" hangingPunct="1" indent="-396875" lvl="1" marL="396875">
              <a:spcBef>
                <a:spcPct val="0"/>
              </a:spcBef>
              <a:buFont typeface="Calibri" pitchFamily="34" charset="0"/>
              <a:buChar char="–"/>
            </a:pPr>
            <a:r>
              <a:rPr altLang="en-US" sz="2400" lang="en-US">
                <a:solidFill>
                  <a:srgbClr val="9900FF"/>
                </a:solidFill>
              </a:rPr>
              <a:t>Elongated fusiform cells with pale staining cytoplasm and large granular, ovoid nucleus with prominent nucleoli reflecting active protein synthesis.</a:t>
            </a:r>
            <a:endParaRPr sz="2000"/>
          </a:p>
          <a:p>
            <a:pPr eaLnBrk="1" hangingPunct="1" indent="-396875" lvl="1" marL="396875">
              <a:spcBef>
                <a:spcPct val="0"/>
              </a:spcBef>
              <a:buFont typeface="Calibri" pitchFamily="34" charset="0"/>
              <a:buChar char="–"/>
            </a:pPr>
            <a:r>
              <a:rPr altLang="en-US" sz="2400" lang="en-US">
                <a:solidFill>
                  <a:srgbClr val="0070C0"/>
                </a:solidFill>
              </a:rPr>
              <a:t>produce extracellular matrix (fibers and ground substance) in ordinary CTs.</a:t>
            </a:r>
            <a:endParaRPr sz="2000"/>
          </a:p>
          <a:p>
            <a:pPr eaLnBrk="1" hangingPunct="1" indent="-396875" lvl="0" marL="396875">
              <a:spcBef>
                <a:spcPct val="0"/>
              </a:spcBef>
              <a:buSzPct val="97000"/>
              <a:buFont typeface="Calibri" pitchFamily="34" charset="0"/>
              <a:buChar char="–"/>
            </a:pPr>
            <a:r>
              <a:rPr altLang="en-US" sz="2400" lang="en-US">
                <a:solidFill>
                  <a:srgbClr val="0070C0"/>
                </a:solidFill>
              </a:rPr>
              <a:t>derived from undifferentiated mesenchymal cells.</a:t>
            </a:r>
            <a:endParaRPr sz="2000"/>
          </a:p>
          <a:p>
            <a:pPr eaLnBrk="1" hangingPunct="1" indent="-396875" lvl="0" marL="396875">
              <a:spcBef>
                <a:spcPct val="0"/>
              </a:spcBef>
              <a:buSzPct val="97000"/>
              <a:buFont typeface="Calibri" pitchFamily="34" charset="0"/>
              <a:buChar char="–"/>
            </a:pPr>
            <a:r>
              <a:rPr altLang="en-US" sz="2400" lang="en-US">
                <a:solidFill>
                  <a:srgbClr val="0070C0"/>
                </a:solidFill>
              </a:rPr>
              <a:t>Present nearby collagen fibers</a:t>
            </a:r>
            <a:r>
              <a:rPr altLang="en-US" sz="2400" lang="en-US"/>
              <a:t>.</a:t>
            </a:r>
            <a:endParaRPr sz="2000"/>
          </a:p>
          <a:p>
            <a:pPr eaLnBrk="1" hangingPunct="1" indent="-396875" lvl="1" marL="396875">
              <a:spcBef>
                <a:spcPct val="0"/>
              </a:spcBef>
              <a:buFont typeface="Calibri" pitchFamily="34" charset="0"/>
              <a:buChar char="–"/>
            </a:pPr>
            <a:r>
              <a:rPr altLang="en-US" b="1" sz="2400" lang="en-US">
                <a:solidFill>
                  <a:srgbClr val="7030A0"/>
                </a:solidFill>
              </a:rPr>
              <a:t>Fibrocytes</a:t>
            </a:r>
            <a:r>
              <a:rPr altLang="en-US" sz="2400" lang="en-US">
                <a:solidFill>
                  <a:srgbClr val="7030A0"/>
                </a:solidFill>
              </a:rPr>
              <a:t> are inactive/quiescent forms of fibroblasts characterized by flattened condensed nucleus.</a:t>
            </a:r>
          </a:p>
        </p:txBody>
      </p:sp>
      <p:pic>
        <p:nvPicPr>
          <p:cNvPr id="2097163" name="Picture 4" descr="File0004"/>
          <p:cNvPicPr>
            <a:picLocks/>
          </p:cNvPicPr>
          <p:nvPr>
            <p:ph sz="half" idx="2"/>
          </p:nvPr>
        </p:nvPicPr>
        <p:blipFill>
          <a:blip xmlns:r="http://schemas.openxmlformats.org/officeDocument/2006/relationships" r:embed="rId1"/>
          <a:srcRect l="0" t="0" r="0" b="0"/>
          <a:stretch>
            <a:fillRect/>
          </a:stretch>
        </p:blipFill>
        <p:spPr>
          <a:xfrm rot="0">
            <a:off x="5612069" y="685800"/>
            <a:ext cx="3531931" cy="5867400"/>
          </a:xfrm>
          <a:prstGeom prst="rect"/>
          <a:noFill/>
          <a:ln>
            <a:noFill/>
          </a:ln>
        </p:spPr>
      </p:pic>
    </p:spTree>
  </p:cSld>
  <p:clrMapOvr>
    <a:masterClrMapping/>
  </p:clrMapOvr>
  <p:transition spd="fast" advClick="1"/>
</p:sld>
</file>

<file path=ppt/slides/slide6.xml><?xml version="1.0" encoding="utf-8"?>
<p:sld xmlns:a="http://schemas.openxmlformats.org/drawingml/2006/main" xmlns:r="http://schemas.openxmlformats.org/officeDocument/2006/relationships" xmlns:p="http://schemas.openxmlformats.org/presentationml/2006/main" show="1" showMasterSp="1">
  <p:cSld>
    <p:spTree>
      <p:nvGrpSpPr>
        <p:cNvPr id="144" name=""/>
        <p:cNvGrpSpPr/>
        <p:nvPr/>
      </p:nvGrpSpPr>
      <p:grpSpPr>
        <a:xfrm rot="0">
          <a:off x="0" y="0"/>
          <a:ext cx="0" cy="0"/>
          <a:chOff x="0" y="0"/>
          <a:chExt cx="0" cy="0"/>
        </a:xfrm>
      </p:grpSpPr>
      <p:sp>
        <p:nvSpPr>
          <p:cNvPr id="1048685" name="Title 1"/>
          <p:cNvSpPr/>
          <p:nvPr>
            <p:ph type="title" sz="full" idx="0"/>
          </p:nvPr>
        </p:nvSpPr>
        <p:spPr>
          <a:xfrm rot="0">
            <a:off x="0" y="0"/>
            <a:ext cx="9144000" cy="1417637"/>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algn="just" eaLnBrk="1" hangingPunct="1" lvl="0"/>
            <a:br>
              <a:rPr altLang="en-US" sz="2500" lang="en-US">
                <a:solidFill>
                  <a:srgbClr val="9900FF"/>
                </a:solidFill>
              </a:rPr>
            </a:br>
            <a:br>
              <a:rPr altLang="en-US" sz="2500" lang="en-US">
                <a:solidFill>
                  <a:srgbClr val="9900FF"/>
                </a:solidFill>
              </a:rPr>
            </a:br>
            <a:r>
              <a:rPr altLang="en-US" sz="2500" lang="en-US">
                <a:solidFill>
                  <a:srgbClr val="9900FF"/>
                </a:solidFill>
              </a:rPr>
              <a:t>Both active (arrow) and quiescent fibroblasts (fibrocytes ) may sometimes be distinguished, as in this section of dermis. Active fibroblasts are large cells with large, euchromatic nuclei and basophilic cytoplasm, whereas inactive fibroblasts or fibrocytes are smaller with less prominent, heterochromatic nuclei. The very basophilic round cells are leukocytes.</a:t>
            </a:r>
          </a:p>
        </p:txBody>
      </p:sp>
      <p:pic>
        <p:nvPicPr>
          <p:cNvPr id="2097164" name="Picture 2"/>
          <p:cNvPicPr>
            <a:picLocks/>
          </p:cNvPicPr>
          <p:nvPr>
            <p:ph sz="full" idx="1"/>
          </p:nvPr>
        </p:nvPicPr>
        <p:blipFill>
          <a:blip xmlns:r="http://schemas.openxmlformats.org/officeDocument/2006/relationships" r:embed="rId1"/>
          <a:srcRect l="0" t="0" r="0" b="0"/>
          <a:stretch>
            <a:fillRect/>
          </a:stretch>
        </p:blipFill>
        <p:spPr>
          <a:xfrm rot="0">
            <a:off x="3505200" y="2209800"/>
            <a:ext cx="5638800" cy="4525962"/>
          </a:xfrm>
          <a:prstGeom prst="rect"/>
          <a:noFill/>
          <a:ln>
            <a:noFill/>
          </a:ln>
        </p:spPr>
      </p:pic>
      <p:sp>
        <p:nvSpPr>
          <p:cNvPr id="1048686" name="Down Arrow 4"/>
          <p:cNvSpPr/>
          <p:nvPr/>
        </p:nvSpPr>
        <p:spPr>
          <a:xfrm rot="0">
            <a:off x="5791200" y="3886200"/>
            <a:ext cx="228600" cy="228600"/>
          </a:xfrm>
          <a:prstGeom prst="downArrow">
            <a:avLst>
              <a:gd name="adj1" fmla="val 50000"/>
              <a:gd name="adj2" fmla="val 50000"/>
            </a:avLst>
          </a:prstGeom>
          <a:solidFill>
            <a:schemeClr val="accent1"/>
          </a:solidFill>
          <a:ln w="25400" cap="flat" cmpd="sng">
            <a:solidFill>
              <a:srgbClr val="385D8A">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GB">
              <a:solidFill>
                <a:srgbClr val="FFFFFF"/>
              </a:solidFill>
              <a:latin typeface="Times New Roman" pitchFamily="18" charset="0"/>
            </a:endParaRPr>
          </a:p>
        </p:txBody>
      </p:sp>
      <p:sp>
        <p:nvSpPr>
          <p:cNvPr id="1048687" name="4-Point Star 6"/>
          <p:cNvSpPr/>
          <p:nvPr/>
        </p:nvSpPr>
        <p:spPr>
          <a:xfrm rot="0">
            <a:off x="4419600" y="3124200"/>
            <a:ext cx="228600" cy="228600"/>
          </a:xfrm>
          <a:prstGeom prst="star4"/>
          <a:solidFill>
            <a:schemeClr val="accent1"/>
          </a:solidFill>
          <a:ln w="25400" cap="flat" cmpd="sng">
            <a:solidFill>
              <a:srgbClr val="385D8A">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GB">
              <a:solidFill>
                <a:srgbClr val="FFFFFF"/>
              </a:solidFill>
              <a:latin typeface="Times New Roman" pitchFamily="18" charset="0"/>
            </a:endParaRPr>
          </a:p>
        </p:txBody>
      </p:sp>
      <p:sp>
        <p:nvSpPr>
          <p:cNvPr id="1048688" name="4-Point Star 9"/>
          <p:cNvSpPr/>
          <p:nvPr/>
        </p:nvSpPr>
        <p:spPr>
          <a:xfrm rot="0">
            <a:off x="8001000" y="0"/>
            <a:ext cx="152400" cy="152400"/>
          </a:xfrm>
          <a:prstGeom prst="star4"/>
          <a:solidFill>
            <a:schemeClr val="accent1"/>
          </a:solidFill>
          <a:ln w="25400" cap="flat" cmpd="sng">
            <a:solidFill>
              <a:srgbClr val="385D8A">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GB">
              <a:solidFill>
                <a:srgbClr val="FFFFFF"/>
              </a:solidFill>
              <a:latin typeface="Times New Roman" pitchFamily="18" charset="0"/>
            </a:endParaRPr>
          </a:p>
        </p:txBody>
      </p:sp>
      <p:pic>
        <p:nvPicPr>
          <p:cNvPr id="2097165" name="Picture 4" descr="[Image, BIODIDAC, T4-20A.GIF General BHK serial cell line Culture Coomassie Blue x100slide T4-20 A2 Cellular Structures with the LM 1d Fibrils Cytoskeletal elements are clearly seen in this preparation of culured fibroblast cells Lignée cellulaire BHK en série (en culture) Bleu de Coomasie x100 lame T4-20 A2 Structures cellulaires avec le MO (fibrilles). Les composantes du cytosquelette sont bien visibles dans cette préparation de fibroblastes en culture.]">
            <a:hlinkClick r:id="rId2"/>
          </p:cNvPr>
          <p:cNvPicPr>
            <a:picLocks/>
          </p:cNvPicPr>
          <p:nvPr/>
        </p:nvPicPr>
        <p:blipFill>
          <a:blip xmlns:r="http://schemas.openxmlformats.org/officeDocument/2006/relationships" r:embed="rId3"/>
          <a:srcRect l="18896" t="15736" r="17960" b="19153"/>
          <a:stretch>
            <a:fillRect/>
          </a:stretch>
        </p:blipFill>
        <p:spPr>
          <a:xfrm rot="0">
            <a:off x="0" y="2743200"/>
            <a:ext cx="3581400" cy="4114800"/>
          </a:xfrm>
          <a:prstGeom prst="rect"/>
          <a:noFill/>
          <a:ln>
            <a:noFill/>
          </a:ln>
        </p:spPr>
      </p:pic>
      <p:sp>
        <p:nvSpPr>
          <p:cNvPr id="1048689" name="Down Arrow 8"/>
          <p:cNvSpPr/>
          <p:nvPr/>
        </p:nvSpPr>
        <p:spPr>
          <a:xfrm rot="0">
            <a:off x="1752600" y="3886200"/>
            <a:ext cx="228600" cy="228600"/>
          </a:xfrm>
          <a:prstGeom prst="downArrow">
            <a:avLst>
              <a:gd name="adj1" fmla="val 50000"/>
              <a:gd name="adj2" fmla="val 50000"/>
            </a:avLst>
          </a:prstGeom>
          <a:solidFill>
            <a:schemeClr val="accent1"/>
          </a:solidFill>
          <a:ln w="25400" cap="flat" cmpd="sng">
            <a:solidFill>
              <a:srgbClr val="385D8A">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GB">
              <a:solidFill>
                <a:srgbClr val="FFFFFF"/>
              </a:solidFill>
              <a:latin typeface="Times New Roman" pitchFamily="18" charset="0"/>
            </a:endParaRPr>
          </a:p>
        </p:txBody>
      </p:sp>
    </p:spTree>
  </p:cSld>
  <p:clrMapOvr>
    <a:masterClrMapping/>
  </p:clrMapOvr>
  <p:transition spd="fast" advClick="1"/>
</p:sld>
</file>

<file path=ppt/slides/slide7.xml><?xml version="1.0" encoding="utf-8"?>
<p:sld xmlns:a="http://schemas.openxmlformats.org/drawingml/2006/main" xmlns:r="http://schemas.openxmlformats.org/officeDocument/2006/relationships" xmlns:p="http://schemas.openxmlformats.org/presentationml/2006/main" show="1" showMasterSp="1">
  <p:cSld>
    <p:spTree>
      <p:nvGrpSpPr>
        <p:cNvPr id="145" name=""/>
        <p:cNvGrpSpPr/>
        <p:nvPr/>
      </p:nvGrpSpPr>
      <p:grpSpPr>
        <a:xfrm rot="0">
          <a:off x="0" y="0"/>
          <a:ext cx="0" cy="0"/>
          <a:chOff x="0" y="0"/>
          <a:chExt cx="0" cy="0"/>
        </a:xfrm>
      </p:grpSpPr>
      <p:sp>
        <p:nvSpPr>
          <p:cNvPr id="1048690" name="Title 1"/>
          <p:cNvSpPr/>
          <p:nvPr>
            <p:ph type="title" sz="full" idx="0"/>
          </p:nvPr>
        </p:nvSpPr>
        <p:spPr>
          <a:xfrm rot="0">
            <a:off x="381000" y="0"/>
            <a:ext cx="8763000" cy="533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000" lang="zh-CN">
                <a:solidFill>
                  <a:srgbClr val="FF00FF"/>
                </a:solidFill>
                <a:ea typeface="Calibri" pitchFamily="34" charset="0"/>
              </a:rPr>
              <a:t>ADIPOCYTES  </a:t>
            </a:r>
            <a:r>
              <a:rPr altLang="en-US" b="1" sz="3200" lang="zh-CN">
                <a:solidFill>
                  <a:srgbClr val="FF00FF"/>
                </a:solidFill>
                <a:ea typeface="Calibri" pitchFamily="34" charset="0"/>
              </a:rPr>
              <a:t>(L. adeps, fat, cyte= cell) </a:t>
            </a:r>
          </a:p>
        </p:txBody>
      </p:sp>
      <p:sp>
        <p:nvSpPr>
          <p:cNvPr id="1048691" name="Rectangle 3"/>
          <p:cNvSpPr/>
          <p:nvPr>
            <p:ph sz="half" idx="1"/>
          </p:nvPr>
        </p:nvSpPr>
        <p:spPr>
          <a:xfrm rot="0">
            <a:off x="0" y="533400"/>
            <a:ext cx="6477000" cy="63246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350837" lvl="1" marL="350837">
              <a:spcBef>
                <a:spcPts val="600"/>
              </a:spcBef>
              <a:buFont typeface="Calibri" pitchFamily="34" charset="0"/>
              <a:buChar char="–"/>
            </a:pPr>
            <a:r>
              <a:rPr altLang="en-US" sz="2800" lang="en-US">
                <a:solidFill>
                  <a:srgbClr val="9900FF"/>
                </a:solidFill>
                <a:ea typeface="Calibri" pitchFamily="34" charset="0"/>
              </a:rPr>
              <a:t>synthesize, store &amp; release fat and leptin</a:t>
            </a:r>
            <a:r>
              <a:rPr altLang="en-US" sz="2800" lang="en-US">
                <a:ea typeface="Calibri" pitchFamily="34" charset="0"/>
              </a:rPr>
              <a:t>.</a:t>
            </a:r>
          </a:p>
          <a:p>
            <a:pPr eaLnBrk="1" hangingPunct="1" indent="-350837" lvl="1" marL="350837">
              <a:spcBef>
                <a:spcPts val="600"/>
              </a:spcBef>
              <a:buFont typeface="Calibri" pitchFamily="34" charset="0"/>
              <a:buChar char="–"/>
            </a:pPr>
            <a:r>
              <a:rPr altLang="en-US" sz="2800" lang="en-US">
                <a:solidFill>
                  <a:srgbClr val="0070C0"/>
                </a:solidFill>
                <a:ea typeface="Calibri" pitchFamily="34" charset="0"/>
              </a:rPr>
              <a:t>appear individually or in small clusters in some fibrous CTs.</a:t>
            </a:r>
          </a:p>
          <a:p>
            <a:pPr eaLnBrk="1" hangingPunct="1" indent="-350837" lvl="1" marL="350837">
              <a:spcBef>
                <a:spcPts val="600"/>
              </a:spcBef>
              <a:buFont typeface="Calibri" pitchFamily="34" charset="0"/>
              <a:buChar char="–"/>
            </a:pPr>
            <a:r>
              <a:rPr altLang="en-US" sz="2800" lang="en-US">
                <a:solidFill>
                  <a:srgbClr val="7030A0"/>
                </a:solidFill>
                <a:ea typeface="Calibri" pitchFamily="34" charset="0"/>
              </a:rPr>
              <a:t>If they dominate an area, we call that area adipose tissue.</a:t>
            </a:r>
          </a:p>
          <a:p>
            <a:pPr eaLnBrk="1" hangingPunct="1" indent="-350837" lvl="1" marL="350837">
              <a:spcBef>
                <a:spcPts val="600"/>
              </a:spcBef>
              <a:buFont typeface="Calibri" pitchFamily="34" charset="0"/>
              <a:buChar char="–"/>
            </a:pPr>
            <a:r>
              <a:rPr altLang="en-US" sz="2800" lang="en-US">
                <a:solidFill>
                  <a:schemeClr val="accent1"/>
                </a:solidFill>
                <a:ea typeface="Calibri" pitchFamily="34" charset="0"/>
              </a:rPr>
              <a:t>Contain huge droplet(s) of lipids for storage</a:t>
            </a:r>
          </a:p>
          <a:p>
            <a:pPr eaLnBrk="1" hangingPunct="1" indent="-350837" lvl="0" marL="350837">
              <a:spcBef>
                <a:spcPts val="600"/>
              </a:spcBef>
              <a:buFont typeface="Calibri" pitchFamily="34" charset="0"/>
              <a:buChar char="–"/>
            </a:pPr>
            <a:r>
              <a:rPr altLang="en-US" lang="en-US">
                <a:solidFill>
                  <a:srgbClr val="0070C0"/>
                </a:solidFill>
                <a:ea typeface="Calibri" pitchFamily="34" charset="0"/>
              </a:rPr>
              <a:t>derived from mesenchymal cells.</a:t>
            </a:r>
          </a:p>
          <a:p>
            <a:pPr eaLnBrk="1" hangingPunct="1" indent="-350837" lvl="0" marL="350837">
              <a:lnSpc>
                <a:spcPct val="90000"/>
              </a:lnSpc>
              <a:spcBef>
                <a:spcPts val="600"/>
              </a:spcBef>
              <a:buFont typeface="Calibri" pitchFamily="34" charset="0"/>
              <a:buChar char="–"/>
            </a:pPr>
            <a:r>
              <a:rPr altLang="en-US" lang="en-US">
                <a:ea typeface="Calibri" pitchFamily="34" charset="0"/>
              </a:rPr>
              <a:t>Each cell rests on an </a:t>
            </a:r>
            <a:r>
              <a:rPr altLang="en-US" b="1" lang="en-US">
                <a:solidFill>
                  <a:srgbClr val="FF0066"/>
                </a:solidFill>
                <a:ea typeface="Calibri" pitchFamily="34" charset="0"/>
              </a:rPr>
              <a:t>external lamina </a:t>
            </a:r>
            <a:r>
              <a:rPr altLang="en-US" lang="en-US">
                <a:solidFill>
                  <a:srgbClr val="9900FF"/>
                </a:solidFill>
                <a:ea typeface="Calibri" pitchFamily="34" charset="0"/>
              </a:rPr>
              <a:t>(homologous to basal lamina of epithelium) which consists of </a:t>
            </a:r>
            <a:r>
              <a:rPr altLang="en-US" lang="en-US">
                <a:ea typeface="Calibri" pitchFamily="34" charset="0"/>
              </a:rPr>
              <a:t>reticular fibers, capillaries &amp; sympathetic nerves</a:t>
            </a:r>
          </a:p>
          <a:p>
            <a:pPr eaLnBrk="1" hangingPunct="1" indent="-350837" lvl="0" marL="350837">
              <a:lnSpc>
                <a:spcPct val="90000"/>
              </a:lnSpc>
              <a:spcBef>
                <a:spcPts val="600"/>
              </a:spcBef>
              <a:buFont typeface="Calibri" pitchFamily="34" charset="0"/>
              <a:buChar char="–"/>
            </a:pPr>
            <a:r>
              <a:rPr altLang="en-US" lang="en-US">
                <a:solidFill>
                  <a:srgbClr val="00B050"/>
                </a:solidFill>
                <a:ea typeface="Calibri" pitchFamily="34" charset="0"/>
              </a:rPr>
              <a:t>they are of two types:</a:t>
            </a:r>
            <a:r>
              <a:rPr altLang="en-US" b="1" lang="en-US">
                <a:solidFill>
                  <a:srgbClr val="00B050"/>
                </a:solidFill>
                <a:ea typeface="Calibri" pitchFamily="34" charset="0"/>
              </a:rPr>
              <a:t> </a:t>
            </a:r>
            <a:r>
              <a:rPr altLang="en-US" b="1" lang="en-US">
                <a:solidFill>
                  <a:srgbClr val="FF0066"/>
                </a:solidFill>
                <a:ea typeface="Calibri" pitchFamily="34" charset="0"/>
              </a:rPr>
              <a:t>white</a:t>
            </a:r>
            <a:r>
              <a:rPr altLang="en-US" b="1" lang="en-US">
                <a:ea typeface="Calibri" pitchFamily="34" charset="0"/>
              </a:rPr>
              <a:t> </a:t>
            </a:r>
            <a:r>
              <a:rPr altLang="en-US" lang="en-US">
                <a:solidFill>
                  <a:srgbClr val="FF00FF"/>
                </a:solidFill>
                <a:ea typeface="Calibri" pitchFamily="34" charset="0"/>
              </a:rPr>
              <a:t>&amp;</a:t>
            </a:r>
            <a:r>
              <a:rPr altLang="en-US" b="1" lang="en-US">
                <a:ea typeface="Calibri" pitchFamily="34" charset="0"/>
              </a:rPr>
              <a:t> </a:t>
            </a:r>
            <a:r>
              <a:rPr altLang="en-US" b="1" lang="en-US">
                <a:solidFill>
                  <a:srgbClr val="FF0066"/>
                </a:solidFill>
                <a:ea typeface="Calibri" pitchFamily="34" charset="0"/>
              </a:rPr>
              <a:t>brown adipocytes.</a:t>
            </a:r>
          </a:p>
        </p:txBody>
      </p:sp>
      <p:pic>
        <p:nvPicPr>
          <p:cNvPr id="2097166" name="Picture 5" descr="File0024"/>
          <p:cNvPicPr>
            <a:picLocks/>
          </p:cNvPicPr>
          <p:nvPr>
            <p:ph sz="half" idx="2"/>
          </p:nvPr>
        </p:nvPicPr>
        <p:blipFill>
          <a:blip xmlns:r="http://schemas.openxmlformats.org/officeDocument/2006/relationships" r:embed="rId1"/>
          <a:srcRect l="0" t="0" r="0" b="0"/>
          <a:stretch>
            <a:fillRect/>
          </a:stretch>
        </p:blipFill>
        <p:spPr>
          <a:xfrm rot="0">
            <a:off x="6400800" y="609600"/>
            <a:ext cx="2743200" cy="5943600"/>
          </a:xfrm>
          <a:prstGeom prst="rect"/>
          <a:noFill/>
          <a:ln>
            <a:noFill/>
          </a:ln>
        </p:spPr>
      </p:pic>
    </p:spTree>
  </p:cSld>
  <p:clrMapOvr>
    <a:masterClrMapping/>
  </p:clrMapOvr>
  <p:transition spd="fast" advClick="1"/>
</p:sld>
</file>

<file path=ppt/slides/slide8.xml><?xml version="1.0" encoding="utf-8"?>
<p:sld xmlns:a="http://schemas.openxmlformats.org/drawingml/2006/main" xmlns:r="http://schemas.openxmlformats.org/officeDocument/2006/relationships" xmlns:p="http://schemas.openxmlformats.org/presentationml/2006/main" show="1" showMasterSp="1">
  <p:cSld>
    <p:spTree>
      <p:nvGrpSpPr>
        <p:cNvPr id="146" name=""/>
        <p:cNvGrpSpPr/>
        <p:nvPr/>
      </p:nvGrpSpPr>
      <p:grpSpPr>
        <a:xfrm rot="0">
          <a:off x="0" y="0"/>
          <a:ext cx="0" cy="0"/>
          <a:chOff x="0" y="0"/>
          <a:chExt cx="0" cy="0"/>
        </a:xfrm>
      </p:grpSpPr>
      <p:sp>
        <p:nvSpPr>
          <p:cNvPr id="1048692" name="Title 1"/>
          <p:cNvSpPr/>
          <p:nvPr>
            <p:ph type="title" sz="full" idx="0"/>
          </p:nvPr>
        </p:nvSpPr>
        <p:spPr>
          <a:xfrm rot="0">
            <a:off x="0" y="0"/>
            <a:ext cx="9144000" cy="4572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600" lang="en-US">
                <a:solidFill>
                  <a:srgbClr val="FF0000"/>
                </a:solidFill>
              </a:rPr>
              <a:t>MAST CELLS/MASTOCYTES (HISTAMINOCYTES)</a:t>
            </a:r>
          </a:p>
        </p:txBody>
      </p:sp>
      <p:sp>
        <p:nvSpPr>
          <p:cNvPr id="1048693" name="Rectangle 3"/>
          <p:cNvSpPr/>
          <p:nvPr>
            <p:ph sz="half" idx="1"/>
          </p:nvPr>
        </p:nvSpPr>
        <p:spPr>
          <a:xfrm rot="0">
            <a:off x="0" y="457200"/>
            <a:ext cx="4953000" cy="64008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341312" lvl="0" marL="341312">
              <a:lnSpc>
                <a:spcPct val="90000"/>
              </a:lnSpc>
              <a:spcBef>
                <a:spcPts val="600"/>
              </a:spcBef>
              <a:buFont typeface="Calibri" pitchFamily="34" charset="0"/>
              <a:buChar char="–"/>
            </a:pPr>
            <a:r>
              <a:rPr altLang="en-US" sz="2400" lang="en-US">
                <a:solidFill>
                  <a:srgbClr val="0070C0"/>
                </a:solidFill>
              </a:rPr>
              <a:t>are large oval or round cells about 20 µm in diameter, whose cytoplasm is filled with basophilic secretory granules.</a:t>
            </a:r>
          </a:p>
          <a:p>
            <a:pPr eaLnBrk="1" hangingPunct="1" indent="-341312" lvl="0" marL="341312">
              <a:lnSpc>
                <a:spcPct val="90000"/>
              </a:lnSpc>
              <a:spcBef>
                <a:spcPts val="600"/>
              </a:spcBef>
              <a:buFont typeface="Calibri" pitchFamily="34" charset="0"/>
              <a:buChar char="–"/>
            </a:pPr>
            <a:r>
              <a:rPr altLang="en-US" sz="2400" lang="en-US">
                <a:solidFill>
                  <a:srgbClr val="FF00FF"/>
                </a:solidFill>
              </a:rPr>
              <a:t>The rather small, spherical nucleus is centrally situated and may be obscured by the coarse  cytoplasmic granules. </a:t>
            </a:r>
          </a:p>
          <a:p>
            <a:pPr eaLnBrk="1" hangingPunct="1" indent="-341312" lvl="0" marL="341312">
              <a:lnSpc>
                <a:spcPct val="90000"/>
              </a:lnSpc>
              <a:spcBef>
                <a:spcPts val="600"/>
              </a:spcBef>
              <a:buFont typeface="Calibri" pitchFamily="34" charset="0"/>
              <a:buChar char="–"/>
            </a:pPr>
            <a:r>
              <a:rPr altLang="en-US" sz="2400" lang="en-US">
                <a:solidFill>
                  <a:srgbClr val="0070C0"/>
                </a:solidFill>
              </a:rPr>
              <a:t>They are derived from precursors in bone marrow.</a:t>
            </a:r>
          </a:p>
          <a:p>
            <a:pPr eaLnBrk="1" hangingPunct="1" indent="-341312" lvl="0" marL="341312">
              <a:lnSpc>
                <a:spcPct val="90000"/>
              </a:lnSpc>
              <a:spcBef>
                <a:spcPts val="600"/>
              </a:spcBef>
              <a:buFont typeface="Calibri" pitchFamily="34" charset="0"/>
              <a:buChar char="–"/>
            </a:pPr>
            <a:r>
              <a:rPr altLang="en-US" sz="2400" lang="en-US">
                <a:solidFill>
                  <a:srgbClr val="00B050"/>
                </a:solidFill>
              </a:rPr>
              <a:t>found in loose CT adjacent to blood vessels and body surfaces (dermis of skin and lamina propria of digestive and respiratory tracts).</a:t>
            </a:r>
          </a:p>
          <a:p>
            <a:pPr eaLnBrk="1" hangingPunct="1" indent="-341312" lvl="0" marL="341312">
              <a:lnSpc>
                <a:spcPct val="90000"/>
              </a:lnSpc>
              <a:spcBef>
                <a:spcPts val="600"/>
              </a:spcBef>
              <a:buFont typeface="Calibri" pitchFamily="34" charset="0"/>
              <a:buChar char="–"/>
            </a:pPr>
            <a:r>
              <a:rPr altLang="en-US" sz="2400" lang="en-US">
                <a:solidFill>
                  <a:srgbClr val="FF0066"/>
                </a:solidFill>
              </a:rPr>
              <a:t>Their cytoplasm have large  basophilic metachromatic granules containing </a:t>
            </a:r>
            <a:r>
              <a:rPr altLang="en-US" b="1" sz="2400" lang="en-US">
                <a:solidFill>
                  <a:srgbClr val="FF0066"/>
                </a:solidFill>
              </a:rPr>
              <a:t>heparin, histamine </a:t>
            </a:r>
            <a:r>
              <a:rPr altLang="en-US" sz="2400" lang="en-US">
                <a:solidFill>
                  <a:srgbClr val="FF0066"/>
                </a:solidFill>
              </a:rPr>
              <a:t>and many other mediators.</a:t>
            </a:r>
          </a:p>
        </p:txBody>
      </p:sp>
      <p:pic>
        <p:nvPicPr>
          <p:cNvPr id="2097167" name="Picture 5"/>
          <p:cNvPicPr>
            <a:picLocks/>
          </p:cNvPicPr>
          <p:nvPr/>
        </p:nvPicPr>
        <p:blipFill>
          <a:blip xmlns:r="http://schemas.openxmlformats.org/officeDocument/2006/relationships" r:embed="rId1"/>
          <a:srcRect l="0" t="0" r="0" b="0"/>
          <a:stretch>
            <a:fillRect/>
          </a:stretch>
        </p:blipFill>
        <p:spPr>
          <a:xfrm rot="0">
            <a:off x="4953000" y="1066800"/>
            <a:ext cx="2130425" cy="4968875"/>
          </a:xfrm>
          <a:prstGeom prst="rect"/>
          <a:noFill/>
          <a:ln>
            <a:noFill/>
          </a:ln>
        </p:spPr>
      </p:pic>
      <p:sp>
        <p:nvSpPr>
          <p:cNvPr id="1048694" name="Text Box 6"/>
          <p:cNvSpPr txBox="1"/>
          <p:nvPr/>
        </p:nvSpPr>
        <p:spPr>
          <a:xfrm rot="0">
            <a:off x="4870450" y="5207000"/>
            <a:ext cx="314325" cy="891539"/>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1800" lang="en-US">
                <a:ea typeface="Arial" pitchFamily="0" charset="0"/>
              </a:rPr>
              <a:t>LM</a:t>
            </a:r>
          </a:p>
        </p:txBody>
      </p:sp>
      <p:pic>
        <p:nvPicPr>
          <p:cNvPr id="2097168" name="Picture 7"/>
          <p:cNvPicPr>
            <a:picLocks/>
          </p:cNvPicPr>
          <p:nvPr/>
        </p:nvPicPr>
        <p:blipFill>
          <a:blip xmlns:r="http://schemas.openxmlformats.org/officeDocument/2006/relationships" r:embed="rId2"/>
          <a:srcRect l="0" t="0" r="0" b="0"/>
          <a:stretch>
            <a:fillRect/>
          </a:stretch>
        </p:blipFill>
        <p:spPr>
          <a:xfrm rot="0">
            <a:off x="7013575" y="1066800"/>
            <a:ext cx="2130425" cy="4968875"/>
          </a:xfrm>
          <a:prstGeom prst="rect"/>
          <a:noFill/>
          <a:ln>
            <a:noFill/>
          </a:ln>
        </p:spPr>
      </p:pic>
      <p:sp>
        <p:nvSpPr>
          <p:cNvPr id="1048695" name="Text Box 8"/>
          <p:cNvSpPr txBox="1"/>
          <p:nvPr/>
        </p:nvSpPr>
        <p:spPr>
          <a:xfrm rot="0">
            <a:off x="6872287" y="5207000"/>
            <a:ext cx="331787" cy="891539"/>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1800" lang="en-US">
                <a:ea typeface="Arial" pitchFamily="0" charset="0"/>
              </a:rPr>
              <a:t>EM</a:t>
            </a:r>
          </a:p>
        </p:txBody>
      </p:sp>
    </p:spTree>
  </p:cSld>
  <p:clrMapOvr>
    <a:masterClrMapping/>
  </p:clrMapOvr>
  <p:transition spd="fast" advClick="1"/>
</p:sld>
</file>

<file path=ppt/slides/slide9.xml><?xml version="1.0" encoding="utf-8"?>
<p:sld xmlns:a="http://schemas.openxmlformats.org/drawingml/2006/main" xmlns:r="http://schemas.openxmlformats.org/officeDocument/2006/relationships" xmlns:p="http://schemas.openxmlformats.org/presentationml/2006/main" show="1" showMasterSp="1">
  <p:cSld>
    <p:spTree>
      <p:nvGrpSpPr>
        <p:cNvPr id="147" name=""/>
        <p:cNvGrpSpPr/>
        <p:nvPr/>
      </p:nvGrpSpPr>
      <p:grpSpPr>
        <a:xfrm rot="0">
          <a:off x="0" y="0"/>
          <a:ext cx="0" cy="0"/>
          <a:chOff x="0" y="0"/>
          <a:chExt cx="0" cy="0"/>
        </a:xfrm>
      </p:grpSpPr>
      <p:sp>
        <p:nvSpPr>
          <p:cNvPr id="1048696" name="Title 1"/>
          <p:cNvSpPr/>
          <p:nvPr>
            <p:ph type="title" sz="full" idx="0"/>
          </p:nvPr>
        </p:nvSpPr>
        <p:spPr>
          <a:xfrm rot="0">
            <a:off x="685800" y="0"/>
            <a:ext cx="5334000" cy="685800"/>
          </a:xfrm>
          <a:prstGeom prst="rect"/>
          <a:noFill/>
          <a:ln w="9525" cap="flat" cmpd="sng">
            <a:solidFill>
              <a:schemeClr val="lt1">
                <a:alpha val="100000"/>
              </a:schemeClr>
            </a:solidFill>
            <a:prstDash val="solid"/>
            <a:miter/>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lang="en-US">
                <a:solidFill>
                  <a:srgbClr val="FF0066"/>
                </a:solidFill>
              </a:rPr>
              <a:t>PLASMA CELLS</a:t>
            </a:r>
          </a:p>
        </p:txBody>
      </p:sp>
      <p:sp>
        <p:nvSpPr>
          <p:cNvPr id="1048697" name="Rectangle 3"/>
          <p:cNvSpPr/>
          <p:nvPr>
            <p:ph sz="half" idx="1"/>
          </p:nvPr>
        </p:nvSpPr>
        <p:spPr>
          <a:xfrm rot="0">
            <a:off x="0" y="685800"/>
            <a:ext cx="4876800" cy="6172200"/>
          </a:xfrm>
          <a:prstGeom prst="rect"/>
          <a:solidFill>
            <a:srgbClr val="F2F2F2">
              <a:alpha val="100000"/>
            </a:srgb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347662" lvl="0" marL="347662">
              <a:lnSpc>
                <a:spcPct val="85000"/>
              </a:lnSpc>
              <a:spcBef>
                <a:spcPts val="1200"/>
              </a:spcBef>
              <a:buFont typeface="Calibri" pitchFamily="34" charset="0"/>
              <a:buChar char="–"/>
              <a:tabLst>
                <a:tab algn="l" pos="290512"/>
              </a:tabLst>
            </a:pPr>
            <a:r>
              <a:rPr altLang="en-US" lang="en-US">
                <a:solidFill>
                  <a:srgbClr val="9900FF"/>
                </a:solidFill>
              </a:rPr>
              <a:t>Large ovoid cells with eccentrically placed nucleus. </a:t>
            </a:r>
          </a:p>
          <a:p>
            <a:pPr eaLnBrk="1" hangingPunct="1" indent="-347662" lvl="0" marL="347662">
              <a:lnSpc>
                <a:spcPct val="85000"/>
              </a:lnSpc>
              <a:spcBef>
                <a:spcPts val="1200"/>
              </a:spcBef>
              <a:buFont typeface="Calibri" pitchFamily="34" charset="0"/>
              <a:buChar char="–"/>
              <a:tabLst>
                <a:tab algn="l" pos="290512"/>
              </a:tabLst>
            </a:pPr>
            <a:r>
              <a:rPr altLang="en-US" lang="en-US">
                <a:solidFill>
                  <a:srgbClr val="FF00FF"/>
                </a:solidFill>
              </a:rPr>
              <a:t>They are derived from activated B-lymphocytes.</a:t>
            </a:r>
          </a:p>
          <a:p>
            <a:pPr eaLnBrk="1" hangingPunct="1" indent="-347662" lvl="0" marL="347662">
              <a:lnSpc>
                <a:spcPct val="85000"/>
              </a:lnSpc>
              <a:spcBef>
                <a:spcPts val="1200"/>
              </a:spcBef>
              <a:buFont typeface="Calibri" pitchFamily="34" charset="0"/>
              <a:buChar char="–"/>
              <a:tabLst>
                <a:tab algn="l" pos="290512"/>
              </a:tabLst>
            </a:pPr>
            <a:r>
              <a:rPr altLang="en-US" lang="en-US">
                <a:solidFill>
                  <a:srgbClr val="403152"/>
                </a:solidFill>
              </a:rPr>
              <a:t>reveal intensely basophilic cytoplasm due to abundant RER and ribosomes.</a:t>
            </a:r>
          </a:p>
          <a:p>
            <a:pPr eaLnBrk="1" hangingPunct="1" indent="-347662" lvl="0" marL="347662">
              <a:lnSpc>
                <a:spcPct val="85000"/>
              </a:lnSpc>
              <a:spcBef>
                <a:spcPts val="1200"/>
              </a:spcBef>
              <a:buFont typeface="Calibri" pitchFamily="34" charset="0"/>
              <a:buChar char="–"/>
              <a:tabLst>
                <a:tab algn="l" pos="290512"/>
              </a:tabLst>
            </a:pPr>
            <a:r>
              <a:rPr altLang="en-US" lang="en-US">
                <a:solidFill>
                  <a:srgbClr val="FF0066"/>
                </a:solidFill>
              </a:rPr>
              <a:t>nucleus has the characteristic “clock-face” or “radial spoke” appearance.</a:t>
            </a:r>
          </a:p>
          <a:p>
            <a:pPr eaLnBrk="1" hangingPunct="1" indent="-347662" lvl="0" marL="347662">
              <a:lnSpc>
                <a:spcPct val="85000"/>
              </a:lnSpc>
              <a:spcBef>
                <a:spcPts val="1200"/>
              </a:spcBef>
              <a:buFont typeface="Calibri" pitchFamily="34" charset="0"/>
              <a:buChar char="–"/>
              <a:tabLst>
                <a:tab algn="l" pos="290512"/>
              </a:tabLst>
            </a:pPr>
            <a:r>
              <a:rPr altLang="en-US" lang="en-US">
                <a:solidFill>
                  <a:srgbClr val="00B050"/>
                </a:solidFill>
              </a:rPr>
              <a:t>present in areas of chronic inflammation and foreign bodies, where they manufacture and secrete antibodies.</a:t>
            </a:r>
          </a:p>
        </p:txBody>
      </p:sp>
      <p:pic>
        <p:nvPicPr>
          <p:cNvPr id="2097169" name="Content Placeholder 4" descr="File0011"/>
          <p:cNvPicPr>
            <a:picLocks/>
          </p:cNvPicPr>
          <p:nvPr>
            <p:ph sz="half" idx="2"/>
          </p:nvPr>
        </p:nvPicPr>
        <p:blipFill>
          <a:blip xmlns:r="http://schemas.openxmlformats.org/officeDocument/2006/relationships" r:embed="rId1"/>
          <a:srcRect l="0" t="0" r="0" b="0"/>
          <a:stretch>
            <a:fillRect/>
          </a:stretch>
        </p:blipFill>
        <p:spPr>
          <a:xfrm rot="0">
            <a:off x="4876800" y="990600"/>
            <a:ext cx="4267200" cy="5334000"/>
          </a:xfrm>
          <a:prstGeom prst="rect"/>
          <a:noFill/>
          <a:ln>
            <a:noFill/>
          </a:ln>
        </p:spPr>
      </p:pic>
    </p:spTree>
  </p:cSld>
  <p:clrMapOvr>
    <a:masterClrMapping/>
  </p:clrMapOvr>
  <p:transition spd="fast" advClick="1"/>
</p:sld>
</file>

<file path=ppt/slides/slide10.xml><?xml version="1.0" encoding="utf-8"?>
<p:sld xmlns:a="http://schemas.openxmlformats.org/drawingml/2006/main" xmlns:r="http://schemas.openxmlformats.org/officeDocument/2006/relationships" xmlns:p="http://schemas.openxmlformats.org/presentationml/2006/main" show="1" showMasterSp="1">
  <p:cSld>
    <p:spTree>
      <p:nvGrpSpPr>
        <p:cNvPr id="148" name=""/>
        <p:cNvGrpSpPr/>
        <p:nvPr/>
      </p:nvGrpSpPr>
      <p:grpSpPr>
        <a:xfrm rot="0">
          <a:off x="0" y="0"/>
          <a:ext cx="0" cy="0"/>
          <a:chOff x="0" y="0"/>
          <a:chExt cx="0" cy="0"/>
        </a:xfrm>
      </p:grpSpPr>
      <p:sp>
        <p:nvSpPr>
          <p:cNvPr id="1048698" name="Title 1"/>
          <p:cNvSpPr/>
          <p:nvPr>
            <p:ph type="title" sz="full" idx="0"/>
          </p:nvPr>
        </p:nvSpPr>
        <p:spPr>
          <a:xfrm rot="0">
            <a:off x="457200" y="0"/>
            <a:ext cx="8229600" cy="533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lvl="0"/>
            <a:r>
              <a:rPr altLang="en-US" b="1" lang="en-US">
                <a:solidFill>
                  <a:srgbClr val="FF0000"/>
                </a:solidFill>
              </a:rPr>
              <a:t>Features of Plasma cells</a:t>
            </a:r>
          </a:p>
        </p:txBody>
      </p:sp>
      <p:sp>
        <p:nvSpPr>
          <p:cNvPr id="1048699" name="Content Placeholder 2"/>
          <p:cNvSpPr/>
          <p:nvPr>
            <p:ph sz="full" idx="1"/>
          </p:nvPr>
        </p:nvSpPr>
        <p:spPr>
          <a:xfrm rot="0">
            <a:off x="0" y="533400"/>
            <a:ext cx="4419600" cy="63246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indent="-396875" lvl="0" marL="396875">
              <a:spcBef>
                <a:spcPts val="600"/>
              </a:spcBef>
              <a:buFont typeface="Calibri" pitchFamily="34" charset="0"/>
              <a:buChar char="–"/>
            </a:pPr>
            <a:r>
              <a:rPr altLang="en-US" sz="2800" lang="en-US">
                <a:solidFill>
                  <a:srgbClr val="9900FF"/>
                </a:solidFill>
              </a:rPr>
              <a:t>are typical protein secreting cells</a:t>
            </a:r>
          </a:p>
          <a:p>
            <a:pPr indent="-396875" lvl="0" marL="396875">
              <a:spcBef>
                <a:spcPts val="600"/>
              </a:spcBef>
              <a:buFont typeface="Calibri" pitchFamily="34" charset="0"/>
              <a:buChar char="–"/>
            </a:pPr>
            <a:r>
              <a:rPr altLang="en-US" sz="2800" lang="en-US">
                <a:solidFill>
                  <a:srgbClr val="FF00FF"/>
                </a:solidFill>
              </a:rPr>
              <a:t>basophilic cytoplasm</a:t>
            </a:r>
          </a:p>
          <a:p>
            <a:pPr indent="-396875" lvl="0" marL="396875">
              <a:spcBef>
                <a:spcPts val="600"/>
              </a:spcBef>
              <a:buFont typeface="Calibri" pitchFamily="34" charset="0"/>
              <a:buChar char="–"/>
            </a:pPr>
            <a:r>
              <a:rPr altLang="en-US" sz="2800" lang="en-US">
                <a:solidFill>
                  <a:srgbClr val="9900FF"/>
                </a:solidFill>
              </a:rPr>
              <a:t>eccentrically placed </a:t>
            </a:r>
            <a:r>
              <a:rPr altLang="en-US" b="1" sz="2800" lang="en-US">
                <a:solidFill>
                  <a:srgbClr val="FF0000"/>
                </a:solidFill>
              </a:rPr>
              <a:t>radial</a:t>
            </a:r>
            <a:r>
              <a:rPr altLang="en-US" b="1" sz="2800" lang="en-US">
                <a:solidFill>
                  <a:srgbClr val="0070C0"/>
                </a:solidFill>
              </a:rPr>
              <a:t> </a:t>
            </a:r>
            <a:r>
              <a:rPr altLang="en-US" b="1" sz="2800" lang="en-US">
                <a:solidFill>
                  <a:srgbClr val="FF0000"/>
                </a:solidFill>
              </a:rPr>
              <a:t>spoke</a:t>
            </a:r>
            <a:r>
              <a:rPr altLang="en-US" sz="2800" lang="en-US">
                <a:solidFill>
                  <a:srgbClr val="0070C0"/>
                </a:solidFill>
              </a:rPr>
              <a:t> or </a:t>
            </a:r>
            <a:r>
              <a:rPr altLang="en-US" b="1" sz="2800" lang="en-US">
                <a:solidFill>
                  <a:srgbClr val="FF0000"/>
                </a:solidFill>
              </a:rPr>
              <a:t>clock face </a:t>
            </a:r>
            <a:r>
              <a:rPr altLang="en-US" sz="2800" lang="en-US">
                <a:solidFill>
                  <a:srgbClr val="0070C0"/>
                </a:solidFill>
              </a:rPr>
              <a:t>or </a:t>
            </a:r>
            <a:r>
              <a:rPr altLang="en-US" b="1" sz="2800" lang="en-US">
                <a:solidFill>
                  <a:srgbClr val="FF0000"/>
                </a:solidFill>
              </a:rPr>
              <a:t>cartwheel nucleus </a:t>
            </a:r>
            <a:r>
              <a:rPr altLang="en-US" sz="2800" lang="en-US">
                <a:solidFill>
                  <a:srgbClr val="9900FF"/>
                </a:solidFill>
              </a:rPr>
              <a:t>partially surrounded by a single large Golgi apparatus</a:t>
            </a:r>
          </a:p>
          <a:p>
            <a:pPr indent="-396875" lvl="0" marL="396875">
              <a:spcBef>
                <a:spcPts val="600"/>
              </a:spcBef>
              <a:buFont typeface="Calibri" pitchFamily="34" charset="0"/>
              <a:buChar char="–"/>
            </a:pPr>
            <a:r>
              <a:rPr altLang="en-US" sz="2800" lang="en-US">
                <a:solidFill>
                  <a:srgbClr val="9900FF"/>
                </a:solidFill>
              </a:rPr>
              <a:t>effectors cells of immune system ferived from B cells</a:t>
            </a:r>
          </a:p>
          <a:p>
            <a:pPr indent="-396875" lvl="0" marL="396875">
              <a:spcBef>
                <a:spcPts val="600"/>
              </a:spcBef>
              <a:buFont typeface="Calibri" pitchFamily="34" charset="0"/>
              <a:buChar char="–"/>
            </a:pPr>
            <a:r>
              <a:rPr altLang="en-US" sz="2800" lang="en-US">
                <a:solidFill>
                  <a:srgbClr val="00B050"/>
                </a:solidFill>
              </a:rPr>
              <a:t>produce immunoglobulin antibodies</a:t>
            </a:r>
          </a:p>
          <a:p>
            <a:pPr indent="-396875" lvl="0" marL="396875">
              <a:spcBef>
                <a:spcPts val="600"/>
              </a:spcBef>
              <a:buFont typeface="Calibri" pitchFamily="34" charset="0"/>
              <a:buChar char="–"/>
            </a:pPr>
            <a:endParaRPr altLang="en-US" lang="th-TH">
              <a:solidFill>
                <a:srgbClr val="9900FF"/>
              </a:solidFill>
              <a:cs typeface="Cordia New" pitchFamily="34" charset="-34"/>
            </a:endParaRPr>
          </a:p>
          <a:p>
            <a:pPr indent="-396875" lvl="0" marL="396875">
              <a:spcBef>
                <a:spcPts val="600"/>
              </a:spcBef>
              <a:buFont typeface="Calibri" pitchFamily="34" charset="0"/>
              <a:buChar char="–"/>
            </a:pPr>
            <a:endParaRPr altLang="en-US" lang="en-US">
              <a:solidFill>
                <a:srgbClr val="9900FF"/>
              </a:solidFill>
            </a:endParaRPr>
          </a:p>
          <a:p>
            <a:pPr indent="-396875" lvl="0" marL="396875">
              <a:spcBef>
                <a:spcPts val="600"/>
              </a:spcBef>
            </a:pPr>
            <a:endParaRPr altLang="en-US" lang="en-US">
              <a:solidFill>
                <a:srgbClr val="9900FF"/>
              </a:solidFill>
            </a:endParaRPr>
          </a:p>
        </p:txBody>
      </p:sp>
      <p:pic>
        <p:nvPicPr>
          <p:cNvPr id="2097170" name="Picture 3" descr="Loose CNT 04(copy)"/>
          <p:cNvPicPr>
            <a:picLocks/>
          </p:cNvPicPr>
          <p:nvPr/>
        </p:nvPicPr>
        <p:blipFill>
          <a:blip xmlns:r="http://schemas.openxmlformats.org/officeDocument/2006/relationships" r:embed="rId1">
            <a:lum bright="-12000" contrast="18000"/>
          </a:blip>
          <a:srcRect l="0" t="0" r="0" b="0"/>
          <a:stretch>
            <a:fillRect/>
          </a:stretch>
        </p:blipFill>
        <p:spPr>
          <a:xfrm rot="0">
            <a:off x="4191000" y="762000"/>
            <a:ext cx="4953000" cy="5867400"/>
          </a:xfrm>
          <a:prstGeom prst="rect"/>
          <a:solidFill>
            <a:schemeClr val="lt1"/>
          </a:solidFill>
          <a:ln>
            <a:noFill/>
          </a:ln>
        </p:spPr>
      </p:pic>
      <p:cxnSp>
        <p:nvCxnSpPr>
          <p:cNvPr id="3145728" name="Straight Arrow Connector 4"/>
          <p:cNvCxnSpPr>
            <a:cxnSpLocks/>
          </p:cNvCxnSpPr>
          <p:nvPr/>
        </p:nvCxnSpPr>
        <p:spPr>
          <a:xfrm rot="0">
            <a:off x="3810000" y="2895600"/>
            <a:ext cx="2514600" cy="2209800"/>
          </a:xfrm>
          <a:prstGeom prst="straightConnector1"/>
          <a:noFill/>
          <a:ln w="28575" cap="flat" cmpd="sng">
            <a:solidFill>
              <a:schemeClr val="dk1">
                <a:alpha val="100000"/>
              </a:schemeClr>
            </a:solidFill>
            <a:prstDash val="solid"/>
            <a:round/>
            <a:tailEnd type="arrow" w="med" len="med"/>
          </a:ln>
        </p:spPr>
      </p:cxnSp>
      <p:cxnSp>
        <p:nvCxnSpPr>
          <p:cNvPr id="3145729" name="Straight Arrow Connector 7"/>
          <p:cNvCxnSpPr>
            <a:cxnSpLocks/>
          </p:cNvCxnSpPr>
          <p:nvPr/>
        </p:nvCxnSpPr>
        <p:spPr>
          <a:xfrm rot="0" flipV="1">
            <a:off x="3810000" y="1371600"/>
            <a:ext cx="2971800" cy="1524000"/>
          </a:xfrm>
          <a:prstGeom prst="straightConnector1"/>
          <a:noFill/>
          <a:ln w="28575" cap="flat" cmpd="sng">
            <a:solidFill>
              <a:schemeClr val="dk1">
                <a:alpha val="100000"/>
              </a:schemeClr>
            </a:solidFill>
            <a:prstDash val="solid"/>
            <a:round/>
            <a:tailEnd type="arrow" w="med" len="med"/>
          </a:ln>
        </p:spPr>
      </p:cxnSp>
    </p:spTree>
  </p:cSld>
  <p:clrMapOvr>
    <a:masterClrMapping/>
  </p:clrMapOvr>
  <p:transition spd="fast" advClick="1"/>
</p:sld>
</file>

<file path=ppt/slides/slide11.xml><?xml version="1.0" encoding="utf-8"?>
<p:sld xmlns:a="http://schemas.openxmlformats.org/drawingml/2006/main" xmlns:r="http://schemas.openxmlformats.org/officeDocument/2006/relationships" xmlns:p="http://schemas.openxmlformats.org/presentationml/2006/main" show="1" showMasterSp="1">
  <p:cSld>
    <p:spTree>
      <p:nvGrpSpPr>
        <p:cNvPr id="150" name=""/>
        <p:cNvGrpSpPr/>
        <p:nvPr/>
      </p:nvGrpSpPr>
      <p:grpSpPr>
        <a:xfrm rot="0">
          <a:off x="0" y="0"/>
          <a:ext cx="0" cy="0"/>
          <a:chOff x="0" y="0"/>
          <a:chExt cx="0" cy="0"/>
        </a:xfrm>
      </p:grpSpPr>
      <p:sp>
        <p:nvSpPr>
          <p:cNvPr id="1048704" name="Rectangle 7"/>
          <p:cNvSpPr/>
          <p:nvPr>
            <p:ph type="title" sz="full" idx="0"/>
          </p:nvPr>
        </p:nvSpPr>
        <p:spPr>
          <a:xfrm rot="0">
            <a:off x="0" y="0"/>
            <a:ext cx="5076825" cy="1371600"/>
          </a:xfrm>
          <a:prstGeom prst="rect"/>
          <a:solidFill>
            <a:schemeClr val="lt1">
              <a:alpha val="100000"/>
            </a:schemeClr>
          </a:solid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200" lang="zh-CN">
                <a:solidFill>
                  <a:srgbClr val="00B0F0"/>
                </a:solidFill>
                <a:ea typeface="Tahoma" pitchFamily="34" charset="0"/>
              </a:rPr>
              <a:t>Plasma cell:</a:t>
            </a:r>
            <a:br>
              <a:rPr altLang="en-US" b="1" sz="3200" lang="zh-CN">
                <a:solidFill>
                  <a:srgbClr val="00B0F0"/>
                </a:solidFill>
                <a:ea typeface="Tahoma" pitchFamily="34" charset="0"/>
              </a:rPr>
            </a:br>
            <a:r>
              <a:rPr altLang="en-US" b="1" sz="3200" lang="zh-CN">
                <a:solidFill>
                  <a:srgbClr val="00B0F0"/>
                </a:solidFill>
                <a:ea typeface="Tahoma" pitchFamily="34" charset="0"/>
                <a:sym typeface="Wingdings 2" pitchFamily="18" charset="2"/>
              </a:rPr>
              <a:t>typical p</a:t>
            </a:r>
            <a:r>
              <a:rPr altLang="en-US" b="1" sz="3200" lang="th-TH">
                <a:solidFill>
                  <a:srgbClr val="00B0F0"/>
                </a:solidFill>
                <a:cs typeface="Tahoma" pitchFamily="34" charset="0"/>
              </a:rPr>
              <a:t>rotein secreting cell</a:t>
            </a:r>
          </a:p>
        </p:txBody>
      </p:sp>
      <p:pic>
        <p:nvPicPr>
          <p:cNvPr id="2097171" name="Picture 4"/>
          <p:cNvPicPr>
            <a:picLocks/>
          </p:cNvPicPr>
          <p:nvPr/>
        </p:nvPicPr>
        <p:blipFill>
          <a:blip xmlns:r="http://schemas.openxmlformats.org/officeDocument/2006/relationships" r:embed="rId1"/>
          <a:srcRect l="0" t="0" r="0" b="0"/>
          <a:stretch>
            <a:fillRect/>
          </a:stretch>
        </p:blipFill>
        <p:spPr>
          <a:xfrm rot="0">
            <a:off x="0" y="1371600"/>
            <a:ext cx="4800600" cy="5334000"/>
          </a:xfrm>
          <a:prstGeom prst="rect"/>
          <a:noFill/>
          <a:ln>
            <a:noFill/>
          </a:ln>
        </p:spPr>
      </p:pic>
      <p:pic>
        <p:nvPicPr>
          <p:cNvPr id="2097172" name="Picture 5" descr="Plasma cell"/>
          <p:cNvPicPr>
            <a:picLocks/>
          </p:cNvPicPr>
          <p:nvPr/>
        </p:nvPicPr>
        <p:blipFill>
          <a:blip xmlns:r="http://schemas.openxmlformats.org/officeDocument/2006/relationships" r:embed="rId2">
            <a:lum contrast="6000"/>
          </a:blip>
          <a:srcRect l="0" t="0" r="0" b="0"/>
          <a:stretch>
            <a:fillRect/>
          </a:stretch>
        </p:blipFill>
        <p:spPr>
          <a:xfrm rot="0">
            <a:off x="4953000" y="3276600"/>
            <a:ext cx="4100512" cy="3465512"/>
          </a:xfrm>
          <a:prstGeom prst="rect"/>
          <a:noFill/>
          <a:ln>
            <a:noFill/>
          </a:ln>
        </p:spPr>
      </p:pic>
      <p:pic>
        <p:nvPicPr>
          <p:cNvPr id="2097173" name="Picture 9" descr="plasma cell 01"/>
          <p:cNvPicPr>
            <a:picLocks/>
          </p:cNvPicPr>
          <p:nvPr/>
        </p:nvPicPr>
        <p:blipFill>
          <a:blip xmlns:r="http://schemas.openxmlformats.org/officeDocument/2006/relationships" r:embed="rId3"/>
          <a:srcRect l="0" t="0" r="0" b="0"/>
          <a:stretch>
            <a:fillRect/>
          </a:stretch>
        </p:blipFill>
        <p:spPr>
          <a:xfrm rot="0">
            <a:off x="5029200" y="20637"/>
            <a:ext cx="4114800" cy="3255962"/>
          </a:xfrm>
          <a:prstGeom prst="rect"/>
          <a:noFill/>
          <a:ln>
            <a:noFill/>
          </a:ln>
        </p:spPr>
      </p:pic>
    </p:spTree>
  </p:cSld>
  <p:clrMapOvr>
    <a:masterClrMapping/>
  </p:clrMapOvr>
  <p:transition spd="fast" advClick="1"/>
</p:sld>
</file>

<file path=ppt/slides/slide12.xml><?xml version="1.0" encoding="utf-8"?>
<p:sld xmlns:a="http://schemas.openxmlformats.org/drawingml/2006/main" xmlns:r="http://schemas.openxmlformats.org/officeDocument/2006/relationships" xmlns:p="http://schemas.openxmlformats.org/presentationml/2006/main" show="1" showMasterSp="1">
  <p:cSld>
    <p:spTree>
      <p:nvGrpSpPr>
        <p:cNvPr id="154" name=""/>
        <p:cNvGrpSpPr/>
        <p:nvPr/>
      </p:nvGrpSpPr>
      <p:grpSpPr>
        <a:xfrm rot="0">
          <a:off x="0" y="0"/>
          <a:ext cx="0" cy="0"/>
          <a:chOff x="0" y="0"/>
          <a:chExt cx="0" cy="0"/>
        </a:xfrm>
      </p:grpSpPr>
      <p:pic>
        <p:nvPicPr>
          <p:cNvPr id="2097174" name="Picture 3" descr="npo000985"/>
          <p:cNvPicPr>
            <a:picLocks/>
          </p:cNvPicPr>
          <p:nvPr/>
        </p:nvPicPr>
        <p:blipFill>
          <a:blip xmlns:r="http://schemas.openxmlformats.org/officeDocument/2006/relationships" r:embed="rId1"/>
          <a:srcRect l="0" t="0" r="0" b="0"/>
          <a:stretch>
            <a:fillRect/>
          </a:stretch>
        </p:blipFill>
        <p:spPr>
          <a:xfrm rot="0">
            <a:off x="76200" y="609600"/>
            <a:ext cx="3124200" cy="5867400"/>
          </a:xfrm>
          <a:prstGeom prst="rect"/>
          <a:noFill/>
          <a:ln>
            <a:noFill/>
          </a:ln>
        </p:spPr>
      </p:pic>
      <p:pic>
        <p:nvPicPr>
          <p:cNvPr id="2097175" name="Picture 4" descr="npo000987"/>
          <p:cNvPicPr>
            <a:picLocks/>
          </p:cNvPicPr>
          <p:nvPr/>
        </p:nvPicPr>
        <p:blipFill>
          <a:blip xmlns:r="http://schemas.openxmlformats.org/officeDocument/2006/relationships" r:embed="rId2"/>
          <a:srcRect l="0" t="0" r="0" b="0"/>
          <a:stretch>
            <a:fillRect/>
          </a:stretch>
        </p:blipFill>
        <p:spPr>
          <a:xfrm rot="0">
            <a:off x="3348037" y="609600"/>
            <a:ext cx="5719762" cy="6172200"/>
          </a:xfrm>
          <a:prstGeom prst="rect"/>
          <a:noFill/>
          <a:ln>
            <a:noFill/>
          </a:ln>
        </p:spPr>
      </p:pic>
      <p:sp>
        <p:nvSpPr>
          <p:cNvPr id="1048711" name="Rectangle 5"/>
          <p:cNvSpPr/>
          <p:nvPr/>
        </p:nvSpPr>
        <p:spPr>
          <a:xfrm rot="0">
            <a:off x="1219200" y="0"/>
            <a:ext cx="7848600" cy="584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lang="en-US">
                <a:solidFill>
                  <a:srgbClr val="0000CC"/>
                </a:solidFill>
                <a:ea typeface="Arial" pitchFamily="0" charset="0"/>
              </a:rPr>
              <a:t>Plasma cells, lymphocytes, mast cells, ……..</a:t>
            </a:r>
          </a:p>
        </p:txBody>
      </p:sp>
    </p:spTree>
  </p:cSld>
  <p:clrMapOvr>
    <a:masterClrMapping/>
  </p:clrMapOvr>
  <p:transition spd="fast" advClick="1"/>
</p:sld>
</file>

<file path=ppt/slides/slide13.xml><?xml version="1.0" encoding="utf-8"?>
<p:sld xmlns:a="http://schemas.openxmlformats.org/drawingml/2006/main" xmlns:r="http://schemas.openxmlformats.org/officeDocument/2006/relationships" xmlns:p="http://schemas.openxmlformats.org/presentationml/2006/main" show="1" showMasterSp="1">
  <p:cSld>
    <p:spTree>
      <p:nvGrpSpPr>
        <p:cNvPr id="157" name=""/>
        <p:cNvGrpSpPr/>
        <p:nvPr/>
      </p:nvGrpSpPr>
      <p:grpSpPr>
        <a:xfrm rot="0">
          <a:off x="0" y="0"/>
          <a:ext cx="0" cy="0"/>
          <a:chOff x="0" y="0"/>
          <a:chExt cx="0" cy="0"/>
        </a:xfrm>
      </p:grpSpPr>
      <p:sp>
        <p:nvSpPr>
          <p:cNvPr id="1048715" name="Title 1"/>
          <p:cNvSpPr/>
          <p:nvPr>
            <p:ph type="title" sz="full" idx="0"/>
          </p:nvPr>
        </p:nvSpPr>
        <p:spPr>
          <a:xfrm rot="0">
            <a:off x="228600" y="0"/>
            <a:ext cx="8915400" cy="6096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200" lang="en-US">
                <a:solidFill>
                  <a:srgbClr val="FF0066"/>
                </a:solidFill>
              </a:rPr>
              <a:t>MACROPHAGES/HISTIOCYTES/CLASMATOCYTES</a:t>
            </a:r>
          </a:p>
        </p:txBody>
      </p:sp>
      <p:sp>
        <p:nvSpPr>
          <p:cNvPr id="1048716" name="Rectangle 3"/>
          <p:cNvSpPr/>
          <p:nvPr>
            <p:ph sz="half" idx="1"/>
          </p:nvPr>
        </p:nvSpPr>
        <p:spPr>
          <a:xfrm rot="0">
            <a:off x="0" y="609600"/>
            <a:ext cx="4648200" cy="62484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lvl="0">
              <a:lnSpc>
                <a:spcPct val="70000"/>
              </a:lnSpc>
              <a:spcBef>
                <a:spcPts val="1200"/>
              </a:spcBef>
              <a:buFont typeface="Calibri" pitchFamily="34" charset="0"/>
              <a:buChar char="–"/>
            </a:pPr>
            <a:r>
              <a:rPr altLang="en-US" sz="2600" lang="en-US">
                <a:solidFill>
                  <a:srgbClr val="FF00FF"/>
                </a:solidFill>
              </a:rPr>
              <a:t>They may be fixed or transient.</a:t>
            </a:r>
          </a:p>
          <a:p>
            <a:pPr eaLnBrk="1" hangingPunct="1" lvl="0">
              <a:lnSpc>
                <a:spcPct val="70000"/>
              </a:lnSpc>
              <a:spcBef>
                <a:spcPts val="1200"/>
              </a:spcBef>
              <a:buFont typeface="Calibri" pitchFamily="34" charset="0"/>
              <a:buChar char="–"/>
            </a:pPr>
            <a:r>
              <a:rPr altLang="en-US" sz="2600" lang="en-US">
                <a:solidFill>
                  <a:srgbClr val="FF0066"/>
                </a:solidFill>
              </a:rPr>
              <a:t>They are derived from monocytes (transient) or from hematopoietic stem cells (fixed macrophages).</a:t>
            </a:r>
          </a:p>
          <a:p>
            <a:pPr eaLnBrk="1" hangingPunct="1" lvl="0">
              <a:lnSpc>
                <a:spcPct val="70000"/>
              </a:lnSpc>
              <a:spcBef>
                <a:spcPts val="1200"/>
              </a:spcBef>
              <a:buFont typeface="Calibri" pitchFamily="34" charset="0"/>
              <a:buChar char="–"/>
            </a:pPr>
            <a:r>
              <a:rPr altLang="en-US" sz="2600" lang="el-GR">
                <a:solidFill>
                  <a:srgbClr val="0070C0"/>
                </a:solidFill>
                <a:ea typeface="Arial Unicode MS" pitchFamily="34" charset="-128"/>
              </a:rPr>
              <a:t>A typical macrophage measures between 10 and 30μ</a:t>
            </a:r>
            <a:r>
              <a:rPr altLang="en-US" sz="2600" lang="zh-CN">
                <a:solidFill>
                  <a:srgbClr val="0070C0"/>
                </a:solidFill>
                <a:ea typeface="Arial Unicode MS" pitchFamily="34" charset="-128"/>
              </a:rPr>
              <a:t>m in diameter and has an oval or kidney-shaped nucleus located eccentrically.</a:t>
            </a:r>
            <a:r>
              <a:rPr altLang="en-US" sz="1300" lang="en-US">
                <a:solidFill>
                  <a:srgbClr val="0070C0"/>
                </a:solidFill>
              </a:rPr>
              <a:t> </a:t>
            </a:r>
          </a:p>
          <a:p>
            <a:pPr eaLnBrk="1" hangingPunct="1" lvl="0">
              <a:lnSpc>
                <a:spcPct val="70000"/>
              </a:lnSpc>
              <a:spcBef>
                <a:spcPts val="1200"/>
              </a:spcBef>
              <a:buFont typeface="Calibri" pitchFamily="34" charset="0"/>
              <a:buChar char="–"/>
            </a:pPr>
            <a:r>
              <a:rPr altLang="en-US" sz="2600" lang="en-US">
                <a:solidFill>
                  <a:srgbClr val="FF0066"/>
                </a:solidFill>
              </a:rPr>
              <a:t>Highly motile, irregular in shape with pseudopodia.</a:t>
            </a:r>
          </a:p>
          <a:p>
            <a:pPr eaLnBrk="1" hangingPunct="1" lvl="0">
              <a:lnSpc>
                <a:spcPct val="70000"/>
              </a:lnSpc>
              <a:spcBef>
                <a:spcPts val="1200"/>
              </a:spcBef>
              <a:buFont typeface="Calibri" pitchFamily="34" charset="0"/>
              <a:buChar char="–"/>
            </a:pPr>
            <a:r>
              <a:rPr altLang="en-US" sz="2600" lang="en-US">
                <a:solidFill>
                  <a:srgbClr val="403152"/>
                </a:solidFill>
              </a:rPr>
              <a:t>Have dark nucleus and basophilic cytoplasm containing numerous lysosomes, vacuoles and residual bodies.</a:t>
            </a:r>
          </a:p>
        </p:txBody>
      </p:sp>
      <p:pic>
        <p:nvPicPr>
          <p:cNvPr id="2097176" name="Picture 4" descr="File0005"/>
          <p:cNvPicPr>
            <a:picLocks/>
          </p:cNvPicPr>
          <p:nvPr>
            <p:ph sz="half" idx="2"/>
          </p:nvPr>
        </p:nvPicPr>
        <p:blipFill>
          <a:blip xmlns:r="http://schemas.openxmlformats.org/officeDocument/2006/relationships" r:embed="rId1"/>
          <a:srcRect l="0" t="0" r="0" b="0"/>
          <a:stretch>
            <a:fillRect/>
          </a:stretch>
        </p:blipFill>
        <p:spPr>
          <a:xfrm rot="0">
            <a:off x="4648200" y="914400"/>
            <a:ext cx="4495800" cy="5562600"/>
          </a:xfrm>
          <a:prstGeom prst="rect"/>
          <a:noFill/>
          <a:ln>
            <a:noFill/>
          </a:ln>
        </p:spPr>
      </p:pic>
    </p:spTree>
  </p:cSld>
  <p:clrMapOvr>
    <a:masterClrMapping/>
  </p:clrMapOvr>
  <p:transition spd="fast" advClick="1"/>
</p:sld>
</file>

<file path=ppt/slides/slide14.xml><?xml version="1.0" encoding="utf-8"?>
<p:sld xmlns:a="http://schemas.openxmlformats.org/drawingml/2006/main" xmlns:r="http://schemas.openxmlformats.org/officeDocument/2006/relationships" xmlns:p="http://schemas.openxmlformats.org/presentationml/2006/main" show="1" showMasterSp="1">
  <p:cSld>
    <p:spTree>
      <p:nvGrpSpPr>
        <p:cNvPr id="158" name=""/>
        <p:cNvGrpSpPr/>
        <p:nvPr/>
      </p:nvGrpSpPr>
      <p:grpSpPr>
        <a:xfrm rot="0">
          <a:off x="0" y="0"/>
          <a:ext cx="0" cy="0"/>
          <a:chOff x="0" y="0"/>
          <a:chExt cx="0" cy="0"/>
        </a:xfrm>
      </p:grpSpPr>
      <p:sp>
        <p:nvSpPr>
          <p:cNvPr id="1048717" name="Rectangle 2"/>
          <p:cNvSpPr/>
          <p:nvPr>
            <p:ph type="title" sz="full" idx="0"/>
          </p:nvPr>
        </p:nvSpPr>
        <p:spPr>
          <a:xfrm rot="0">
            <a:off x="6172200" y="0"/>
            <a:ext cx="2971800" cy="609600"/>
          </a:xfrm>
          <a:prstGeom prst="rect"/>
          <a:noFill/>
          <a:ln>
            <a:noFill/>
          </a:ln>
        </p:spPr>
        <p:txBody>
          <a:bodyPr anchor="t"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algn="l" eaLnBrk="1" hangingPunct="1" lvl="0"/>
            <a:r>
              <a:rPr altLang="en-US" b="1" sz="2400" lang="en-US">
                <a:solidFill>
                  <a:srgbClr val="FF00FF"/>
                </a:solidFill>
              </a:rPr>
              <a:t>MACROPHAGE BY EM   </a:t>
            </a:r>
            <a:br>
              <a:rPr altLang="en-US" b="1" sz="2400" lang="en-US">
                <a:solidFill>
                  <a:srgbClr val="FF00FF"/>
                </a:solidFill>
              </a:rPr>
            </a:br>
            <a:endParaRPr altLang="en-US" b="1" sz="2400" lang="en-US">
              <a:solidFill>
                <a:srgbClr val="FF00FF"/>
              </a:solidFill>
            </a:endParaRPr>
          </a:p>
        </p:txBody>
      </p:sp>
      <p:pic>
        <p:nvPicPr>
          <p:cNvPr id="2097177" name="Picture 4" descr="macroWM"/>
          <p:cNvPicPr>
            <a:picLocks/>
          </p:cNvPicPr>
          <p:nvPr/>
        </p:nvPicPr>
        <p:blipFill>
          <a:blip xmlns:r="http://schemas.openxmlformats.org/officeDocument/2006/relationships" r:embed="rId1"/>
          <a:srcRect l="0" t="0" r="0" b="0"/>
          <a:stretch>
            <a:fillRect/>
          </a:stretch>
        </p:blipFill>
        <p:spPr>
          <a:xfrm rot="0">
            <a:off x="34925" y="-26987"/>
            <a:ext cx="6213475" cy="6889750"/>
          </a:xfrm>
          <a:prstGeom prst="rect"/>
          <a:noFill/>
          <a:ln>
            <a:noFill/>
          </a:ln>
        </p:spPr>
      </p:pic>
      <p:sp>
        <p:nvSpPr>
          <p:cNvPr id="1048718" name="Rectangle 4"/>
          <p:cNvSpPr/>
          <p:nvPr/>
        </p:nvSpPr>
        <p:spPr>
          <a:xfrm rot="0">
            <a:off x="6248400" y="-22701"/>
            <a:ext cx="2895600" cy="7673339"/>
          </a:xfrm>
          <a:prstGeom prst="rect"/>
          <a:noFill/>
          <a:ln>
            <a:noFill/>
          </a:ln>
        </p:spPr>
        <p:txBody>
          <a:bodyPr anchor="ctr"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indent="-347662" lvl="0" marL="347662">
              <a:spcBef>
                <a:spcPts val="1800"/>
              </a:spcBef>
              <a:buFont typeface="Calibri" pitchFamily="34" charset="0"/>
              <a:buChar char="–"/>
            </a:pPr>
            <a:r>
              <a:rPr altLang="en-US" sz="2800" lang="en-US">
                <a:solidFill>
                  <a:srgbClr val="00B0F0"/>
                </a:solidFill>
                <a:latin typeface="Calibri" pitchFamily="34" charset="0"/>
              </a:rPr>
              <a:t>They are active phagocytes removing cell debris and protecting the body against foreign invaders.</a:t>
            </a:r>
          </a:p>
          <a:p>
            <a:pPr indent="-347662" lvl="0" marL="347662">
              <a:spcBef>
                <a:spcPts val="1800"/>
              </a:spcBef>
              <a:buFont typeface="Calibri" pitchFamily="34" charset="0"/>
              <a:buChar char="–"/>
            </a:pPr>
            <a:r>
              <a:rPr altLang="en-US" sz="2800" lang="en-US">
                <a:solidFill>
                  <a:srgbClr val="00B0F0"/>
                </a:solidFill>
                <a:latin typeface="Calibri" pitchFamily="34" charset="0"/>
              </a:rPr>
              <a:t>As shown here, a microphage is undergoing phagocytosis of streptococci bacteria</a:t>
            </a:r>
          </a:p>
          <a:p>
            <a:pPr indent="-347662" lvl="0" marL="347662">
              <a:spcBef>
                <a:spcPts val="1800"/>
              </a:spcBef>
              <a:buFont typeface="Calibri" pitchFamily="34" charset="0"/>
              <a:buChar char="–"/>
            </a:pPr>
            <a:endParaRPr altLang="en-US" sz="2800" lang="en-US">
              <a:solidFill>
                <a:srgbClr val="0070C0"/>
              </a:solidFill>
              <a:latin typeface="Calibri" pitchFamily="34" charset="0"/>
              <a:ea typeface="Arial Unicode MS" pitchFamily="34" charset="-128"/>
            </a:endParaRPr>
          </a:p>
        </p:txBody>
      </p:sp>
      <p:sp>
        <p:nvSpPr>
          <p:cNvPr id="1048719" name="AutoShape 5" descr="its://0/New%20folder%205/mulower.gif"/>
          <p:cNvSpPr/>
          <p:nvPr/>
        </p:nvSpPr>
        <p:spPr>
          <a:xfrm rot="0">
            <a:off x="3681412" y="-90487"/>
            <a:ext cx="57150" cy="76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endParaRPr altLang="en-US" sz="1800" lang="en-US">
              <a:latin typeface="Arial" pitchFamily="0" charset="0"/>
              <a:ea typeface="Arial" pitchFamily="0" charset="0"/>
            </a:endParaRPr>
          </a:p>
        </p:txBody>
      </p:sp>
    </p:spTree>
  </p:cSld>
  <p:clrMapOvr>
    <a:masterClrMapping/>
  </p:clrMapOvr>
  <p:transition spd="fast" advClick="1"/>
</p:sld>
</file>

<file path=ppt/slides/slide15.xml><?xml version="1.0" encoding="utf-8"?>
<p:sld xmlns:a="http://schemas.openxmlformats.org/drawingml/2006/main" xmlns:r="http://schemas.openxmlformats.org/officeDocument/2006/relationships" xmlns:p="http://schemas.openxmlformats.org/presentationml/2006/main" show="1" showMasterSp="1">
  <p:cSld>
    <p:spTree>
      <p:nvGrpSpPr>
        <p:cNvPr id="159" name=""/>
        <p:cNvGrpSpPr/>
        <p:nvPr/>
      </p:nvGrpSpPr>
      <p:grpSpPr>
        <a:xfrm rot="0">
          <a:off x="0" y="0"/>
          <a:ext cx="0" cy="0"/>
          <a:chOff x="0" y="0"/>
          <a:chExt cx="0" cy="0"/>
        </a:xfrm>
      </p:grpSpPr>
      <p:sp>
        <p:nvSpPr>
          <p:cNvPr id="1048720" name="Rectangle 2"/>
          <p:cNvSpPr/>
          <p:nvPr>
            <p:ph type="title" sz="full" idx="0"/>
          </p:nvPr>
        </p:nvSpPr>
        <p:spPr>
          <a:xfrm rot="0">
            <a:off x="395287" y="-304800"/>
            <a:ext cx="8229600" cy="914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2800" lang="en-US">
                <a:solidFill>
                  <a:srgbClr val="FF0000"/>
                </a:solidFill>
              </a:rPr>
              <a:t>MACROPHAGE BY TEM</a:t>
            </a:r>
          </a:p>
        </p:txBody>
      </p:sp>
      <p:sp>
        <p:nvSpPr>
          <p:cNvPr id="1048721" name="Rectangle 3"/>
          <p:cNvSpPr/>
          <p:nvPr>
            <p:ph sz="full" idx="1"/>
          </p:nvPr>
        </p:nvSpPr>
        <p:spPr>
          <a:xfrm rot="0">
            <a:off x="0" y="4876800"/>
            <a:ext cx="9144000" cy="20574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365125" lvl="0">
              <a:buFont typeface="Calibri" pitchFamily="34" charset="0"/>
              <a:buChar char="–"/>
            </a:pPr>
            <a:r>
              <a:rPr altLang="en-US" b="1" sz="2400" lang="en-US">
                <a:solidFill>
                  <a:srgbClr val="00B050"/>
                </a:solidFill>
              </a:rPr>
              <a:t> A macrophages characterized by an irregular surface with pleats, protrusions, and indentations, a morphologic expression of their active pinocytotic and phagocytic activities.</a:t>
            </a:r>
          </a:p>
          <a:p>
            <a:pPr eaLnBrk="1" hangingPunct="1" indent="-365125" lvl="0">
              <a:buFont typeface="Calibri" pitchFamily="34" charset="0"/>
              <a:buChar char="–"/>
            </a:pPr>
            <a:r>
              <a:rPr altLang="en-US" sz="2400" lang="en-US">
                <a:solidFill>
                  <a:srgbClr val="FF00FF"/>
                </a:solidFill>
              </a:rPr>
              <a:t>Has generally well-developed Golgi apparatus, many lysosomes, and rough ER. </a:t>
            </a:r>
          </a:p>
        </p:txBody>
      </p:sp>
      <p:pic>
        <p:nvPicPr>
          <p:cNvPr id="2097178" name="Picture 4" descr="01lungtem macrophage"/>
          <p:cNvPicPr>
            <a:picLocks/>
          </p:cNvPicPr>
          <p:nvPr/>
        </p:nvPicPr>
        <p:blipFill>
          <a:blip xmlns:r="http://schemas.openxmlformats.org/officeDocument/2006/relationships" r:embed="rId1"/>
          <a:srcRect l="0" t="0" r="0" b="0"/>
          <a:stretch>
            <a:fillRect/>
          </a:stretch>
        </p:blipFill>
        <p:spPr>
          <a:xfrm rot="0">
            <a:off x="339725" y="457200"/>
            <a:ext cx="8423275" cy="4495800"/>
          </a:xfrm>
          <a:prstGeom prst="rect"/>
          <a:noFill/>
          <a:ln>
            <a:noFill/>
          </a:ln>
        </p:spPr>
      </p:pic>
    </p:spTree>
  </p:cSld>
  <p:clrMapOvr>
    <a:masterClrMapping/>
  </p:clrMapOvr>
  <p:transition spd="fast" advClick="1"/>
</p:sld>
</file>

<file path=ppt/slides/slide16.xml><?xml version="1.0" encoding="utf-8"?>
<p:sld xmlns:a="http://schemas.openxmlformats.org/drawingml/2006/main" xmlns:r="http://schemas.openxmlformats.org/officeDocument/2006/relationships" xmlns:p="http://schemas.openxmlformats.org/presentationml/2006/main" show="1" showMasterSp="1">
  <p:cSld>
    <p:spTree>
      <p:nvGrpSpPr>
        <p:cNvPr id="160" name=""/>
        <p:cNvGrpSpPr/>
        <p:nvPr/>
      </p:nvGrpSpPr>
      <p:grpSpPr>
        <a:xfrm rot="0">
          <a:off x="0" y="0"/>
          <a:ext cx="0" cy="0"/>
          <a:chOff x="0" y="0"/>
          <a:chExt cx="0" cy="0"/>
        </a:xfrm>
      </p:grpSpPr>
      <p:graphicFrame>
        <p:nvGraphicFramePr>
          <p:cNvPr id="4194304" name=""/>
          <p:cNvGraphicFramePr>
            <a:graphicFrameLocks/>
          </p:cNvGraphicFramePr>
          <p:nvPr/>
        </p:nvGraphicFramePr>
        <p:xfrm rot="0">
          <a:off x="76200" y="117475"/>
          <a:ext cx="8915400" cy="6821487"/>
        </p:xfrm>
        <a:graphic>
          <a:graphicData uri="http://schemas.openxmlformats.org/drawingml/2006/table">
            <a:tbl>
              <a:tblPr/>
              <a:tblGrid>
                <a:gridCol w="2322512"/>
                <a:gridCol w="2771775"/>
                <a:gridCol w="3821112"/>
              </a:tblGrid>
              <a:tr h="388937">
                <a:tc gridSpan="3">
                  <a:txBody>
                    <a:bodyPr/>
                    <a:p>
                      <a:pPr algn="ctr" eaLnBrk="1" hangingPunct="1" lvl="0">
                        <a:lnSpc>
                          <a:spcPct val="115000"/>
                        </a:lnSpc>
                        <a:spcAft>
                          <a:spcPts val="1000"/>
                        </a:spcAft>
                      </a:pPr>
                      <a:r>
                        <a:rPr altLang="en-US" b="1" sz="2000" lang="en-GB">
                          <a:solidFill>
                            <a:srgbClr val="FF0066"/>
                          </a:solidFill>
                          <a:latin typeface="Calibri" pitchFamily="34" charset="0"/>
                          <a:ea typeface="Times New Roman" pitchFamily="18" charset="0"/>
                        </a:rPr>
                        <a:t>Distribution </a:t>
                      </a:r>
                      <a:r>
                        <a:rPr altLang="en-US" b="1" sz="2000" lang="en-GB">
                          <a:solidFill>
                            <a:srgbClr val="FF0066"/>
                          </a:solidFill>
                          <a:latin typeface="Calibri" pitchFamily="34" charset="0"/>
                          <a:ea typeface="Times New Roman" pitchFamily="18" charset="0"/>
                        </a:rPr>
                        <a:t>&amp; </a:t>
                      </a:r>
                      <a:r>
                        <a:rPr altLang="en-US" b="1" sz="2000" lang="en-GB">
                          <a:solidFill>
                            <a:srgbClr val="FF0066"/>
                          </a:solidFill>
                          <a:latin typeface="Calibri" pitchFamily="34" charset="0"/>
                          <a:ea typeface="Times New Roman" pitchFamily="18" charset="0"/>
                        </a:rPr>
                        <a:t>Main Functions of the Cells of the Mononuclear </a:t>
                      </a:r>
                      <a:r>
                        <a:rPr altLang="en-US" b="1" sz="2000" lang="en-GB">
                          <a:solidFill>
                            <a:srgbClr val="FF0066"/>
                          </a:solidFill>
                          <a:latin typeface="Calibri" pitchFamily="34" charset="0"/>
                          <a:ea typeface="Times New Roman" pitchFamily="18" charset="0"/>
                        </a:rPr>
                        <a:t>Phagocytic System</a:t>
                      </a:r>
                    </a:p>
                  </a:txBody>
                  <a:tcPr marL="18913" marR="18913" marT="18914" marB="18914" anchor="ctr"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chemeClr val="lt1"/>
                    </a:solidFill>
                  </a:tcPr>
                </a:tc>
                <a:tc hMerge="1">
                  <a:txBody>
                    <a:bodyPr/>
                    <a:p>
                      <a:endParaRPr sz="2800"/>
                    </a:p>
                  </a:txBody>
                </a:tc>
                <a:tc hMerge="1">
                  <a:txBody>
                    <a:bodyPr/>
                    <a:p>
                      <a:endParaRPr sz="2800"/>
                    </a:p>
                  </a:txBody>
                </a:tc>
              </a:tr>
              <a:tr h="457199">
                <a:tc>
                  <a:txBody>
                    <a:bodyPr/>
                    <a:p>
                      <a:pPr algn="ctr" eaLnBrk="1" hangingPunct="1" lvl="0">
                        <a:lnSpc>
                          <a:spcPct val="115000"/>
                        </a:lnSpc>
                      </a:pPr>
                      <a:r>
                        <a:rPr altLang="en-US" b="1" sz="2400" lang="en-GB">
                          <a:solidFill>
                            <a:srgbClr val="00B050"/>
                          </a:solidFill>
                          <a:latin typeface="Calibri" pitchFamily="34" charset="0"/>
                          <a:ea typeface="Times New Roman" pitchFamily="18" charset="0"/>
                        </a:rPr>
                        <a:t>Cell Type</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ctr" eaLnBrk="1" hangingPunct="1" lvl="0">
                        <a:lnSpc>
                          <a:spcPct val="115000"/>
                        </a:lnSpc>
                      </a:pPr>
                      <a:r>
                        <a:rPr altLang="en-US" b="1" sz="2400" lang="en-GB">
                          <a:solidFill>
                            <a:srgbClr val="00B050"/>
                          </a:solidFill>
                          <a:latin typeface="Calibri" pitchFamily="34" charset="0"/>
                          <a:ea typeface="Times New Roman" pitchFamily="18" charset="0"/>
                        </a:rPr>
                        <a:t>Location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ctr" eaLnBrk="1" hangingPunct="1" lvl="0">
                        <a:lnSpc>
                          <a:spcPct val="115000"/>
                        </a:lnSpc>
                      </a:pPr>
                      <a:r>
                        <a:rPr altLang="en-US" b="1" sz="2400" lang="en-GB">
                          <a:solidFill>
                            <a:srgbClr val="00B050"/>
                          </a:solidFill>
                          <a:latin typeface="Calibri" pitchFamily="34" charset="0"/>
                          <a:ea typeface="Times New Roman" pitchFamily="18" charset="0"/>
                        </a:rPr>
                        <a:t>Main Function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Monocytes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Blood </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Precursor of 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1409699">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Tissue macrophages</a:t>
                      </a:r>
                    </a:p>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(H</a:t>
                      </a:r>
                      <a:r>
                        <a:rPr altLang="en-US" b="1" sz="2400" lang="en-US">
                          <a:solidFill>
                            <a:srgbClr val="9900FF"/>
                          </a:solidFill>
                          <a:latin typeface="Calibri" pitchFamily="34" charset="0"/>
                        </a:rPr>
                        <a:t>istiocytes)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All Connective tissues, </a:t>
                      </a:r>
                      <a:r>
                        <a:rPr altLang="en-US" b="1" sz="1800" lang="en-GB">
                          <a:solidFill>
                            <a:srgbClr val="0070C0"/>
                          </a:solidFill>
                          <a:latin typeface="Calibri" pitchFamily="34" charset="0"/>
                          <a:ea typeface="Times New Roman" pitchFamily="18" charset="0"/>
                        </a:rPr>
                        <a:t>lymphoid organs, </a:t>
                      </a:r>
                      <a:r>
                        <a:rPr altLang="en-US" b="1" sz="1800" lang="en-GB">
                          <a:solidFill>
                            <a:srgbClr val="0070C0"/>
                          </a:solidFill>
                          <a:latin typeface="Calibri" pitchFamily="34" charset="0"/>
                          <a:ea typeface="Times New Roman" pitchFamily="18" charset="0"/>
                        </a:rPr>
                        <a:t>bone </a:t>
                      </a:r>
                      <a:r>
                        <a:rPr altLang="en-US" b="1" sz="1800" lang="en-GB">
                          <a:solidFill>
                            <a:srgbClr val="0070C0"/>
                          </a:solidFill>
                          <a:latin typeface="Calibri" pitchFamily="34" charset="0"/>
                          <a:ea typeface="Times New Roman" pitchFamily="18" charset="0"/>
                        </a:rPr>
                        <a:t>marrow</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r>
                        <a:rPr altLang="en-US" b="1" sz="1800" lang="en-GB">
                          <a:solidFill>
                            <a:srgbClr val="0070C0"/>
                          </a:solidFill>
                          <a:latin typeface="Calibri" pitchFamily="34" charset="0"/>
                          <a:ea typeface="Times New Roman" pitchFamily="18" charset="0"/>
                        </a:rPr>
                        <a:t>Production of cytokines, chemotactic factors, and several other molecules that participate in inflammation </a:t>
                      </a:r>
                      <a:r>
                        <a:rPr altLang="en-US" b="1" sz="1800" lang="en-GB">
                          <a:solidFill>
                            <a:srgbClr val="0070C0"/>
                          </a:solidFill>
                          <a:latin typeface="Calibri" pitchFamily="34" charset="0"/>
                          <a:ea typeface="Times New Roman" pitchFamily="18" charset="0"/>
                        </a:rPr>
                        <a:t>(defence), </a:t>
                      </a:r>
                      <a:r>
                        <a:rPr altLang="en-US" b="1" sz="1800" lang="en-GB">
                          <a:solidFill>
                            <a:srgbClr val="0070C0"/>
                          </a:solidFill>
                          <a:latin typeface="Calibri" pitchFamily="34" charset="0"/>
                          <a:ea typeface="Times New Roman" pitchFamily="18" charset="0"/>
                        </a:rPr>
                        <a:t>antigen </a:t>
                      </a:r>
                      <a:r>
                        <a:rPr altLang="en-US" b="1" sz="1800" lang="en-GB">
                          <a:solidFill>
                            <a:srgbClr val="0070C0"/>
                          </a:solidFill>
                          <a:latin typeface="Calibri" pitchFamily="34" charset="0"/>
                          <a:ea typeface="Times New Roman" pitchFamily="18" charset="0"/>
                        </a:rPr>
                        <a:t>processing </a:t>
                      </a:r>
                      <a:r>
                        <a:rPr altLang="en-US" b="1" sz="1800" lang="en-GB">
                          <a:solidFill>
                            <a:srgbClr val="0070C0"/>
                          </a:solidFill>
                          <a:latin typeface="Calibri" pitchFamily="34" charset="0"/>
                          <a:ea typeface="Times New Roman" pitchFamily="18" charset="0"/>
                        </a:rPr>
                        <a:t>and presentation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i="1" lang="en-GB">
                          <a:solidFill>
                            <a:srgbClr val="FF0000"/>
                          </a:solidFill>
                          <a:latin typeface="Calibri" pitchFamily="34" charset="0"/>
                          <a:ea typeface="Times New Roman" pitchFamily="18" charset="0"/>
                        </a:rPr>
                        <a:t>Kupffer</a:t>
                      </a:r>
                      <a:r>
                        <a:rPr altLang="en-US" b="1" sz="2400" lang="en-GB">
                          <a:solidFill>
                            <a:srgbClr val="FF0000"/>
                          </a:solidFill>
                          <a:latin typeface="Calibri" pitchFamily="34" charset="0"/>
                          <a:ea typeface="Times New Roman" pitchFamily="18" charset="0"/>
                        </a:rPr>
                        <a:t> cell</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2000" lang="en-GB">
                          <a:solidFill>
                            <a:srgbClr val="0070C0"/>
                          </a:solidFill>
                          <a:latin typeface="Calibri" pitchFamily="34" charset="0"/>
                          <a:ea typeface="Times New Roman" pitchFamily="18" charset="0"/>
                        </a:rPr>
                        <a:t>Liver</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Same as </a:t>
                      </a:r>
                      <a:r>
                        <a:rPr altLang="en-US" b="1" sz="1800" lang="en-GB">
                          <a:solidFill>
                            <a:srgbClr val="0070C0"/>
                          </a:solidFill>
                          <a:latin typeface="Calibri" pitchFamily="34" charset="0"/>
                          <a:ea typeface="Times New Roman" pitchFamily="18" charset="0"/>
                        </a:rPr>
                        <a:t>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Microglial </a:t>
                      </a:r>
                      <a:r>
                        <a:rPr altLang="en-US" b="1" sz="2400" lang="en-GB">
                          <a:solidFill>
                            <a:srgbClr val="FF0000"/>
                          </a:solidFill>
                          <a:latin typeface="Calibri" pitchFamily="34" charset="0"/>
                          <a:ea typeface="Times New Roman" pitchFamily="18" charset="0"/>
                        </a:rPr>
                        <a:t>cell</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Nerve tissue of </a:t>
                      </a:r>
                      <a:r>
                        <a:rPr altLang="en-US" b="1" sz="1800" lang="en-GB">
                          <a:solidFill>
                            <a:srgbClr val="0070C0"/>
                          </a:solidFill>
                          <a:latin typeface="Calibri" pitchFamily="34" charset="0"/>
                          <a:ea typeface="Times New Roman" pitchFamily="18" charset="0"/>
                        </a:rPr>
                        <a:t>the CNS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Same as 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lang="en-GB">
                          <a:solidFill>
                            <a:srgbClr val="FF0000"/>
                          </a:solidFill>
                          <a:latin typeface="Calibri" pitchFamily="34" charset="0"/>
                          <a:ea typeface="Calibri" pitchFamily="34" charset="0"/>
                        </a:rPr>
                        <a:t>Dust cells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600" lang="en-GB">
                          <a:solidFill>
                            <a:srgbClr val="0070C0"/>
                          </a:solidFill>
                          <a:latin typeface="Calibri" pitchFamily="34" charset="0"/>
                          <a:ea typeface="Calibri" pitchFamily="34" charset="0"/>
                        </a:rPr>
                        <a:t> </a:t>
                      </a:r>
                      <a:r>
                        <a:rPr altLang="en-US" b="1" sz="2000" lang="en-GB">
                          <a:solidFill>
                            <a:srgbClr val="0070C0"/>
                          </a:solidFill>
                          <a:latin typeface="Calibri" pitchFamily="34" charset="0"/>
                          <a:ea typeface="Calibri" pitchFamily="34" charset="0"/>
                        </a:rPr>
                        <a:t>Lung tissue</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Same as 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7199">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Langerhans </a:t>
                      </a:r>
                      <a:r>
                        <a:rPr altLang="en-US" b="1" sz="2400" lang="en-GB">
                          <a:solidFill>
                            <a:srgbClr val="FF0000"/>
                          </a:solidFill>
                          <a:latin typeface="Calibri" pitchFamily="34" charset="0"/>
                          <a:ea typeface="Times New Roman" pitchFamily="18" charset="0"/>
                        </a:rPr>
                        <a:t>cells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Epidermis of Skin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Antigen processing and presentation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Microfold cells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Peyer’s patch of GIT</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Antigen processing and presentation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458787">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Dendritic </a:t>
                      </a:r>
                      <a:r>
                        <a:rPr altLang="en-US" b="1" sz="2400" lang="en-GB">
                          <a:solidFill>
                            <a:srgbClr val="FF0000"/>
                          </a:solidFill>
                          <a:latin typeface="Calibri" pitchFamily="34" charset="0"/>
                          <a:ea typeface="Times New Roman" pitchFamily="18" charset="0"/>
                        </a:rPr>
                        <a:t>cells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Lymph nodes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lnSpc>
                          <a:spcPct val="115000"/>
                        </a:lnSpc>
                      </a:pPr>
                      <a:r>
                        <a:rPr altLang="en-US" b="1" sz="1800" lang="en-GB">
                          <a:solidFill>
                            <a:srgbClr val="0070C0"/>
                          </a:solidFill>
                          <a:latin typeface="Calibri" pitchFamily="34" charset="0"/>
                          <a:ea typeface="Times New Roman" pitchFamily="18" charset="0"/>
                        </a:rPr>
                        <a:t>Antigen processing and presentation</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585787">
                <a:tc>
                  <a:txBody>
                    <a:bodyPr/>
                    <a:p>
                      <a:pPr algn="l" eaLnBrk="1" hangingPunct="1" indent="0" lvl="0" marL="90487">
                        <a:lnSpc>
                          <a:spcPct val="115000"/>
                        </a:lnSpc>
                      </a:pPr>
                      <a:r>
                        <a:rPr altLang="en-US" b="1" sz="2400" lang="en-GB">
                          <a:solidFill>
                            <a:srgbClr val="FF0000"/>
                          </a:solidFill>
                          <a:latin typeface="Calibri" pitchFamily="34" charset="0"/>
                          <a:ea typeface="Times New Roman" pitchFamily="18" charset="0"/>
                        </a:rPr>
                        <a:t>Osteoclasts </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r>
                        <a:rPr altLang="en-US" b="1" sz="1800" lang="en-GB">
                          <a:solidFill>
                            <a:srgbClr val="0070C0"/>
                          </a:solidFill>
                          <a:latin typeface="Calibri" pitchFamily="34" charset="0"/>
                          <a:ea typeface="Times New Roman" pitchFamily="18" charset="0"/>
                        </a:rPr>
                        <a:t>Bone </a:t>
                      </a:r>
                      <a:r>
                        <a:rPr altLang="en-US" b="1" sz="1800" lang="en-GB">
                          <a:solidFill>
                            <a:srgbClr val="0070C0"/>
                          </a:solidFill>
                          <a:latin typeface="Calibri" pitchFamily="34" charset="0"/>
                          <a:ea typeface="Times New Roman" pitchFamily="18" charset="0"/>
                        </a:rPr>
                        <a:t>(formed by fusion </a:t>
                      </a:r>
                      <a:r>
                        <a:rPr altLang="en-US" b="1" sz="1800" lang="en-GB">
                          <a:solidFill>
                            <a:srgbClr val="0070C0"/>
                          </a:solidFill>
                          <a:latin typeface="Calibri" pitchFamily="34" charset="0"/>
                          <a:ea typeface="Times New Roman" pitchFamily="18" charset="0"/>
                        </a:rPr>
                        <a:t>of several 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r>
                        <a:rPr altLang="en-US" b="1" sz="1800" lang="en-GB">
                          <a:solidFill>
                            <a:srgbClr val="0070C0"/>
                          </a:solidFill>
                          <a:latin typeface="Calibri" pitchFamily="34" charset="0"/>
                          <a:ea typeface="Times New Roman" pitchFamily="18" charset="0"/>
                        </a:rPr>
                        <a:t>Digestion of </a:t>
                      </a:r>
                      <a:r>
                        <a:rPr altLang="en-US" b="1" sz="1800" lang="en-GB">
                          <a:solidFill>
                            <a:srgbClr val="0070C0"/>
                          </a:solidFill>
                          <a:latin typeface="Calibri" pitchFamily="34" charset="0"/>
                          <a:ea typeface="Times New Roman" pitchFamily="18" charset="0"/>
                        </a:rPr>
                        <a:t>bone matrix to produce bone marrow cavities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r h="769937">
                <a:tc>
                  <a:txBody>
                    <a:bodyPr/>
                    <a:p>
                      <a:pPr algn="l" eaLnBrk="1" hangingPunct="1" indent="0" lvl="0" marL="90487"/>
                      <a:r>
                        <a:rPr altLang="en-US" b="1" sz="2400" lang="en-GB">
                          <a:solidFill>
                            <a:srgbClr val="FF0000"/>
                          </a:solidFill>
                          <a:latin typeface="Calibri" pitchFamily="34" charset="0"/>
                          <a:ea typeface="Times New Roman" pitchFamily="18" charset="0"/>
                        </a:rPr>
                        <a:t>Multinuclear giant cell</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r>
                        <a:rPr altLang="en-US" b="1" sz="1800" lang="en-GB">
                          <a:solidFill>
                            <a:srgbClr val="0070C0"/>
                          </a:solidFill>
                          <a:latin typeface="Calibri" pitchFamily="34" charset="0"/>
                          <a:ea typeface="Times New Roman" pitchFamily="18" charset="0"/>
                        </a:rPr>
                        <a:t>Connective tissue (fusion of several macrophages)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c>
                  <a:txBody>
                    <a:bodyPr/>
                    <a:p>
                      <a:pPr algn="l" eaLnBrk="1" hangingPunct="1" indent="0" lvl="0" marL="90487"/>
                      <a:r>
                        <a:rPr altLang="en-US" b="1" sz="1800" lang="en-GB">
                          <a:solidFill>
                            <a:srgbClr val="0070C0"/>
                          </a:solidFill>
                          <a:latin typeface="Calibri" pitchFamily="34" charset="0"/>
                          <a:ea typeface="Times New Roman" pitchFamily="18" charset="0"/>
                        </a:rPr>
                        <a:t>Segregation and digestion of foreign bodies</a:t>
                      </a:r>
                    </a:p>
                  </a:txBody>
                  <a:tcPr marL="18913" marR="18913" marT="18914" marB="18914"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FFF"/>
                    </a:solidFill>
                  </a:tcPr>
                </a:tc>
              </a:tr>
            </a:tbl>
          </a:graphicData>
        </a:graphic>
      </p:graphicFrame>
      <p:cxnSp>
        <p:nvCxnSpPr>
          <p:cNvPr id="3145730" name="Straight Connector 7"/>
          <p:cNvCxnSpPr>
            <a:cxnSpLocks/>
          </p:cNvCxnSpPr>
          <p:nvPr/>
        </p:nvCxnSpPr>
        <p:spPr>
          <a:xfrm rot="5400000">
            <a:off x="-2820195" y="3352007"/>
            <a:ext cx="5791200" cy="1587"/>
          </a:xfrm>
          <a:prstGeom prst="line"/>
          <a:noFill/>
          <a:ln w="9525" cap="flat" cmpd="sng">
            <a:solidFill>
              <a:srgbClr val="4A7EBB">
                <a:alpha val="100000"/>
              </a:srgbClr>
            </a:solidFill>
            <a:prstDash val="solid"/>
            <a:round/>
          </a:ln>
        </p:spPr>
      </p:cxnSp>
    </p:spTree>
  </p:cSld>
  <p:clrMapOvr>
    <a:masterClrMapping/>
  </p:clrMapOvr>
  <p:transition spd="fast" advClick="1"/>
</p:sld>
</file>

<file path=ppt/slides/slide17.xml><?xml version="1.0" encoding="utf-8"?>
<p:sld xmlns:a="http://schemas.openxmlformats.org/drawingml/2006/main" xmlns:r="http://schemas.openxmlformats.org/officeDocument/2006/relationships" xmlns:p="http://schemas.openxmlformats.org/presentationml/2006/main" show="1" showMasterSp="1">
  <p:cSld>
    <p:spTree>
      <p:nvGrpSpPr>
        <p:cNvPr id="161" name=""/>
        <p:cNvGrpSpPr/>
        <p:nvPr/>
      </p:nvGrpSpPr>
      <p:grpSpPr>
        <a:xfrm rot="0">
          <a:off x="0" y="0"/>
          <a:ext cx="0" cy="0"/>
          <a:chOff x="0" y="0"/>
          <a:chExt cx="0" cy="0"/>
        </a:xfrm>
      </p:grpSpPr>
      <p:sp>
        <p:nvSpPr>
          <p:cNvPr id="1048722" name="Rectangle 5"/>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endParaRPr altLang="en-US" lang="en-US"/>
          </a:p>
        </p:txBody>
      </p:sp>
      <p:pic>
        <p:nvPicPr>
          <p:cNvPr id="2097179" name="Picture 4" descr="kup010ct"/>
          <p:cNvPicPr>
            <a:picLocks/>
          </p:cNvPicPr>
          <p:nvPr>
            <p:ph sz="full" idx="1"/>
          </p:nvPr>
        </p:nvPicPr>
        <p:blipFill>
          <a:blip xmlns:r="http://schemas.openxmlformats.org/officeDocument/2006/relationships" r:embed="rId1"/>
          <a:srcRect l="0" t="0" r="0" b="0"/>
          <a:stretch>
            <a:fillRect/>
          </a:stretch>
        </p:blipFill>
        <p:spPr>
          <a:xfrm rot="0">
            <a:off x="0" y="0"/>
            <a:ext cx="9144000" cy="6858000"/>
          </a:xfrm>
          <a:prstGeom prst="rect"/>
          <a:noFill/>
          <a:ln>
            <a:noFill/>
          </a:ln>
        </p:spPr>
      </p:pic>
    </p:spTree>
  </p:cSld>
  <p:clrMapOvr>
    <a:masterClrMapping/>
  </p:clrMapOvr>
  <p:transition spd="fast" advClick="1"/>
</p:sld>
</file>

<file path=ppt/slides/slide18.xml><?xml version="1.0" encoding="utf-8"?>
<p:sld xmlns:a="http://schemas.openxmlformats.org/drawingml/2006/main" xmlns:r="http://schemas.openxmlformats.org/officeDocument/2006/relationships" xmlns:p="http://schemas.openxmlformats.org/presentationml/2006/main" show="1" showMasterSp="1">
  <p:cSld>
    <p:spTree>
      <p:nvGrpSpPr>
        <p:cNvPr id="163" name=""/>
        <p:cNvGrpSpPr/>
        <p:nvPr/>
      </p:nvGrpSpPr>
      <p:grpSpPr>
        <a:xfrm rot="0">
          <a:off x="0" y="0"/>
          <a:ext cx="0" cy="0"/>
          <a:chOff x="0" y="0"/>
          <a:chExt cx="0" cy="0"/>
        </a:xfrm>
      </p:grpSpPr>
      <p:sp>
        <p:nvSpPr>
          <p:cNvPr id="1048729" name="Title 1"/>
          <p:cNvSpPr/>
          <p:nvPr>
            <p:ph type="title" sz="full" idx="0"/>
          </p:nvPr>
        </p:nvSpPr>
        <p:spPr>
          <a:xfrm rot="0">
            <a:off x="1524000" y="0"/>
            <a:ext cx="5486400" cy="8382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lang="en-US">
                <a:solidFill>
                  <a:srgbClr val="FF0000"/>
                </a:solidFill>
              </a:rPr>
              <a:t>Classification of CT</a:t>
            </a:r>
          </a:p>
        </p:txBody>
      </p:sp>
      <p:sp>
        <p:nvSpPr>
          <p:cNvPr id="1048730" name="Rectangle 3"/>
          <p:cNvSpPr/>
          <p:nvPr>
            <p:ph sz="half" idx="1"/>
          </p:nvPr>
        </p:nvSpPr>
        <p:spPr>
          <a:xfrm rot="0">
            <a:off x="76200" y="838200"/>
            <a:ext cx="5257800" cy="5562600"/>
          </a:xfrm>
          <a:prstGeom prst="rect"/>
          <a:noFill/>
          <a:ln>
            <a:noFill/>
          </a:ln>
        </p:spPr>
        <p:txBody>
          <a:bodyPr anchor="t" bIns="45720" lIns="91440" rIns="91440" tIns="45720" vert="horz"/>
          <a:lstStyle>
            <a:lvl1pPr indent="-342900" marL="342900">
              <a:lnSpc>
                <a:spcPct val="100000"/>
              </a:lnSpc>
              <a:spcBef>
                <a:spcPct val="20000"/>
              </a:spcBef>
              <a:spcAft>
                <a:spcPct val="0"/>
              </a:spcAft>
              <a:buChar char="•"/>
              <a:defRPr sz="2800">
                <a:solidFill>
                  <a:schemeClr val="dk1"/>
                </a:solidFill>
              </a:defRPr>
            </a:lvl1pPr>
            <a:lvl2pPr indent="-285750" marL="742950">
              <a:lnSpc>
                <a:spcPct val="100000"/>
              </a:lnSpc>
              <a:spcBef>
                <a:spcPct val="20000"/>
              </a:spcBef>
              <a:spcAft>
                <a:spcPct val="0"/>
              </a:spcAft>
              <a:buChar char="–"/>
              <a:defRPr sz="2400">
                <a:solidFill>
                  <a:schemeClr val="dk1"/>
                </a:solidFill>
              </a:defRPr>
            </a:lvl2pPr>
            <a:lvl3pPr indent="-228600" marL="1143000">
              <a:lnSpc>
                <a:spcPct val="100000"/>
              </a:lnSpc>
              <a:spcBef>
                <a:spcPct val="20000"/>
              </a:spcBef>
              <a:spcAft>
                <a:spcPct val="0"/>
              </a:spcAft>
              <a:buChar char="•"/>
              <a:defRPr sz="2000">
                <a:solidFill>
                  <a:schemeClr val="dk1"/>
                </a:solidFill>
              </a:defRPr>
            </a:lvl3pPr>
            <a:lvl4pPr indent="-228600" marL="1600200">
              <a:lnSpc>
                <a:spcPct val="100000"/>
              </a:lnSpc>
              <a:spcBef>
                <a:spcPct val="20000"/>
              </a:spcBef>
              <a:spcAft>
                <a:spcPct val="0"/>
              </a:spcAft>
              <a:buChar char="–"/>
              <a:defRPr sz="1800">
                <a:solidFill>
                  <a:schemeClr val="dk1"/>
                </a:solidFill>
              </a:defRPr>
            </a:lvl4pPr>
            <a:lvl5pPr indent="-228600" marL="2057400">
              <a:lnSpc>
                <a:spcPct val="100000"/>
              </a:lnSpc>
              <a:spcBef>
                <a:spcPct val="20000"/>
              </a:spcBef>
              <a:spcAft>
                <a:spcPct val="0"/>
              </a:spcAft>
              <a:buChar char="»"/>
              <a:defRPr sz="1800">
                <a:solidFill>
                  <a:schemeClr val="dk1"/>
                </a:solidFill>
              </a:defRPr>
            </a:lvl5pPr>
          </a:lstStyle>
          <a:p>
            <a:pPr eaLnBrk="1" hangingPunct="1" indent="-609600" lvl="0" marL="609600">
              <a:buFont typeface="Wingdings 2" pitchFamily="18" charset="2"/>
              <a:buNone/>
            </a:pPr>
            <a:r>
              <a:rPr altLang="en-US" b="1" sz="3400" lang="en-US">
                <a:solidFill>
                  <a:srgbClr val="FF0000"/>
                </a:solidFill>
              </a:rPr>
              <a:t>I. Embryonic CTs:</a:t>
            </a:r>
          </a:p>
          <a:p>
            <a:pPr eaLnBrk="1" hangingPunct="1" indent="-457199" lvl="1" marL="808037">
              <a:buFont typeface="Wingdings" pitchFamily="2" charset="2"/>
              <a:buAutoNum type="arabicPeriod" startAt="1"/>
            </a:pPr>
            <a:r>
              <a:rPr altLang="en-US" b="1" sz="3400" lang="en-US">
                <a:solidFill>
                  <a:srgbClr val="0070C0"/>
                </a:solidFill>
              </a:rPr>
              <a:t>Mesenchyme</a:t>
            </a:r>
          </a:p>
          <a:p>
            <a:pPr eaLnBrk="1" hangingPunct="1" indent="-457199" lvl="1" marL="808037">
              <a:buFont typeface="Wingdings" pitchFamily="2" charset="2"/>
              <a:buAutoNum type="arabicPeriod" startAt="1"/>
            </a:pPr>
            <a:r>
              <a:rPr altLang="en-US" b="1" sz="3400" lang="en-US">
                <a:solidFill>
                  <a:srgbClr val="0070C0"/>
                </a:solidFill>
              </a:rPr>
              <a:t>Mucoid (Mucous CT)</a:t>
            </a:r>
          </a:p>
          <a:p>
            <a:pPr eaLnBrk="1" hangingPunct="1" indent="-609600" lvl="0" marL="609600">
              <a:buFont typeface="Wingdings 2" pitchFamily="18" charset="2"/>
              <a:buNone/>
            </a:pPr>
            <a:r>
              <a:rPr altLang="en-US" b="1" sz="3400" lang="en-US">
                <a:solidFill>
                  <a:srgbClr val="FF0000"/>
                </a:solidFill>
              </a:rPr>
              <a:t>B. Specialized CTs/ CTs with special properties:</a:t>
            </a:r>
          </a:p>
          <a:p>
            <a:pPr eaLnBrk="1" hangingPunct="1" indent="-457199" lvl="1" marL="808037">
              <a:buFont typeface="Wingdings" pitchFamily="2" charset="2"/>
              <a:buAutoNum type="arabicPeriod" startAt="1"/>
            </a:pPr>
            <a:r>
              <a:rPr altLang="en-US" b="1" sz="3400" lang="en-US">
                <a:solidFill>
                  <a:srgbClr val="FF0066"/>
                </a:solidFill>
              </a:rPr>
              <a:t>Blood tissue</a:t>
            </a:r>
          </a:p>
          <a:p>
            <a:pPr eaLnBrk="1" hangingPunct="1" indent="-457199" lvl="1" marL="808037">
              <a:buFont typeface="Wingdings" pitchFamily="2" charset="2"/>
              <a:buAutoNum type="arabicPeriod" startAt="1"/>
            </a:pPr>
            <a:r>
              <a:rPr altLang="en-US" b="1" sz="3400" lang="en-US">
                <a:solidFill>
                  <a:srgbClr val="FF0066"/>
                </a:solidFill>
              </a:rPr>
              <a:t>Bone tissue</a:t>
            </a:r>
          </a:p>
          <a:p>
            <a:pPr eaLnBrk="1" hangingPunct="1" indent="-457199" lvl="1" marL="808037">
              <a:buFont typeface="Wingdings" pitchFamily="2" charset="2"/>
              <a:buAutoNum type="arabicPeriod" startAt="1"/>
            </a:pPr>
            <a:r>
              <a:rPr altLang="en-US" b="1" sz="3400" lang="en-US">
                <a:solidFill>
                  <a:srgbClr val="FF0066"/>
                </a:solidFill>
              </a:rPr>
              <a:t>Cartilage</a:t>
            </a:r>
          </a:p>
        </p:txBody>
      </p:sp>
      <p:sp>
        <p:nvSpPr>
          <p:cNvPr id="1048731" name="Rectangle 4"/>
          <p:cNvSpPr/>
          <p:nvPr>
            <p:ph sz="half" idx="2"/>
          </p:nvPr>
        </p:nvSpPr>
        <p:spPr>
          <a:xfrm rot="0">
            <a:off x="4648200" y="838200"/>
            <a:ext cx="4495800" cy="6019800"/>
          </a:xfrm>
          <a:prstGeom prst="rect"/>
          <a:noFill/>
          <a:ln>
            <a:noFill/>
          </a:ln>
        </p:spPr>
        <p:txBody>
          <a:bodyPr anchor="t" bIns="45720" lIns="91440" rIns="91440" tIns="45720" vert="horz"/>
          <a:lstStyle>
            <a:lvl1pPr indent="-342900" marL="342900">
              <a:lnSpc>
                <a:spcPct val="100000"/>
              </a:lnSpc>
              <a:spcBef>
                <a:spcPct val="20000"/>
              </a:spcBef>
              <a:spcAft>
                <a:spcPct val="0"/>
              </a:spcAft>
              <a:buChar char="•"/>
              <a:defRPr sz="2800">
                <a:solidFill>
                  <a:schemeClr val="dk1"/>
                </a:solidFill>
              </a:defRPr>
            </a:lvl1pPr>
            <a:lvl2pPr indent="-285750" marL="742950">
              <a:lnSpc>
                <a:spcPct val="100000"/>
              </a:lnSpc>
              <a:spcBef>
                <a:spcPct val="20000"/>
              </a:spcBef>
              <a:spcAft>
                <a:spcPct val="0"/>
              </a:spcAft>
              <a:buChar char="–"/>
              <a:defRPr sz="2400">
                <a:solidFill>
                  <a:schemeClr val="dk1"/>
                </a:solidFill>
              </a:defRPr>
            </a:lvl2pPr>
            <a:lvl3pPr indent="-228600" marL="1143000">
              <a:lnSpc>
                <a:spcPct val="100000"/>
              </a:lnSpc>
              <a:spcBef>
                <a:spcPct val="20000"/>
              </a:spcBef>
              <a:spcAft>
                <a:spcPct val="0"/>
              </a:spcAft>
              <a:buChar char="•"/>
              <a:defRPr sz="2000">
                <a:solidFill>
                  <a:schemeClr val="dk1"/>
                </a:solidFill>
              </a:defRPr>
            </a:lvl3pPr>
            <a:lvl4pPr indent="-228600" marL="1600200">
              <a:lnSpc>
                <a:spcPct val="100000"/>
              </a:lnSpc>
              <a:spcBef>
                <a:spcPct val="20000"/>
              </a:spcBef>
              <a:spcAft>
                <a:spcPct val="0"/>
              </a:spcAft>
              <a:buChar char="–"/>
              <a:defRPr sz="1800">
                <a:solidFill>
                  <a:schemeClr val="dk1"/>
                </a:solidFill>
              </a:defRPr>
            </a:lvl4pPr>
            <a:lvl5pPr indent="-228600" marL="2057400">
              <a:lnSpc>
                <a:spcPct val="100000"/>
              </a:lnSpc>
              <a:spcBef>
                <a:spcPct val="20000"/>
              </a:spcBef>
              <a:spcAft>
                <a:spcPct val="0"/>
              </a:spcAft>
              <a:buChar char="»"/>
              <a:defRPr sz="1800">
                <a:solidFill>
                  <a:schemeClr val="dk1"/>
                </a:solidFill>
              </a:defRPr>
            </a:lvl5pPr>
          </a:lstStyle>
          <a:p>
            <a:pPr eaLnBrk="1" hangingPunct="1" indent="-533400" lvl="0" marL="533400">
              <a:lnSpc>
                <a:spcPct val="70000"/>
              </a:lnSpc>
              <a:buFont typeface="Wingdings 2" pitchFamily="18" charset="2"/>
              <a:buNone/>
            </a:pPr>
            <a:r>
              <a:rPr altLang="en-US" b="1" sz="2400" lang="en-US">
                <a:solidFill>
                  <a:srgbClr val="FF0000"/>
                </a:solidFill>
              </a:rPr>
              <a:t>II. Mature CT proper:</a:t>
            </a:r>
          </a:p>
          <a:p>
            <a:pPr eaLnBrk="1" hangingPunct="1" indent="-533400" lvl="0" marL="533400">
              <a:lnSpc>
                <a:spcPct val="70000"/>
              </a:lnSpc>
              <a:buFont typeface="Wingdings 2" pitchFamily="18" charset="2"/>
              <a:buNone/>
            </a:pPr>
            <a:r>
              <a:rPr altLang="en-US" b="1" sz="2400" lang="en-US">
                <a:solidFill>
                  <a:srgbClr val="FF0000"/>
                </a:solidFill>
              </a:rPr>
              <a:t>A. Ordinary/Fibrous CTs</a:t>
            </a:r>
          </a:p>
          <a:p>
            <a:pPr eaLnBrk="1" hangingPunct="1" indent="-548640" lvl="1" marL="914400">
              <a:lnSpc>
                <a:spcPct val="70000"/>
              </a:lnSpc>
              <a:buFont typeface="Wingdings" pitchFamily="2" charset="2"/>
              <a:buAutoNum type="arabicPeriod" startAt="1"/>
            </a:pPr>
            <a:r>
              <a:rPr altLang="en-US" b="1" lang="en-US">
                <a:solidFill>
                  <a:srgbClr val="FF00FF"/>
                </a:solidFill>
              </a:rPr>
              <a:t>Loose CT </a:t>
            </a:r>
          </a:p>
          <a:p>
            <a:pPr eaLnBrk="1" hangingPunct="1" indent="-514350" lvl="2" marL="1371600">
              <a:lnSpc>
                <a:spcPct val="70000"/>
              </a:lnSpc>
              <a:buFontTx/>
              <a:buAutoNum type="alphaLcPeriod" startAt="1"/>
            </a:pPr>
            <a:r>
              <a:rPr altLang="en-US" b="1" sz="2100" lang="en-US">
                <a:solidFill>
                  <a:srgbClr val="FF00FF"/>
                </a:solidFill>
              </a:rPr>
              <a:t>Loose areolar</a:t>
            </a:r>
          </a:p>
          <a:p>
            <a:pPr eaLnBrk="1" hangingPunct="1" indent="-514350" lvl="2" marL="1371600">
              <a:lnSpc>
                <a:spcPct val="70000"/>
              </a:lnSpc>
              <a:buFontTx/>
              <a:buAutoNum type="alphaLcPeriod" startAt="1"/>
            </a:pPr>
            <a:r>
              <a:rPr altLang="en-US" b="1" sz="2100" lang="en-US">
                <a:solidFill>
                  <a:srgbClr val="FF00FF"/>
                </a:solidFill>
              </a:rPr>
              <a:t>Adipose</a:t>
            </a:r>
          </a:p>
          <a:p>
            <a:pPr eaLnBrk="1" hangingPunct="1" indent="-514350" lvl="2" marL="1371600">
              <a:lnSpc>
                <a:spcPct val="70000"/>
              </a:lnSpc>
              <a:buFontTx/>
              <a:buAutoNum type="alphaLcPeriod" startAt="1"/>
            </a:pPr>
            <a:r>
              <a:rPr altLang="en-US" b="1" sz="2100" lang="en-US">
                <a:solidFill>
                  <a:srgbClr val="FF00FF"/>
                </a:solidFill>
              </a:rPr>
              <a:t>Reticular</a:t>
            </a:r>
          </a:p>
          <a:p>
            <a:pPr eaLnBrk="1" hangingPunct="1" indent="-548640" lvl="1" marL="914400">
              <a:lnSpc>
                <a:spcPct val="70000"/>
              </a:lnSpc>
              <a:buFont typeface="Wingdings" pitchFamily="2" charset="2"/>
              <a:buAutoNum type="arabicPeriod" startAt="1"/>
            </a:pPr>
            <a:r>
              <a:rPr altLang="en-US" b="1" lang="en-US">
                <a:solidFill>
                  <a:srgbClr val="FF00FF"/>
                </a:solidFill>
              </a:rPr>
              <a:t>Dense CT </a:t>
            </a:r>
          </a:p>
          <a:p>
            <a:pPr eaLnBrk="1" hangingPunct="1" indent="-514350" lvl="2" marL="1371600">
              <a:lnSpc>
                <a:spcPct val="70000"/>
              </a:lnSpc>
              <a:buFontTx/>
              <a:buAutoNum type="alphaLcPeriod" startAt="1"/>
            </a:pPr>
            <a:r>
              <a:rPr altLang="en-US" b="1" sz="2400" lang="en-US">
                <a:solidFill>
                  <a:srgbClr val="FF00FF"/>
                </a:solidFill>
              </a:rPr>
              <a:t>Dense regular</a:t>
            </a:r>
          </a:p>
          <a:p>
            <a:pPr eaLnBrk="1" hangingPunct="1" indent="-514350" lvl="3" marL="1714500">
              <a:lnSpc>
                <a:spcPct val="70000"/>
              </a:lnSpc>
              <a:buFont typeface="Wingdings" pitchFamily="2" charset="2"/>
              <a:buAutoNum type="arabicPeriod" startAt="1"/>
            </a:pPr>
            <a:r>
              <a:rPr altLang="en-US" b="1" sz="2100" lang="en-US">
                <a:solidFill>
                  <a:srgbClr val="FF00FF"/>
                </a:solidFill>
              </a:rPr>
              <a:t>Collagenous</a:t>
            </a:r>
          </a:p>
          <a:p>
            <a:pPr eaLnBrk="1" hangingPunct="1" indent="-514350" lvl="3" marL="1714500">
              <a:lnSpc>
                <a:spcPct val="70000"/>
              </a:lnSpc>
              <a:buFont typeface="Wingdings" pitchFamily="2" charset="2"/>
              <a:buAutoNum type="arabicPeriod" startAt="1"/>
            </a:pPr>
            <a:r>
              <a:rPr altLang="en-US" b="1" sz="2100" lang="en-US">
                <a:solidFill>
                  <a:srgbClr val="FF00FF"/>
                </a:solidFill>
              </a:rPr>
              <a:t>Elastic</a:t>
            </a:r>
          </a:p>
          <a:p>
            <a:pPr eaLnBrk="1" hangingPunct="1" indent="-514350" lvl="2" marL="1371600">
              <a:lnSpc>
                <a:spcPct val="70000"/>
              </a:lnSpc>
              <a:buFontTx/>
              <a:buAutoNum type="alphaLcPeriod" startAt="1"/>
            </a:pPr>
            <a:r>
              <a:rPr altLang="en-US" b="1" sz="2400" lang="en-US">
                <a:solidFill>
                  <a:srgbClr val="FF00FF"/>
                </a:solidFill>
              </a:rPr>
              <a:t>Dense irregular</a:t>
            </a:r>
          </a:p>
          <a:p>
            <a:pPr eaLnBrk="1" hangingPunct="1" indent="-514350" lvl="3" marL="1714500">
              <a:lnSpc>
                <a:spcPct val="70000"/>
              </a:lnSpc>
              <a:buFont typeface="Wingdings" pitchFamily="2" charset="2"/>
              <a:buAutoNum type="arabicPeriod" startAt="1"/>
            </a:pPr>
            <a:r>
              <a:rPr altLang="en-US" b="1" sz="2400" lang="en-US">
                <a:solidFill>
                  <a:srgbClr val="FF00FF"/>
                </a:solidFill>
              </a:rPr>
              <a:t>Collagenous</a:t>
            </a:r>
          </a:p>
          <a:p>
            <a:pPr eaLnBrk="1" hangingPunct="1" indent="-514350" lvl="3" marL="1714500">
              <a:lnSpc>
                <a:spcPct val="70000"/>
              </a:lnSpc>
              <a:buFont typeface="Wingdings" pitchFamily="2" charset="2"/>
              <a:buAutoNum type="arabicPeriod" startAt="1"/>
            </a:pPr>
            <a:r>
              <a:rPr altLang="en-US" b="1" sz="2400" lang="en-US">
                <a:solidFill>
                  <a:srgbClr val="FF00FF"/>
                </a:solidFill>
              </a:rPr>
              <a:t>Fibroelastic </a:t>
            </a:r>
          </a:p>
        </p:txBody>
      </p:sp>
    </p:spTree>
  </p:cSld>
  <p:clrMapOvr>
    <a:masterClrMapping/>
  </p:clrMapOvr>
  <p:transition spd="slow" advClick="1"/>
</p:sld>
</file>

<file path=ppt/slides/slide19.xml><?xml version="1.0" encoding="utf-8"?>
<p:sld xmlns:a="http://schemas.openxmlformats.org/drawingml/2006/main" xmlns:r="http://schemas.openxmlformats.org/officeDocument/2006/relationships" xmlns:p="http://schemas.openxmlformats.org/presentationml/2006/main" show="1" showMasterSp="1">
  <p:cSld>
    <p:spTree>
      <p:nvGrpSpPr>
        <p:cNvPr id="166" name=""/>
        <p:cNvGrpSpPr/>
        <p:nvPr/>
      </p:nvGrpSpPr>
      <p:grpSpPr>
        <a:xfrm rot="0">
          <a:off x="0" y="0"/>
          <a:ext cx="0" cy="0"/>
          <a:chOff x="0" y="0"/>
          <a:chExt cx="0" cy="0"/>
        </a:xfrm>
      </p:grpSpPr>
      <p:sp>
        <p:nvSpPr>
          <p:cNvPr id="1048735" name="Rectangle 2"/>
          <p:cNvSpPr/>
          <p:nvPr>
            <p:ph type="title" sz="full" idx="4294967295"/>
          </p:nvPr>
        </p:nvSpPr>
        <p:spPr>
          <a:xfrm rot="0">
            <a:off x="0" y="-38735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sz="3200" lang="en-US">
                <a:solidFill>
                  <a:srgbClr val="FF0000"/>
                </a:solidFill>
              </a:rPr>
              <a:t>Types of Fibrous Connective Tissues</a:t>
            </a:r>
          </a:p>
        </p:txBody>
      </p:sp>
      <p:sp>
        <p:nvSpPr>
          <p:cNvPr id="1048736" name="Rectangle 3"/>
          <p:cNvSpPr/>
          <p:nvPr>
            <p:ph type="body" sz="half" idx="4294967295"/>
          </p:nvPr>
        </p:nvSpPr>
        <p:spPr>
          <a:xfrm rot="0">
            <a:off x="0" y="381000"/>
            <a:ext cx="3886200" cy="6477000"/>
          </a:xfrm>
          <a:prstGeom prst="rect"/>
          <a:noFill/>
          <a:ln>
            <a:noFill/>
          </a:ln>
        </p:spPr>
        <p:txBody>
          <a:bodyPr anchor="t" bIns="45720" lIns="91440" rIns="91440" tIns="45720" vert="horz"/>
          <a:lstStyle>
            <a:lvl1pPr indent="-342900" marL="342900">
              <a:lnSpc>
                <a:spcPct val="100000"/>
              </a:lnSpc>
              <a:spcBef>
                <a:spcPct val="20000"/>
              </a:spcBef>
              <a:spcAft>
                <a:spcPct val="0"/>
              </a:spcAft>
              <a:buChar char="•"/>
              <a:defRPr sz="2800">
                <a:solidFill>
                  <a:schemeClr val="dk1"/>
                </a:solidFill>
              </a:defRPr>
            </a:lvl1pPr>
            <a:lvl2pPr indent="-285750" marL="742950">
              <a:lnSpc>
                <a:spcPct val="100000"/>
              </a:lnSpc>
              <a:spcBef>
                <a:spcPct val="20000"/>
              </a:spcBef>
              <a:spcAft>
                <a:spcPct val="0"/>
              </a:spcAft>
              <a:buChar char="–"/>
              <a:defRPr sz="2400">
                <a:solidFill>
                  <a:schemeClr val="dk1"/>
                </a:solidFill>
              </a:defRPr>
            </a:lvl2pPr>
            <a:lvl3pPr indent="-228600" marL="1143000">
              <a:lnSpc>
                <a:spcPct val="100000"/>
              </a:lnSpc>
              <a:spcBef>
                <a:spcPct val="20000"/>
              </a:spcBef>
              <a:spcAft>
                <a:spcPct val="0"/>
              </a:spcAft>
              <a:buChar char="•"/>
              <a:defRPr sz="2000">
                <a:solidFill>
                  <a:schemeClr val="dk1"/>
                </a:solidFill>
              </a:defRPr>
            </a:lvl3pPr>
            <a:lvl4pPr indent="-228600" marL="1600200">
              <a:lnSpc>
                <a:spcPct val="100000"/>
              </a:lnSpc>
              <a:spcBef>
                <a:spcPct val="20000"/>
              </a:spcBef>
              <a:spcAft>
                <a:spcPct val="0"/>
              </a:spcAft>
              <a:buChar char="–"/>
              <a:defRPr sz="1800">
                <a:solidFill>
                  <a:schemeClr val="dk1"/>
                </a:solidFill>
              </a:defRPr>
            </a:lvl4pPr>
            <a:lvl5pPr indent="-228600" marL="2057400">
              <a:lnSpc>
                <a:spcPct val="100000"/>
              </a:lnSpc>
              <a:spcBef>
                <a:spcPct val="20000"/>
              </a:spcBef>
              <a:spcAft>
                <a:spcPct val="0"/>
              </a:spcAft>
              <a:buChar char="»"/>
              <a:defRPr sz="1800">
                <a:solidFill>
                  <a:schemeClr val="dk1"/>
                </a:solidFill>
              </a:defRPr>
            </a:lvl5pPr>
          </a:lstStyle>
          <a:p>
            <a:pPr eaLnBrk="1" hangingPunct="1" indent="-231775" lvl="0" marL="231775">
              <a:spcBef>
                <a:spcPct val="0"/>
              </a:spcBef>
            </a:pPr>
            <a:r>
              <a:rPr altLang="en-US" b="1" sz="2400" lang="en-US"/>
              <a:t>Two types based on the relative abundance of fibers:</a:t>
            </a:r>
          </a:p>
          <a:p>
            <a:pPr eaLnBrk="1" hangingPunct="1" indent="-288925" lvl="1" marL="288925">
              <a:spcBef>
                <a:spcPct val="0"/>
              </a:spcBef>
              <a:buFontTx/>
              <a:buAutoNum type="arabicPeriod" startAt="1"/>
            </a:pPr>
            <a:r>
              <a:rPr altLang="en-US" b="1" lang="en-US">
                <a:solidFill>
                  <a:srgbClr val="FF0066"/>
                </a:solidFill>
              </a:rPr>
              <a:t>Loose Connective Tissue</a:t>
            </a:r>
          </a:p>
          <a:p>
            <a:pPr eaLnBrk="1" hangingPunct="1" indent="-288925" lvl="2" marL="288925">
              <a:spcBef>
                <a:spcPct val="0"/>
              </a:spcBef>
              <a:buFont typeface="Calibri" pitchFamily="34" charset="0"/>
              <a:buChar char="–"/>
            </a:pPr>
            <a:r>
              <a:rPr altLang="en-US" b="1" sz="2400" lang="en-US">
                <a:solidFill>
                  <a:srgbClr val="9900FF"/>
                </a:solidFill>
              </a:rPr>
              <a:t>Lots of ground substance and cells.  Fewer fibers.</a:t>
            </a:r>
          </a:p>
          <a:p>
            <a:pPr eaLnBrk="1" hangingPunct="1" indent="-288925" lvl="2" marL="288925">
              <a:spcBef>
                <a:spcPct val="0"/>
              </a:spcBef>
              <a:buFont typeface="Calibri" pitchFamily="34" charset="0"/>
              <a:buChar char="–"/>
            </a:pPr>
            <a:r>
              <a:rPr altLang="en-US" b="1" sz="2400" lang="en-US">
                <a:solidFill>
                  <a:srgbClr val="9900FF"/>
                </a:solidFill>
              </a:rPr>
              <a:t>Leaves abundant empty spaces in tissue sections.</a:t>
            </a:r>
          </a:p>
          <a:p>
            <a:pPr eaLnBrk="1" hangingPunct="1" indent="-288925" lvl="1" marL="288925">
              <a:spcBef>
                <a:spcPct val="0"/>
              </a:spcBef>
              <a:buFontTx/>
              <a:buAutoNum type="arabicPeriod" startAt="1"/>
            </a:pPr>
            <a:r>
              <a:rPr altLang="en-US" b="1" lang="en-US">
                <a:solidFill>
                  <a:srgbClr val="FF0066"/>
                </a:solidFill>
              </a:rPr>
              <a:t>Dense Connective Tissue</a:t>
            </a:r>
          </a:p>
          <a:p>
            <a:pPr eaLnBrk="1" hangingPunct="1" indent="-288925" lvl="2" marL="288925">
              <a:spcBef>
                <a:spcPct val="0"/>
              </a:spcBef>
              <a:buFont typeface="Calibri" pitchFamily="34" charset="0"/>
              <a:buChar char="–"/>
            </a:pPr>
            <a:r>
              <a:rPr altLang="en-US" b="1" sz="1800" lang="en-US">
                <a:solidFill>
                  <a:srgbClr val="00B050"/>
                </a:solidFill>
              </a:rPr>
              <a:t>Fibers are predominant constituents.  </a:t>
            </a:r>
          </a:p>
          <a:p>
            <a:pPr eaLnBrk="1" hangingPunct="1" indent="-288925" lvl="2" marL="288925">
              <a:spcBef>
                <a:spcPct val="0"/>
              </a:spcBef>
              <a:buFont typeface="Calibri" pitchFamily="34" charset="0"/>
              <a:buChar char="–"/>
            </a:pPr>
            <a:r>
              <a:rPr altLang="en-US" b="1" sz="1800" lang="en-US">
                <a:solidFill>
                  <a:srgbClr val="00B050"/>
                </a:solidFill>
              </a:rPr>
              <a:t>Much lower number of cells and less ground substance.</a:t>
            </a:r>
          </a:p>
          <a:p>
            <a:pPr eaLnBrk="1" hangingPunct="1" indent="-288925" lvl="2" marL="288925">
              <a:spcBef>
                <a:spcPct val="0"/>
              </a:spcBef>
              <a:buFont typeface="Calibri" pitchFamily="34" charset="0"/>
              <a:buChar char="–"/>
            </a:pPr>
            <a:r>
              <a:rPr altLang="en-US" b="1" sz="1800" lang="en-US">
                <a:solidFill>
                  <a:srgbClr val="00B050"/>
                </a:solidFill>
              </a:rPr>
              <a:t>Fibers appear closely packed in tissue sections</a:t>
            </a:r>
            <a:r>
              <a:rPr altLang="en-US" b="1" sz="1800" lang="en-US"/>
              <a:t>.</a:t>
            </a:r>
          </a:p>
        </p:txBody>
      </p:sp>
      <p:pic>
        <p:nvPicPr>
          <p:cNvPr id="2097180" name="Picture 2" descr="hl2-08"/>
          <p:cNvPicPr>
            <a:picLocks/>
          </p:cNvPicPr>
          <p:nvPr>
            <p:ph sz="quarter" idx="4294967295"/>
          </p:nvPr>
        </p:nvPicPr>
        <p:blipFill>
          <a:blip xmlns:r="http://schemas.openxmlformats.org/officeDocument/2006/relationships" r:embed="rId1"/>
          <a:srcRect l="0" t="7617" r="0" b="21931"/>
          <a:stretch>
            <a:fillRect/>
          </a:stretch>
        </p:blipFill>
        <p:spPr>
          <a:xfrm rot="0">
            <a:off x="3810000" y="381000"/>
            <a:ext cx="5181600" cy="3529012"/>
          </a:xfrm>
          <a:prstGeom prst="rect"/>
          <a:noFill/>
          <a:ln>
            <a:noFill/>
          </a:ln>
        </p:spPr>
      </p:pic>
      <p:pic>
        <p:nvPicPr>
          <p:cNvPr id="2097181" name="Picture 5" descr="cctdict2"/>
          <p:cNvPicPr>
            <a:picLocks/>
          </p:cNvPicPr>
          <p:nvPr>
            <p:ph sz="quarter" idx="4294967295"/>
          </p:nvPr>
        </p:nvPicPr>
        <p:blipFill>
          <a:blip xmlns:r="http://schemas.openxmlformats.org/officeDocument/2006/relationships" r:embed="rId2"/>
          <a:srcRect l="0" t="0" r="0" b="0"/>
          <a:stretch>
            <a:fillRect/>
          </a:stretch>
        </p:blipFill>
        <p:spPr>
          <a:xfrm rot="0">
            <a:off x="3810000" y="4027487"/>
            <a:ext cx="5181600" cy="2771775"/>
          </a:xfrm>
          <a:prstGeom prst="rect"/>
          <a:noFill/>
          <a:ln>
            <a:noFill/>
          </a:ln>
        </p:spPr>
      </p:pic>
      <p:cxnSp>
        <p:nvCxnSpPr>
          <p:cNvPr id="3145731" name="Straight Arrow Connector 6"/>
          <p:cNvCxnSpPr>
            <a:cxnSpLocks/>
          </p:cNvCxnSpPr>
          <p:nvPr/>
        </p:nvCxnSpPr>
        <p:spPr>
          <a:xfrm rot="0">
            <a:off x="3505200" y="1828800"/>
            <a:ext cx="2133600" cy="990600"/>
          </a:xfrm>
          <a:prstGeom prst="straightConnector1"/>
          <a:noFill/>
          <a:ln w="38100" cap="flat" cmpd="sng">
            <a:solidFill>
              <a:schemeClr val="dk1">
                <a:alpha val="100000"/>
              </a:schemeClr>
            </a:solidFill>
            <a:prstDash val="solid"/>
            <a:round/>
            <a:tailEnd type="arrow" w="med" len="med"/>
          </a:ln>
        </p:spPr>
      </p:cxnSp>
      <p:cxnSp>
        <p:nvCxnSpPr>
          <p:cNvPr id="3145732" name="Straight Arrow Connector 7"/>
          <p:cNvCxnSpPr>
            <a:cxnSpLocks/>
          </p:cNvCxnSpPr>
          <p:nvPr/>
        </p:nvCxnSpPr>
        <p:spPr>
          <a:xfrm rot="0">
            <a:off x="2819400" y="5029200"/>
            <a:ext cx="2057400" cy="228600"/>
          </a:xfrm>
          <a:prstGeom prst="straightConnector1"/>
          <a:noFill/>
          <a:ln w="38100" cap="flat" cmpd="sng">
            <a:solidFill>
              <a:schemeClr val="dk1">
                <a:alpha val="100000"/>
              </a:schemeClr>
            </a:solidFill>
            <a:prstDash val="solid"/>
            <a:round/>
            <a:tailEnd type="arrow" w="med" len="med"/>
          </a:ln>
        </p:spPr>
      </p:cxnSp>
    </p:spTree>
  </p:cSld>
  <p:clrMapOvr>
    <a:masterClrMapping/>
  </p:clrMapOvr>
  <p:transition spd="slow" advClick="1"/>
</p:sld>
</file>

<file path=ppt/slides/slide20.xml><?xml version="1.0" encoding="utf-8"?>
<p:sld xmlns:a="http://schemas.openxmlformats.org/drawingml/2006/main" xmlns:r="http://schemas.openxmlformats.org/officeDocument/2006/relationships" xmlns:p="http://schemas.openxmlformats.org/presentationml/2006/main" show="1" showMasterSp="1">
  <p:cSld>
    <p:spTree>
      <p:nvGrpSpPr>
        <p:cNvPr id="168" name=""/>
        <p:cNvGrpSpPr/>
        <p:nvPr/>
      </p:nvGrpSpPr>
      <p:grpSpPr>
        <a:xfrm rot="0">
          <a:off x="0" y="0"/>
          <a:ext cx="0" cy="0"/>
          <a:chOff x="0" y="0"/>
          <a:chExt cx="0" cy="0"/>
        </a:xfrm>
      </p:grpSpPr>
      <p:sp>
        <p:nvSpPr>
          <p:cNvPr id="1048744" name="Title 1"/>
          <p:cNvSpPr/>
          <p:nvPr>
            <p:ph type="title" sz="full" idx="0"/>
          </p:nvPr>
        </p:nvSpPr>
        <p:spPr>
          <a:xfrm rot="0">
            <a:off x="152400" y="0"/>
            <a:ext cx="4572000" cy="609600"/>
          </a:xfrm>
          <a:prstGeom prst="rect"/>
          <a:solidFill>
            <a:schemeClr val="lt1">
              <a:alpha val="100000"/>
            </a:schemeClr>
          </a:solid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0" charset="0"/>
                <a:ea typeface="Arial" pitchFamily="0" charset="0"/>
                <a:sym typeface="Arial" pitchFamily="0" charset="0"/>
              </a:defRPr>
            </a:lvl1pPr>
          </a:lstStyle>
          <a:p>
            <a:pPr eaLnBrk="1" hangingPunct="1" lvl="0"/>
            <a:r>
              <a:rPr altLang="en-US" b="1" sz="4000" lang="en-US">
                <a:solidFill>
                  <a:srgbClr val="FF0000"/>
                </a:solidFill>
              </a:rPr>
              <a:t>Categories of CT</a:t>
            </a:r>
          </a:p>
        </p:txBody>
      </p:sp>
      <p:sp>
        <p:nvSpPr>
          <p:cNvPr id="1048745" name="Text Placeholder 2"/>
          <p:cNvSpPr/>
          <p:nvPr>
            <p:ph type="body" sz="half" idx="1"/>
          </p:nvPr>
        </p:nvSpPr>
        <p:spPr>
          <a:xfrm rot="0">
            <a:off x="0" y="609600"/>
            <a:ext cx="4648200" cy="3124200"/>
          </a:xfrm>
          <a:prstGeom prst="rect"/>
          <a:solidFill>
            <a:schemeClr val="lt1">
              <a:alpha val="100000"/>
            </a:schemeClr>
          </a:solidFill>
          <a:ln>
            <a:noFill/>
          </a:ln>
        </p:spPr>
        <p:txBody>
          <a:bodyPr anchor="t" bIns="45720" lIns="91440" rIns="91440" tIns="45720" vert="horz"/>
          <a:lstStyle>
            <a:lvl1pPr indent="-342900" marL="342900">
              <a:lnSpc>
                <a:spcPct val="100000"/>
              </a:lnSpc>
              <a:spcBef>
                <a:spcPct val="20000"/>
              </a:spcBef>
              <a:spcAft>
                <a:spcPct val="0"/>
              </a:spcAft>
              <a:buChar char="•"/>
              <a:defRPr sz="2800">
                <a:solidFill>
                  <a:schemeClr val="dk1"/>
                </a:solidFill>
              </a:defRPr>
            </a:lvl1pPr>
            <a:lvl2pPr indent="-285750" marL="742950">
              <a:lnSpc>
                <a:spcPct val="100000"/>
              </a:lnSpc>
              <a:spcBef>
                <a:spcPct val="20000"/>
              </a:spcBef>
              <a:spcAft>
                <a:spcPct val="0"/>
              </a:spcAft>
              <a:buChar char="–"/>
              <a:defRPr sz="2400">
                <a:solidFill>
                  <a:schemeClr val="dk1"/>
                </a:solidFill>
              </a:defRPr>
            </a:lvl2pPr>
            <a:lvl3pPr indent="-228600" marL="1143000">
              <a:lnSpc>
                <a:spcPct val="100000"/>
              </a:lnSpc>
              <a:spcBef>
                <a:spcPct val="20000"/>
              </a:spcBef>
              <a:spcAft>
                <a:spcPct val="0"/>
              </a:spcAft>
              <a:buChar char="•"/>
              <a:defRPr sz="2000">
                <a:solidFill>
                  <a:schemeClr val="dk1"/>
                </a:solidFill>
              </a:defRPr>
            </a:lvl3pPr>
            <a:lvl4pPr indent="-228600" marL="1600200">
              <a:lnSpc>
                <a:spcPct val="100000"/>
              </a:lnSpc>
              <a:spcBef>
                <a:spcPct val="20000"/>
              </a:spcBef>
              <a:spcAft>
                <a:spcPct val="0"/>
              </a:spcAft>
              <a:buChar char="–"/>
              <a:defRPr sz="1800">
                <a:solidFill>
                  <a:schemeClr val="dk1"/>
                </a:solidFill>
              </a:defRPr>
            </a:lvl4pPr>
            <a:lvl5pPr indent="-228600" marL="2057400">
              <a:lnSpc>
                <a:spcPct val="100000"/>
              </a:lnSpc>
              <a:spcBef>
                <a:spcPct val="20000"/>
              </a:spcBef>
              <a:spcAft>
                <a:spcPct val="0"/>
              </a:spcAft>
              <a:buChar char="»"/>
              <a:defRPr sz="1800">
                <a:solidFill>
                  <a:schemeClr val="dk1"/>
                </a:solidFill>
              </a:defRPr>
            </a:lvl5pPr>
          </a:lstStyle>
          <a:p>
            <a:pPr eaLnBrk="1" hangingPunct="1" indent="-365125" lvl="0">
              <a:buFont typeface="Calibri" pitchFamily="34" charset="0"/>
              <a:buChar char="–"/>
            </a:pPr>
            <a:r>
              <a:rPr altLang="en-US" sz="3000" lang="en-US">
                <a:solidFill>
                  <a:srgbClr val="FF00FF"/>
                </a:solidFill>
              </a:rPr>
              <a:t>Fibrous connective tissue (a.k.a. connective tissue proper)</a:t>
            </a:r>
          </a:p>
          <a:p>
            <a:pPr eaLnBrk="1" hangingPunct="1" indent="-365125" lvl="0">
              <a:buFont typeface="Calibri" pitchFamily="34" charset="0"/>
              <a:buChar char="–"/>
            </a:pPr>
            <a:r>
              <a:rPr altLang="en-US" sz="3000" lang="en-US">
                <a:solidFill>
                  <a:srgbClr val="00B050"/>
                </a:solidFill>
              </a:rPr>
              <a:t>Supportive/skeletal connective tissue</a:t>
            </a:r>
          </a:p>
          <a:p>
            <a:pPr eaLnBrk="1" hangingPunct="1" indent="-365125" lvl="0">
              <a:buFont typeface="Calibri" pitchFamily="34" charset="0"/>
              <a:buChar char="–"/>
            </a:pPr>
            <a:r>
              <a:rPr altLang="en-US" sz="3000" lang="en-US">
                <a:solidFill>
                  <a:srgbClr val="002060"/>
                </a:solidFill>
              </a:rPr>
              <a:t>Fluid connective tissue</a:t>
            </a:r>
          </a:p>
          <a:p>
            <a:pPr eaLnBrk="1" hangingPunct="1" indent="-365125" lvl="0"/>
            <a:endParaRPr altLang="en-US" sz="3000" lang="en-US"/>
          </a:p>
        </p:txBody>
      </p:sp>
      <p:pic>
        <p:nvPicPr>
          <p:cNvPr id="2097182" name="Picture 2" descr="areol4_s"/>
          <p:cNvPicPr>
            <a:picLocks/>
          </p:cNvPicPr>
          <p:nvPr>
            <p:ph sz="quarter" idx="2"/>
          </p:nvPr>
        </p:nvPicPr>
        <p:blipFill>
          <a:blip xmlns:r="http://schemas.openxmlformats.org/officeDocument/2006/relationships" r:embed="rId1"/>
          <a:srcRect l="0" t="0" r="0" b="0"/>
          <a:stretch>
            <a:fillRect/>
          </a:stretch>
        </p:blipFill>
        <p:spPr>
          <a:xfrm rot="0">
            <a:off x="4800600" y="160337"/>
            <a:ext cx="4114800" cy="2582862"/>
          </a:xfrm>
          <a:prstGeom prst="rect"/>
          <a:solidFill>
            <a:schemeClr val="lt1">
              <a:alpha val="100000"/>
            </a:schemeClr>
          </a:solidFill>
          <a:ln>
            <a:noFill/>
          </a:ln>
        </p:spPr>
      </p:pic>
      <p:pic>
        <p:nvPicPr>
          <p:cNvPr id="2097183" name="Picture 4" descr="bon2_s"/>
          <p:cNvPicPr>
            <a:picLocks/>
          </p:cNvPicPr>
          <p:nvPr>
            <p:ph sz="quarter" idx="3"/>
          </p:nvPr>
        </p:nvPicPr>
        <p:blipFill>
          <a:blip xmlns:r="http://schemas.openxmlformats.org/officeDocument/2006/relationships" r:embed="rId2"/>
          <a:srcRect l="0" t="0" r="0" b="0"/>
          <a:stretch>
            <a:fillRect/>
          </a:stretch>
        </p:blipFill>
        <p:spPr>
          <a:xfrm rot="0">
            <a:off x="4762500" y="2854325"/>
            <a:ext cx="4114800" cy="2520950"/>
          </a:xfrm>
          <a:prstGeom prst="rect"/>
          <a:solidFill>
            <a:schemeClr val="lt1">
              <a:alpha val="100000"/>
            </a:schemeClr>
          </a:solidFill>
          <a:ln>
            <a:noFill/>
          </a:ln>
        </p:spPr>
      </p:pic>
      <p:pic>
        <p:nvPicPr>
          <p:cNvPr id="2097184" name="Picture 6" descr="baso-eosinophil"/>
          <p:cNvPicPr>
            <a:picLocks/>
          </p:cNvPicPr>
          <p:nvPr/>
        </p:nvPicPr>
        <p:blipFill>
          <a:blip xmlns:r="http://schemas.openxmlformats.org/officeDocument/2006/relationships" r:embed="rId3"/>
          <a:srcRect l="0" t="16299" r="0" b="15790"/>
          <a:stretch>
            <a:fillRect/>
          </a:stretch>
        </p:blipFill>
        <p:spPr>
          <a:xfrm rot="0">
            <a:off x="96837" y="3962400"/>
            <a:ext cx="3636962" cy="2743200"/>
          </a:xfrm>
          <a:prstGeom prst="rect"/>
          <a:solidFill>
            <a:schemeClr val="lt1"/>
          </a:solidFill>
          <a:ln>
            <a:noFill/>
          </a:ln>
        </p:spPr>
      </p:pic>
      <p:pic>
        <p:nvPicPr>
          <p:cNvPr id="2097185" name="Content Placeholder 3"/>
          <p:cNvPicPr>
            <a:picLocks/>
          </p:cNvPicPr>
          <p:nvPr/>
        </p:nvPicPr>
        <p:blipFill>
          <a:blip xmlns:r="http://schemas.openxmlformats.org/officeDocument/2006/relationships" r:embed="rId4"/>
          <a:srcRect l="0" t="0" r="0" b="0"/>
          <a:stretch>
            <a:fillRect/>
          </a:stretch>
        </p:blipFill>
        <p:spPr>
          <a:xfrm rot="0">
            <a:off x="3886200" y="4648200"/>
            <a:ext cx="4038600" cy="2133600"/>
          </a:xfrm>
          <a:prstGeom prst="rect"/>
          <a:solidFill>
            <a:schemeClr val="lt1"/>
          </a:solidFill>
          <a:ln>
            <a:noFill/>
          </a:ln>
        </p:spPr>
      </p:pic>
      <p:sp>
        <p:nvSpPr>
          <p:cNvPr id="1048746" name="Line 8"/>
          <p:cNvSpPr/>
          <p:nvPr/>
        </p:nvSpPr>
        <p:spPr>
          <a:xfrm rot="0">
            <a:off x="1676400" y="3505200"/>
            <a:ext cx="76200" cy="609600"/>
          </a:xfrm>
          <a:prstGeom prst="line"/>
          <a:noFill/>
          <a:ln w="57150" cap="flat" cmpd="sng">
            <a:solidFill>
              <a:schemeClr val="dk1">
                <a:alpha val="100000"/>
              </a:schemeClr>
            </a:solidFill>
            <a:prstDash val="solid"/>
            <a:round/>
            <a:tailEnd type="triangle" w="med" len="med"/>
          </a:ln>
        </p:spPr>
      </p:sp>
      <p:sp>
        <p:nvSpPr>
          <p:cNvPr id="1048747" name="Line 13"/>
          <p:cNvSpPr/>
          <p:nvPr/>
        </p:nvSpPr>
        <p:spPr>
          <a:xfrm rot="0">
            <a:off x="3657600" y="914400"/>
            <a:ext cx="1447800" cy="76200"/>
          </a:xfrm>
          <a:prstGeom prst="line"/>
          <a:noFill/>
          <a:ln w="57150" cap="flat" cmpd="sng">
            <a:solidFill>
              <a:schemeClr val="dk1">
                <a:alpha val="100000"/>
              </a:schemeClr>
            </a:solidFill>
            <a:prstDash val="solid"/>
            <a:round/>
            <a:tailEnd type="triangle" w="med" len="med"/>
          </a:ln>
        </p:spPr>
      </p:sp>
      <p:sp>
        <p:nvSpPr>
          <p:cNvPr id="1048748" name="Line 13"/>
          <p:cNvSpPr/>
          <p:nvPr/>
        </p:nvSpPr>
        <p:spPr>
          <a:xfrm rot="0">
            <a:off x="4191000" y="2667000"/>
            <a:ext cx="1143000" cy="609600"/>
          </a:xfrm>
          <a:prstGeom prst="line"/>
          <a:noFill/>
          <a:ln w="57150" cap="flat" cmpd="sng">
            <a:solidFill>
              <a:schemeClr val="dk1">
                <a:alpha val="100000"/>
              </a:schemeClr>
            </a:solidFill>
            <a:prstDash val="solid"/>
            <a:round/>
            <a:tailEnd type="triangle" w="med" len="med"/>
          </a:ln>
        </p:spPr>
      </p:sp>
      <p:sp>
        <p:nvSpPr>
          <p:cNvPr id="1048749" name="Line 13"/>
          <p:cNvSpPr/>
          <p:nvPr/>
        </p:nvSpPr>
        <p:spPr>
          <a:xfrm rot="0">
            <a:off x="4191000" y="2667000"/>
            <a:ext cx="381000" cy="1905000"/>
          </a:xfrm>
          <a:prstGeom prst="line"/>
          <a:noFill/>
          <a:ln w="57150" cap="flat" cmpd="sng">
            <a:solidFill>
              <a:schemeClr val="dk1">
                <a:alpha val="100000"/>
              </a:schemeClr>
            </a:solidFill>
            <a:prstDash val="solid"/>
            <a:round/>
            <a:tailEnd type="triangle" w="med" len="med"/>
          </a:ln>
        </p:spPr>
      </p:sp>
      <p:sp>
        <p:nvSpPr>
          <p:cNvPr id="1048750" name="Text Box 11"/>
          <p:cNvSpPr txBox="1"/>
          <p:nvPr/>
        </p:nvSpPr>
        <p:spPr>
          <a:xfrm rot="0">
            <a:off x="6054725" y="182562"/>
            <a:ext cx="1905000" cy="338137"/>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b="1" sz="1600" lang="en-US">
                <a:solidFill>
                  <a:srgbClr val="FF0066"/>
                </a:solidFill>
                <a:latin typeface="Calibri" pitchFamily="34" charset="0"/>
              </a:rPr>
              <a:t>Loose Areolar</a:t>
            </a:r>
          </a:p>
        </p:txBody>
      </p:sp>
      <p:sp>
        <p:nvSpPr>
          <p:cNvPr id="1048751" name="Text Box 10"/>
          <p:cNvSpPr txBox="1"/>
          <p:nvPr/>
        </p:nvSpPr>
        <p:spPr>
          <a:xfrm rot="0">
            <a:off x="8305800" y="3657600"/>
            <a:ext cx="838200" cy="400050"/>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b="1" sz="2000" lang="en-US">
                <a:solidFill>
                  <a:srgbClr val="FF0066"/>
                </a:solidFill>
                <a:latin typeface="Calibri" pitchFamily="34" charset="0"/>
              </a:rPr>
              <a:t>Bone</a:t>
            </a:r>
          </a:p>
        </p:txBody>
      </p:sp>
      <p:sp>
        <p:nvSpPr>
          <p:cNvPr id="1048752" name="Text Box 9"/>
          <p:cNvSpPr txBox="1"/>
          <p:nvPr/>
        </p:nvSpPr>
        <p:spPr>
          <a:xfrm rot="0">
            <a:off x="457200" y="3429000"/>
            <a:ext cx="990600" cy="400050"/>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b="1" sz="2000" lang="en-US">
                <a:solidFill>
                  <a:srgbClr val="FF0066"/>
                </a:solidFill>
                <a:latin typeface="Calibri" pitchFamily="34" charset="0"/>
              </a:rPr>
              <a:t>(Blood)</a:t>
            </a:r>
          </a:p>
        </p:txBody>
      </p:sp>
      <p:sp>
        <p:nvSpPr>
          <p:cNvPr id="1048753" name="Text Box 9"/>
          <p:cNvSpPr txBox="1"/>
          <p:nvPr/>
        </p:nvSpPr>
        <p:spPr>
          <a:xfrm rot="0">
            <a:off x="7848600" y="6324600"/>
            <a:ext cx="1371600" cy="400050"/>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b="1" sz="2000" lang="en-US">
                <a:solidFill>
                  <a:srgbClr val="FF0066"/>
                </a:solidFill>
                <a:latin typeface="Calibri" pitchFamily="34" charset="0"/>
              </a:rPr>
              <a:t>Cartilage</a:t>
            </a:r>
          </a:p>
        </p:txBody>
      </p:sp>
    </p:spTree>
  </p:cSld>
  <p:clrMapOvr>
    <a:masterClrMapping/>
  </p:clrMapOvr>
  <p:transition spd="fast" advClick="1"/>
</p:sld>
</file>

<file path=ppt/slides/slide21.xml><?xml version="1.0" encoding="utf-8"?>
<p:sld xmlns:a="http://schemas.openxmlformats.org/drawingml/2006/main" xmlns:r="http://schemas.openxmlformats.org/officeDocument/2006/relationships" xmlns:p="http://schemas.openxmlformats.org/presentationml/2006/main" show="1" showMasterSp="1">
  <p:cSld>
    <p:spTree>
      <p:nvGrpSpPr>
        <p:cNvPr id="169" name=""/>
        <p:cNvGrpSpPr/>
        <p:nvPr/>
      </p:nvGrpSpPr>
      <p:grpSpPr>
        <a:xfrm rot="0">
          <a:off x="0" y="0"/>
          <a:ext cx="0" cy="0"/>
          <a:chOff x="0" y="0"/>
          <a:chExt cx="0" cy="0"/>
        </a:xfrm>
      </p:grpSpPr>
      <p:pic>
        <p:nvPicPr>
          <p:cNvPr id="2097186" name="Picture 3"/>
          <p:cNvPicPr>
            <a:picLocks/>
          </p:cNvPicPr>
          <p:nvPr/>
        </p:nvPicPr>
        <p:blipFill>
          <a:blip xmlns:r="http://schemas.openxmlformats.org/officeDocument/2006/relationships" r:embed="rId1"/>
          <a:srcRect l="0" t="0" r="0" b="0"/>
          <a:stretch>
            <a:fillRect/>
          </a:stretch>
        </p:blipFill>
        <p:spPr>
          <a:xfrm rot="0">
            <a:off x="1600200" y="109537"/>
            <a:ext cx="6400800" cy="6519862"/>
          </a:xfrm>
          <a:prstGeom prst="rect"/>
          <a:noFill/>
          <a:ln>
            <a:noFill/>
          </a:ln>
        </p:spPr>
      </p:pic>
      <p:sp>
        <p:nvSpPr>
          <p:cNvPr id="1048754" name="TextBox 1"/>
          <p:cNvSpPr txBox="1"/>
          <p:nvPr/>
        </p:nvSpPr>
        <p:spPr>
          <a:xfrm rot="0">
            <a:off x="1285875" y="119062"/>
            <a:ext cx="6164581" cy="510540"/>
          </a:xfrm>
          <a:prstGeom prst="rect"/>
          <a:noFill/>
          <a:ln>
            <a:noFill/>
          </a:ln>
        </p:spPr>
        <p:txBody>
          <a:bodyPr anchor="t" bIns="45720" lIns="91440" rIns="91440" tIns="45720" vert="horz" wrap="none">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0"/>
              </a:spcBef>
              <a:buFontTx/>
              <a:buNone/>
            </a:pPr>
            <a:r>
              <a:rPr altLang="en-US" b="1" sz="2800" lang="en-US"/>
              <a:t>Mesenchyme, in embryonic body wall </a:t>
            </a:r>
          </a:p>
        </p:txBody>
      </p:sp>
      <p:sp>
        <p:nvSpPr>
          <p:cNvPr id="1048755" name="Down Arrow 2"/>
          <p:cNvSpPr/>
          <p:nvPr/>
        </p:nvSpPr>
        <p:spPr>
          <a:xfrm rot="4294891">
            <a:off x="3563937" y="1925637"/>
            <a:ext cx="533400" cy="457200"/>
          </a:xfrm>
          <a:prstGeom prst="downArrow">
            <a:avLst>
              <a:gd name="adj1" fmla="val 50000"/>
              <a:gd name="adj2" fmla="val 50000"/>
            </a:avLst>
          </a:prstGeom>
          <a:solidFill>
            <a:schemeClr val="accent1"/>
          </a:solidFill>
          <a:ln w="25400" cap="flat" cmpd="sng">
            <a:solidFill>
              <a:srgbClr val="89A4A7">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US">
              <a:solidFill>
                <a:srgbClr val="FFFFFF"/>
              </a:solidFill>
            </a:endParaRPr>
          </a:p>
        </p:txBody>
      </p:sp>
      <p:sp>
        <p:nvSpPr>
          <p:cNvPr id="1048756" name="Down Arrow 4"/>
          <p:cNvSpPr/>
          <p:nvPr/>
        </p:nvSpPr>
        <p:spPr>
          <a:xfrm rot="4294891">
            <a:off x="6892925" y="935037"/>
            <a:ext cx="533400" cy="457200"/>
          </a:xfrm>
          <a:prstGeom prst="downArrow">
            <a:avLst>
              <a:gd name="adj1" fmla="val 50000"/>
              <a:gd name="adj2" fmla="val 50000"/>
            </a:avLst>
          </a:prstGeom>
          <a:solidFill>
            <a:schemeClr val="accent1"/>
          </a:solidFill>
          <a:ln w="25400" cap="flat" cmpd="sng">
            <a:solidFill>
              <a:srgbClr val="89A4A7">
                <a:alpha val="100000"/>
              </a:srgbClr>
            </a:solidFill>
            <a:prstDash val="solid"/>
            <a:round/>
          </a:ln>
        </p:spPr>
        <p:txBody>
          <a:bodyPr anchor="ctr"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algn="ctr" eaLnBrk="1" hangingPunct="1" lvl="0"/>
            <a:endParaRPr altLang="en-US" lang="en-US">
              <a:solidFill>
                <a:srgbClr val="FFFFFF"/>
              </a:solidFill>
            </a:endParaRPr>
          </a:p>
        </p:txBody>
      </p:sp>
    </p:spTree>
  </p:cSld>
  <p:clrMapOvr>
    <a:masterClrMapping/>
  </p:clrMapOvr>
  <p:transition spd="slow" advClick="1"/>
</p:sld>
</file>

<file path=ppt/slides/slide22.xml><?xml version="1.0" encoding="utf-8"?>
<p:sld xmlns:a="http://schemas.openxmlformats.org/drawingml/2006/main" xmlns:r="http://schemas.openxmlformats.org/officeDocument/2006/relationships" xmlns:p="http://schemas.openxmlformats.org/presentationml/2006/main" show="1" showMasterSp="0">
  <p:cSld>
    <p:spTree>
      <p:nvGrpSpPr>
        <p:cNvPr id="188" name=""/>
        <p:cNvGrpSpPr/>
        <p:nvPr/>
      </p:nvGrpSpPr>
      <p:grpSpPr>
        <a:xfrm rot="0">
          <a:off x="0" y="0"/>
          <a:ext cx="0" cy="0"/>
          <a:chOff x="0" y="0"/>
          <a:chExt cx="0" cy="0"/>
        </a:xfrm>
      </p:grpSpPr>
      <p:sp>
        <p:nvSpPr>
          <p:cNvPr id="1048768" name="Title 1"/>
          <p:cNvSpPr/>
          <p:nvPr>
            <p:ph type="title" sz="full" idx="0"/>
          </p:nvPr>
        </p:nvSpPr>
        <p:spPr>
          <a:xfrm rot="0">
            <a:off x="533400" y="0"/>
            <a:ext cx="8401050" cy="457200"/>
          </a:xfrm>
          <a:prstGeom prst="rect"/>
          <a:solidFill>
            <a:schemeClr val="lt1">
              <a:alpha val="100000"/>
            </a:schemeClr>
          </a:solid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algn="l" eaLnBrk="1" hangingPunct="1" lvl="0"/>
            <a:r>
              <a:rPr altLang="en-US" b="1" sz="3200" lang="en-US">
                <a:solidFill>
                  <a:srgbClr val="FF0000"/>
                </a:solidFill>
              </a:rPr>
              <a:t>          Loose Areolar CT</a:t>
            </a:r>
          </a:p>
        </p:txBody>
      </p:sp>
      <p:sp>
        <p:nvSpPr>
          <p:cNvPr id="1048769" name="Rectangle 3"/>
          <p:cNvSpPr/>
          <p:nvPr>
            <p:ph sz="half" idx="1"/>
          </p:nvPr>
        </p:nvSpPr>
        <p:spPr>
          <a:xfrm rot="0">
            <a:off x="0" y="457200"/>
            <a:ext cx="9144000" cy="64008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457200" lvl="0" marL="457200">
              <a:spcBef>
                <a:spcPts val="1200"/>
              </a:spcBef>
              <a:buFont typeface="Calibri" pitchFamily="34" charset="0"/>
              <a:buChar char="–"/>
              <a:tabLst>
                <a:tab algn="l" pos="393700"/>
              </a:tabLst>
            </a:pPr>
            <a:r>
              <a:rPr altLang="en-US" lang="en-US">
                <a:solidFill>
                  <a:srgbClr val="9900FF"/>
                </a:solidFill>
              </a:rPr>
              <a:t>The most numerous cells are fibroblasts and macrophages, but all other types of ordinary CT cells are also present. </a:t>
            </a:r>
          </a:p>
          <a:p>
            <a:pPr eaLnBrk="1" hangingPunct="1" indent="-457200" lvl="0" marL="457200">
              <a:spcBef>
                <a:spcPts val="1200"/>
              </a:spcBef>
              <a:buFont typeface="Calibri" pitchFamily="34" charset="0"/>
              <a:buChar char="–"/>
              <a:tabLst>
                <a:tab algn="l" pos="393700"/>
              </a:tabLst>
            </a:pPr>
            <a:r>
              <a:rPr altLang="en-US" lang="en-US">
                <a:solidFill>
                  <a:schemeClr val="accent1"/>
                </a:solidFill>
              </a:rPr>
              <a:t>less amount of all CT fibers also appear in this tissue. </a:t>
            </a:r>
          </a:p>
          <a:p>
            <a:pPr eaLnBrk="1" hangingPunct="1" indent="-457200" lvl="0" marL="457200">
              <a:spcBef>
                <a:spcPts val="1200"/>
              </a:spcBef>
              <a:buFont typeface="Calibri" pitchFamily="34" charset="0"/>
              <a:buChar char="–"/>
              <a:tabLst>
                <a:tab algn="l" pos="393700"/>
              </a:tabLst>
            </a:pPr>
            <a:r>
              <a:rPr altLang="en-US" lang="en-US">
                <a:solidFill>
                  <a:srgbClr val="002060"/>
                </a:solidFill>
              </a:rPr>
              <a:t>With a moderate amount of ground substance, loose areolar connective tissue has a delicate consistency; it is flexible, well vascularized, and not resistant to stress.</a:t>
            </a:r>
          </a:p>
          <a:p>
            <a:pPr eaLnBrk="1" hangingPunct="1" indent="-457200" lvl="0" marL="457200">
              <a:lnSpc>
                <a:spcPct val="95000"/>
              </a:lnSpc>
              <a:spcBef>
                <a:spcPct val="10000"/>
              </a:spcBef>
              <a:buClr>
                <a:srgbClr val="FFFF00"/>
              </a:buClr>
              <a:buNone/>
            </a:pPr>
            <a:r>
              <a:rPr altLang="en-US" b="1" sz="3200" lang="en-US">
                <a:solidFill>
                  <a:srgbClr val="FF0000"/>
                </a:solidFill>
              </a:rPr>
              <a:t>  Locations</a:t>
            </a:r>
          </a:p>
          <a:p>
            <a:pPr eaLnBrk="1" hangingPunct="1" indent="-396875" lvl="1" marL="625475">
              <a:lnSpc>
                <a:spcPct val="95000"/>
              </a:lnSpc>
              <a:spcBef>
                <a:spcPct val="0"/>
              </a:spcBef>
              <a:buFont typeface="Calibri" pitchFamily="34" charset="0"/>
              <a:buChar char="–"/>
            </a:pPr>
            <a:r>
              <a:rPr altLang="en-US" sz="2800" lang="en-US">
                <a:solidFill>
                  <a:srgbClr val="FF00FF"/>
                </a:solidFill>
              </a:rPr>
              <a:t>in papillary dermis of skin &amp; subcutaneous tissue, </a:t>
            </a:r>
          </a:p>
          <a:p>
            <a:pPr eaLnBrk="1" hangingPunct="1" indent="-396875" lvl="4" marL="625475">
              <a:lnSpc>
                <a:spcPct val="95000"/>
              </a:lnSpc>
              <a:spcBef>
                <a:spcPct val="0"/>
              </a:spcBef>
              <a:buFont typeface="Calibri" pitchFamily="34" charset="0"/>
              <a:buChar char="–"/>
            </a:pPr>
            <a:r>
              <a:rPr altLang="en-US" sz="2800" lang="en-US">
                <a:solidFill>
                  <a:srgbClr val="FF00FF"/>
                </a:solidFill>
              </a:rPr>
              <a:t>lamina propria &amp; </a:t>
            </a:r>
            <a:r>
              <a:rPr altLang="en-US" sz="2800" lang="zh-CN">
                <a:solidFill>
                  <a:srgbClr val="FF00FF"/>
                </a:solidFill>
                <a:ea typeface="Times New Roman" pitchFamily="18" charset="0"/>
              </a:rPr>
              <a:t>submucosa of GIT </a:t>
            </a:r>
            <a:r>
              <a:rPr altLang="en-US" sz="2800" lang="en-US">
                <a:solidFill>
                  <a:srgbClr val="FF00FF"/>
                </a:solidFill>
              </a:rPr>
              <a:t>&amp; respiratory tracts,</a:t>
            </a:r>
          </a:p>
          <a:p>
            <a:pPr eaLnBrk="1" hangingPunct="1" indent="-396875" lvl="4" marL="625475">
              <a:lnSpc>
                <a:spcPct val="95000"/>
              </a:lnSpc>
              <a:spcBef>
                <a:spcPct val="0"/>
              </a:spcBef>
              <a:buFont typeface="Calibri" pitchFamily="34" charset="0"/>
              <a:buChar char="–"/>
            </a:pPr>
            <a:r>
              <a:rPr altLang="en-US" sz="2800" lang="en-US">
                <a:solidFill>
                  <a:srgbClr val="FF00FF"/>
                </a:solidFill>
              </a:rPr>
              <a:t>around blood vessels &amp; organs and serous membranes, around muscle fibers (endomysium) and nerve fibers (endoneurium).</a:t>
            </a:r>
          </a:p>
          <a:p>
            <a:pPr eaLnBrk="1" hangingPunct="1" indent="-457200" lvl="0" marL="457200">
              <a:lnSpc>
                <a:spcPct val="95000"/>
              </a:lnSpc>
              <a:spcBef>
                <a:spcPct val="10000"/>
              </a:spcBef>
              <a:buClr>
                <a:srgbClr val="9900FF"/>
              </a:buClr>
              <a:buFont typeface="Calibri" pitchFamily="34" charset="0"/>
              <a:buChar char="–"/>
            </a:pPr>
            <a:r>
              <a:rPr altLang="en-US" lang="en-US">
                <a:solidFill>
                  <a:srgbClr val="0070C0"/>
                </a:solidFill>
              </a:rPr>
              <a:t>accumulates large amount of tissue fluid and leads to tissue swelling (Edema) in inflammatory conditions.</a:t>
            </a:r>
          </a:p>
        </p:txBody>
      </p:sp>
    </p:spTree>
  </p:cSld>
  <p:clrMapOvr>
    <a:masterClrMapping/>
  </p:clrMapOvr>
  <p:transition spd="fast" advClick="1"/>
</p:sld>
</file>

<file path=ppt/slides/slide23.xml><?xml version="1.0" encoding="utf-8"?>
<p:sld xmlns:a="http://schemas.openxmlformats.org/drawingml/2006/main" xmlns:r="http://schemas.openxmlformats.org/officeDocument/2006/relationships" xmlns:p="http://schemas.openxmlformats.org/presentationml/2006/main" show="1" showMasterSp="1">
  <p:cSld>
    <p:spTree>
      <p:nvGrpSpPr>
        <p:cNvPr id="191" name=""/>
        <p:cNvGrpSpPr/>
        <p:nvPr/>
      </p:nvGrpSpPr>
      <p:grpSpPr>
        <a:xfrm rot="0">
          <a:off x="0" y="0"/>
          <a:ext cx="0" cy="0"/>
          <a:chOff x="0" y="0"/>
          <a:chExt cx="0" cy="0"/>
        </a:xfrm>
      </p:grpSpPr>
      <p:pic>
        <p:nvPicPr>
          <p:cNvPr id="2097187" name="Picture 3"/>
          <p:cNvPicPr>
            <a:picLocks/>
          </p:cNvPicPr>
          <p:nvPr/>
        </p:nvPicPr>
        <p:blipFill>
          <a:blip xmlns:r="http://schemas.openxmlformats.org/officeDocument/2006/relationships" r:embed="rId1"/>
          <a:srcRect l="0" t="0" r="-60" b="98"/>
          <a:stretch>
            <a:fillRect/>
          </a:stretch>
        </p:blipFill>
        <p:spPr>
          <a:xfrm rot="0">
            <a:off x="119062" y="533400"/>
            <a:ext cx="8872538" cy="6096000"/>
          </a:xfrm>
          <a:prstGeom prst="rect"/>
          <a:noFill/>
          <a:ln>
            <a:noFill/>
          </a:ln>
        </p:spPr>
      </p:pic>
      <p:sp>
        <p:nvSpPr>
          <p:cNvPr id="1048773" name="Rectangle 2"/>
          <p:cNvSpPr/>
          <p:nvPr/>
        </p:nvSpPr>
        <p:spPr>
          <a:xfrm rot="0">
            <a:off x="2667000" y="0"/>
            <a:ext cx="4876800" cy="523875"/>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r>
              <a:rPr altLang="en-US" b="1" sz="2800" lang="en-US">
                <a:solidFill>
                  <a:srgbClr val="FF0000"/>
                </a:solidFill>
              </a:rPr>
              <a:t>LOOSE AREOLAR CT</a:t>
            </a:r>
          </a:p>
        </p:txBody>
      </p:sp>
    </p:spTree>
  </p:cSld>
  <p:clrMapOvr>
    <a:masterClrMapping/>
  </p:clrMapOvr>
  <p:transition spd="slow" advClick="1"/>
</p:sld>
</file>

<file path=ppt/slides/slide24.xml><?xml version="1.0" encoding="utf-8"?>
<p:sld xmlns:a="http://schemas.openxmlformats.org/drawingml/2006/main" xmlns:r="http://schemas.openxmlformats.org/officeDocument/2006/relationships" xmlns:p="http://schemas.openxmlformats.org/presentationml/2006/main" show="1" showMasterSp="0">
  <p:cSld>
    <p:spTree>
      <p:nvGrpSpPr>
        <p:cNvPr id="210" name=""/>
        <p:cNvGrpSpPr/>
        <p:nvPr/>
      </p:nvGrpSpPr>
      <p:grpSpPr>
        <a:xfrm rot="0">
          <a:off x="0" y="0"/>
          <a:ext cx="0" cy="0"/>
          <a:chOff x="0" y="0"/>
          <a:chExt cx="0" cy="0"/>
        </a:xfrm>
      </p:grpSpPr>
      <p:sp>
        <p:nvSpPr>
          <p:cNvPr id="1048782" name="Rectangle 2"/>
          <p:cNvSpPr/>
          <p:nvPr>
            <p:ph type="title" sz="full" idx="4294967295"/>
          </p:nvPr>
        </p:nvSpPr>
        <p:spPr>
          <a:xfrm rot="0">
            <a:off x="0" y="-315912"/>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lang="en-US">
                <a:solidFill>
                  <a:srgbClr val="FF0000"/>
                </a:solidFill>
              </a:rPr>
              <a:t>Functions of Adipose Tissue</a:t>
            </a:r>
          </a:p>
        </p:txBody>
      </p:sp>
      <p:sp>
        <p:nvSpPr>
          <p:cNvPr id="1048783" name="Rectangle 3"/>
          <p:cNvSpPr/>
          <p:nvPr>
            <p:ph type="body" sz="half" idx="4294967295"/>
          </p:nvPr>
        </p:nvSpPr>
        <p:spPr>
          <a:xfrm rot="0">
            <a:off x="0" y="685800"/>
            <a:ext cx="3733800" cy="6172200"/>
          </a:xfrm>
          <a:prstGeom prst="rect"/>
          <a:noFill/>
          <a:ln>
            <a:noFill/>
          </a:ln>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441325" lvl="0" marL="419100">
              <a:lnSpc>
                <a:spcPct val="70000"/>
              </a:lnSpc>
              <a:spcBef>
                <a:spcPts val="1800"/>
              </a:spcBef>
              <a:buFont typeface="Calibri" pitchFamily="34" charset="0"/>
              <a:buChar char="–"/>
            </a:pPr>
            <a:r>
              <a:rPr altLang="en-US" b="1" sz="3300" lang="en-US">
                <a:solidFill>
                  <a:srgbClr val="0070C0"/>
                </a:solidFill>
              </a:rPr>
              <a:t>Energy storage</a:t>
            </a:r>
          </a:p>
          <a:p>
            <a:pPr eaLnBrk="1" hangingPunct="1" indent="-441325" lvl="0" marL="419100">
              <a:lnSpc>
                <a:spcPct val="70000"/>
              </a:lnSpc>
              <a:spcBef>
                <a:spcPts val="1800"/>
              </a:spcBef>
              <a:buFont typeface="Calibri" pitchFamily="34" charset="0"/>
              <a:buChar char="–"/>
            </a:pPr>
            <a:r>
              <a:rPr altLang="en-US" b="1" sz="3300" lang="en-US">
                <a:solidFill>
                  <a:srgbClr val="FF00FF"/>
                </a:solidFill>
              </a:rPr>
              <a:t>Thermal insulation</a:t>
            </a:r>
          </a:p>
          <a:p>
            <a:pPr eaLnBrk="1" hangingPunct="1" indent="-441325" lvl="0" marL="419100">
              <a:lnSpc>
                <a:spcPct val="70000"/>
              </a:lnSpc>
              <a:spcBef>
                <a:spcPts val="1800"/>
              </a:spcBef>
              <a:buFont typeface="Calibri" pitchFamily="34" charset="0"/>
              <a:buChar char="–"/>
            </a:pPr>
            <a:r>
              <a:rPr altLang="en-US" b="1" sz="3300" lang="en-US">
                <a:solidFill>
                  <a:srgbClr val="00B0F0"/>
                </a:solidFill>
              </a:rPr>
              <a:t>Shock absorption </a:t>
            </a:r>
          </a:p>
          <a:p>
            <a:pPr eaLnBrk="1" hangingPunct="1" indent="-441325" lvl="0" marL="419100">
              <a:lnSpc>
                <a:spcPct val="70000"/>
              </a:lnSpc>
              <a:spcBef>
                <a:spcPts val="1800"/>
              </a:spcBef>
              <a:buFont typeface="Calibri" pitchFamily="34" charset="0"/>
              <a:buChar char="–"/>
            </a:pPr>
            <a:r>
              <a:rPr altLang="en-US" b="1" sz="3300" lang="en-US">
                <a:solidFill>
                  <a:srgbClr val="0070C0"/>
                </a:solidFill>
              </a:rPr>
              <a:t>Protective cushioning for some organs</a:t>
            </a:r>
          </a:p>
          <a:p>
            <a:pPr eaLnBrk="1" hangingPunct="1" indent="-441325" lvl="0" marL="419100">
              <a:lnSpc>
                <a:spcPct val="70000"/>
              </a:lnSpc>
              <a:spcBef>
                <a:spcPts val="1800"/>
              </a:spcBef>
              <a:buFont typeface="Calibri" pitchFamily="34" charset="0"/>
              <a:buChar char="–"/>
            </a:pPr>
            <a:r>
              <a:rPr altLang="en-US" sz="3300" lang="en-US"/>
              <a:t>Accounts 15–20% of the body weight in men of normal weight; in women of normal weight, 20–25% of body weight. </a:t>
            </a:r>
          </a:p>
        </p:txBody>
      </p:sp>
      <p:pic>
        <p:nvPicPr>
          <p:cNvPr id="2097188" name="Picture 2" descr="wav"/>
          <p:cNvPicPr>
            <a:picLocks/>
          </p:cNvPicPr>
          <p:nvPr>
            <p:ph sz="half" idx="4294967295"/>
          </p:nvPr>
        </p:nvPicPr>
        <p:blipFill>
          <a:blip xmlns:r="http://schemas.openxmlformats.org/officeDocument/2006/relationships" r:embed="rId1"/>
          <a:srcRect l="5659" t="0" r="7576" b="0"/>
          <a:stretch>
            <a:fillRect/>
          </a:stretch>
        </p:blipFill>
        <p:spPr>
          <a:xfrm rot="0">
            <a:off x="3733800" y="625475"/>
            <a:ext cx="5257800" cy="6156325"/>
          </a:xfrm>
          <a:prstGeom prst="rect"/>
          <a:noFill/>
          <a:ln>
            <a:noFill/>
          </a:ln>
        </p:spPr>
      </p:pic>
    </p:spTree>
  </p:cSld>
  <p:clrMapOvr>
    <a:masterClrMapping/>
  </p:clrMapOvr>
  <p:transition spd="fast" advClick="1"/>
</p:sld>
</file>

<file path=ppt/slides/slide25.xml><?xml version="1.0" encoding="utf-8"?>
<p:sld xmlns:a="http://schemas.openxmlformats.org/drawingml/2006/main" xmlns:r="http://schemas.openxmlformats.org/officeDocument/2006/relationships" xmlns:p="http://schemas.openxmlformats.org/presentationml/2006/main" show="1" showMasterSp="1">
  <p:cSld>
    <p:spTree>
      <p:nvGrpSpPr>
        <p:cNvPr id="212" name=""/>
        <p:cNvGrpSpPr/>
        <p:nvPr/>
      </p:nvGrpSpPr>
      <p:grpSpPr>
        <a:xfrm rot="0">
          <a:off x="0" y="0"/>
          <a:ext cx="0" cy="0"/>
          <a:chOff x="0" y="0"/>
          <a:chExt cx="0" cy="0"/>
        </a:xfrm>
      </p:grpSpPr>
      <p:sp>
        <p:nvSpPr>
          <p:cNvPr id="1048789" name="Title 1"/>
          <p:cNvSpPr/>
          <p:nvPr>
            <p:ph type="title" sz="full" idx="0"/>
          </p:nvPr>
        </p:nvSpPr>
        <p:spPr>
          <a:xfrm rot="0">
            <a:off x="914400" y="76200"/>
            <a:ext cx="8153400" cy="411162"/>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000" lang="en-US">
                <a:solidFill>
                  <a:srgbClr val="FF0000"/>
                </a:solidFill>
              </a:rPr>
              <a:t>White and Brown Adipose Tissues</a:t>
            </a:r>
          </a:p>
        </p:txBody>
      </p:sp>
      <p:pic>
        <p:nvPicPr>
          <p:cNvPr id="2097189" name="Picture 5" descr="File0024"/>
          <p:cNvPicPr>
            <a:picLocks/>
          </p:cNvPicPr>
          <p:nvPr>
            <p:ph sz="full" idx="1"/>
          </p:nvPr>
        </p:nvPicPr>
        <p:blipFill>
          <a:blip xmlns:r="http://schemas.openxmlformats.org/officeDocument/2006/relationships" r:embed="rId1"/>
          <a:srcRect l="0" t="0" r="0" b="0"/>
          <a:stretch>
            <a:fillRect/>
          </a:stretch>
        </p:blipFill>
        <p:spPr>
          <a:xfrm rot="0">
            <a:off x="4724400" y="762000"/>
            <a:ext cx="4267200" cy="6019800"/>
          </a:xfrm>
          <a:prstGeom prst="rect"/>
          <a:noFill/>
          <a:ln>
            <a:noFill/>
          </a:ln>
        </p:spPr>
      </p:pic>
      <p:sp>
        <p:nvSpPr>
          <p:cNvPr id="1048790" name="TextBox 5"/>
          <p:cNvSpPr txBox="1"/>
          <p:nvPr/>
        </p:nvSpPr>
        <p:spPr>
          <a:xfrm rot="0">
            <a:off x="5105400" y="1447800"/>
            <a:ext cx="3505200" cy="4619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400" lang="en-GB">
                <a:ea typeface="Arial" pitchFamily="0" charset="0"/>
              </a:rPr>
              <a:t>White adipose tissue</a:t>
            </a:r>
          </a:p>
        </p:txBody>
      </p:sp>
      <p:sp>
        <p:nvSpPr>
          <p:cNvPr id="1048791" name="TextBox 6"/>
          <p:cNvSpPr txBox="1"/>
          <p:nvPr/>
        </p:nvSpPr>
        <p:spPr>
          <a:xfrm rot="0">
            <a:off x="5181600" y="4724400"/>
            <a:ext cx="3091180" cy="447040"/>
          </a:xfrm>
          <a:prstGeom prst="rect"/>
          <a:noFill/>
          <a:ln>
            <a:noFill/>
          </a:ln>
        </p:spPr>
        <p:txBody>
          <a:bodyPr anchor="t" bIns="45720" lIns="91440" rIns="91440" tIns="45720" vert="horz" wrap="none">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400" lang="en-GB">
                <a:ea typeface="Arial" pitchFamily="0" charset="0"/>
              </a:rPr>
              <a:t>Brown adipose tissue</a:t>
            </a:r>
          </a:p>
        </p:txBody>
      </p:sp>
      <p:sp>
        <p:nvSpPr>
          <p:cNvPr id="1048792" name="Rectangle 7"/>
          <p:cNvSpPr/>
          <p:nvPr/>
        </p:nvSpPr>
        <p:spPr>
          <a:xfrm rot="0">
            <a:off x="0" y="533400"/>
            <a:ext cx="4800600" cy="684784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350837" lvl="0" marL="350837">
              <a:spcBef>
                <a:spcPct val="0"/>
              </a:spcBef>
              <a:buFont typeface="Calibri" pitchFamily="34" charset="0"/>
              <a:buChar char="–"/>
            </a:pPr>
            <a:r>
              <a:rPr altLang="en-US" sz="2400" lang="en-US">
                <a:solidFill>
                  <a:srgbClr val="00B050"/>
                </a:solidFill>
                <a:ea typeface="Arial" pitchFamily="0" charset="0"/>
              </a:rPr>
              <a:t>The color of brown adipose tissue or </a:t>
            </a:r>
            <a:r>
              <a:rPr altLang="en-US" b="1" sz="2400" lang="en-US">
                <a:solidFill>
                  <a:srgbClr val="00B050"/>
                </a:solidFill>
                <a:ea typeface="Arial" pitchFamily="0" charset="0"/>
              </a:rPr>
              <a:t>brown fat</a:t>
            </a:r>
            <a:r>
              <a:rPr altLang="en-US" sz="2400" lang="en-US">
                <a:solidFill>
                  <a:srgbClr val="00B050"/>
                </a:solidFill>
                <a:ea typeface="Arial" pitchFamily="0" charset="0"/>
              </a:rPr>
              <a:t> is due to both the numerous mitochondria found in the adipocytes and the large number of blood capillaries in this tissue</a:t>
            </a:r>
            <a:r>
              <a:rPr altLang="en-US" sz="2400" lang="en-US">
                <a:solidFill>
                  <a:srgbClr val="FF00FF"/>
                </a:solidFill>
                <a:ea typeface="Arial" pitchFamily="0" charset="0"/>
              </a:rPr>
              <a:t>. </a:t>
            </a:r>
          </a:p>
          <a:p>
            <a:pPr eaLnBrk="1" hangingPunct="1" indent="-350837" lvl="0" marL="350837">
              <a:spcBef>
                <a:spcPct val="0"/>
              </a:spcBef>
              <a:buFont typeface="Calibri" pitchFamily="34" charset="0"/>
              <a:buChar char="–"/>
            </a:pPr>
            <a:r>
              <a:rPr altLang="en-US" sz="2400" lang="en-US">
                <a:solidFill>
                  <a:srgbClr val="9900FF"/>
                </a:solidFill>
                <a:ea typeface="Arial" pitchFamily="0" charset="0"/>
              </a:rPr>
              <a:t>Adipocytes of brown fat are therefore called </a:t>
            </a:r>
            <a:r>
              <a:rPr altLang="en-US" b="1" sz="2400" lang="en-US">
                <a:solidFill>
                  <a:srgbClr val="9900FF"/>
                </a:solidFill>
                <a:ea typeface="Arial" pitchFamily="0" charset="0"/>
              </a:rPr>
              <a:t>multilocular</a:t>
            </a:r>
            <a:r>
              <a:rPr altLang="en-US" sz="2400" lang="en-US">
                <a:solidFill>
                  <a:srgbClr val="9900FF"/>
                </a:solidFill>
                <a:ea typeface="Arial" pitchFamily="0" charset="0"/>
              </a:rPr>
              <a:t> </a:t>
            </a:r>
          </a:p>
          <a:p>
            <a:pPr eaLnBrk="1" hangingPunct="1" indent="-350837" lvl="0" marL="350837">
              <a:spcBef>
                <a:spcPct val="0"/>
              </a:spcBef>
              <a:buFont typeface="Calibri" pitchFamily="34" charset="0"/>
              <a:buChar char="–"/>
            </a:pPr>
            <a:r>
              <a:rPr altLang="en-US" sz="2400" lang="en-US">
                <a:solidFill>
                  <a:srgbClr val="0070C0"/>
                </a:solidFill>
                <a:ea typeface="Arial" pitchFamily="0" charset="0"/>
              </a:rPr>
              <a:t>The many small lipid droplets, abundant mitochondria, and rich vasculature all help mediate this tissue's principal function of </a:t>
            </a:r>
            <a:r>
              <a:rPr altLang="en-US" b="1" sz="2400" lang="en-US">
                <a:solidFill>
                  <a:srgbClr val="0070C0"/>
                </a:solidFill>
                <a:ea typeface="Arial" pitchFamily="0" charset="0"/>
              </a:rPr>
              <a:t>heat production</a:t>
            </a:r>
            <a:r>
              <a:rPr altLang="en-US" sz="2400" lang="en-US">
                <a:ea typeface="Arial" pitchFamily="0" charset="0"/>
              </a:rPr>
              <a:t>. </a:t>
            </a:r>
          </a:p>
          <a:p>
            <a:pPr eaLnBrk="1" hangingPunct="1" indent="-350837" lvl="0" marL="350837">
              <a:spcBef>
                <a:spcPct val="0"/>
              </a:spcBef>
              <a:buFont typeface="Calibri" pitchFamily="34" charset="0"/>
              <a:buChar char="–"/>
            </a:pPr>
            <a:r>
              <a:rPr altLang="en-US" sz="2400" lang="en-US">
                <a:solidFill>
                  <a:srgbClr val="FF00FF"/>
                </a:solidFill>
                <a:ea typeface="Arial" pitchFamily="0" charset="0"/>
              </a:rPr>
              <a:t>unlike white adipose tissue, which is present throughout the body, brown adipose tissue has a much more limited distribution.</a:t>
            </a:r>
          </a:p>
        </p:txBody>
      </p:sp>
    </p:spTree>
  </p:cSld>
  <p:clrMapOvr>
    <a:masterClrMapping/>
  </p:clrMapOvr>
  <p:transition spd="fast" advClick="1"/>
</p:sld>
</file>

<file path=ppt/slides/slide26.xml><?xml version="1.0" encoding="utf-8"?>
<p:sld xmlns:a="http://schemas.openxmlformats.org/drawingml/2006/main" xmlns:r="http://schemas.openxmlformats.org/officeDocument/2006/relationships" xmlns:p="http://schemas.openxmlformats.org/presentationml/2006/main" show="1" showMasterSp="1">
  <p:cSld>
    <p:spTree>
      <p:nvGrpSpPr>
        <p:cNvPr id="214" name=""/>
        <p:cNvGrpSpPr/>
        <p:nvPr/>
      </p:nvGrpSpPr>
      <p:grpSpPr>
        <a:xfrm rot="0">
          <a:off x="0" y="0"/>
          <a:ext cx="0" cy="0"/>
          <a:chOff x="0" y="0"/>
          <a:chExt cx="0" cy="0"/>
        </a:xfrm>
      </p:grpSpPr>
      <p:sp>
        <p:nvSpPr>
          <p:cNvPr id="1048799" name="Title 1"/>
          <p:cNvSpPr/>
          <p:nvPr>
            <p:ph type="title" sz="full" idx="0"/>
          </p:nvPr>
        </p:nvSpPr>
        <p:spPr>
          <a:xfrm rot="0">
            <a:off x="2349500" y="0"/>
            <a:ext cx="4432300" cy="533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000" lang="en-US">
                <a:solidFill>
                  <a:srgbClr val="FF0000"/>
                </a:solidFill>
              </a:rPr>
              <a:t>Reticular Ct</a:t>
            </a:r>
          </a:p>
        </p:txBody>
      </p:sp>
      <p:sp>
        <p:nvSpPr>
          <p:cNvPr id="1048800" name="Rectangle 3"/>
          <p:cNvSpPr/>
          <p:nvPr>
            <p:ph sz="half" idx="1"/>
          </p:nvPr>
        </p:nvSpPr>
        <p:spPr>
          <a:xfrm rot="0">
            <a:off x="0" y="533400"/>
            <a:ext cx="4800600" cy="63246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457200" lvl="0" marL="457200">
              <a:lnSpc>
                <a:spcPct val="90000"/>
              </a:lnSpc>
              <a:spcBef>
                <a:spcPct val="10000"/>
              </a:spcBef>
              <a:buClr>
                <a:srgbClr val="FF00FF"/>
              </a:buClr>
              <a:buFont typeface="Calibri" pitchFamily="34" charset="0"/>
              <a:buChar char="–"/>
            </a:pPr>
            <a:r>
              <a:rPr altLang="en-US" lang="en-US">
                <a:solidFill>
                  <a:srgbClr val="7030A0"/>
                </a:solidFill>
              </a:rPr>
              <a:t>composed mainly </a:t>
            </a:r>
            <a:r>
              <a:rPr altLang="en-US" lang="en-US"/>
              <a:t>of </a:t>
            </a:r>
            <a:r>
              <a:rPr altLang="en-US" b="1" lang="en-US">
                <a:solidFill>
                  <a:srgbClr val="0070C0"/>
                </a:solidFill>
              </a:rPr>
              <a:t>type III collagen fibers </a:t>
            </a:r>
            <a:r>
              <a:rPr altLang="en-US" lang="en-US">
                <a:solidFill>
                  <a:srgbClr val="7030A0"/>
                </a:solidFill>
              </a:rPr>
              <a:t>in a form of network or mesh, fibroblasts called reticular cells, and lymphocytes.</a:t>
            </a:r>
          </a:p>
          <a:p>
            <a:pPr eaLnBrk="1" hangingPunct="1" indent="-457200" lvl="0" marL="457200">
              <a:lnSpc>
                <a:spcPct val="90000"/>
              </a:lnSpc>
              <a:spcBef>
                <a:spcPct val="10000"/>
              </a:spcBef>
              <a:buClr>
                <a:srgbClr val="FF00FF"/>
              </a:buClr>
              <a:buFont typeface="Calibri" pitchFamily="34" charset="0"/>
              <a:buChar char="–"/>
            </a:pPr>
            <a:r>
              <a:rPr altLang="en-US" lang="en-US">
                <a:solidFill>
                  <a:srgbClr val="7030A0"/>
                </a:solidFill>
              </a:rPr>
              <a:t>Forms supportive framework of liver sinusoids, red bone marrow, lymph nodes, spleen, smooth muscles, islet of Langerhans and adipose tissues.</a:t>
            </a:r>
          </a:p>
          <a:p>
            <a:pPr eaLnBrk="1" hangingPunct="1" indent="-457200" lvl="0" marL="457200">
              <a:lnSpc>
                <a:spcPct val="90000"/>
              </a:lnSpc>
              <a:spcBef>
                <a:spcPct val="10000"/>
              </a:spcBef>
              <a:buClr>
                <a:srgbClr val="FF00FF"/>
              </a:buClr>
              <a:buFont typeface="Calibri" pitchFamily="34" charset="0"/>
              <a:buChar char="–"/>
            </a:pPr>
            <a:r>
              <a:rPr altLang="en-US" b="1" lang="en-US">
                <a:solidFill>
                  <a:srgbClr val="FF0066"/>
                </a:solidFill>
              </a:rPr>
              <a:t>Reticular cells </a:t>
            </a:r>
            <a:r>
              <a:rPr altLang="en-US" lang="en-US"/>
              <a:t>- </a:t>
            </a:r>
            <a:r>
              <a:rPr altLang="en-US" lang="en-US">
                <a:solidFill>
                  <a:srgbClr val="7030A0"/>
                </a:solidFill>
              </a:rPr>
              <a:t>synthesize reticular fibers in lymphatic tissues; cell body and processes completely surround reticular fibers </a:t>
            </a:r>
          </a:p>
        </p:txBody>
      </p:sp>
      <p:grpSp>
        <p:nvGrpSpPr>
          <p:cNvPr id="215" name=""/>
          <p:cNvGrpSpPr/>
          <p:nvPr/>
        </p:nvGrpSpPr>
        <p:grpSpPr>
          <a:xfrm rot="0">
            <a:off x="4648200" y="773112"/>
            <a:ext cx="4648200" cy="5973762"/>
            <a:chOff x="719" y="811"/>
            <a:chExt cx="3257" cy="3390"/>
          </a:xfrm>
        </p:grpSpPr>
        <p:pic>
          <p:nvPicPr>
            <p:cNvPr id="2097190" name="Picture 9"/>
            <p:cNvPicPr>
              <a:picLocks/>
            </p:cNvPicPr>
            <p:nvPr/>
          </p:nvPicPr>
          <p:blipFill>
            <a:blip xmlns:r="http://schemas.openxmlformats.org/officeDocument/2006/relationships" r:embed="rId1"/>
            <a:srcRect l="0" t="0" r="15" b="110"/>
            <a:stretch>
              <a:fillRect/>
            </a:stretch>
          </p:blipFill>
          <p:spPr>
            <a:xfrm rot="0">
              <a:off x="941" y="811"/>
              <a:ext cx="2857" cy="3186"/>
            </a:xfrm>
            <a:prstGeom prst="rect"/>
            <a:noFill/>
            <a:ln>
              <a:noFill/>
            </a:ln>
          </p:spPr>
        </p:pic>
        <p:sp>
          <p:nvSpPr>
            <p:cNvPr id="1048801" name="Text Box 11"/>
            <p:cNvSpPr txBox="1"/>
            <p:nvPr/>
          </p:nvSpPr>
          <p:spPr>
            <a:xfrm rot="0">
              <a:off x="719" y="3904"/>
              <a:ext cx="3257" cy="297"/>
            </a:xfrm>
            <a:prstGeom prst="rect"/>
            <a:solidFill>
              <a:schemeClr val="lt1"/>
            </a:solid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algn="ctr" eaLnBrk="1" hangingPunct="1" indent="0" lvl="0" marL="0">
                <a:spcBef>
                  <a:spcPct val="0"/>
                </a:spcBef>
                <a:buFontTx/>
                <a:buNone/>
              </a:pPr>
              <a:r>
                <a:rPr altLang="en-US" b="1" sz="2800" lang="en-US">
                  <a:solidFill>
                    <a:srgbClr val="00B0F0"/>
                  </a:solidFill>
                  <a:ea typeface="Arial" pitchFamily="0" charset="0"/>
                </a:rPr>
                <a:t>Lymph node (silver stain)</a:t>
              </a:r>
            </a:p>
          </p:txBody>
        </p:sp>
      </p:grpSp>
    </p:spTree>
  </p:cSld>
  <p:clrMapOvr>
    <a:masterClrMapping/>
  </p:clrMapOvr>
  <p:transition spd="fast" advClick="1"/>
</p:sld>
</file>

<file path=ppt/slides/slide27.xml><?xml version="1.0" encoding="utf-8"?>
<p:sld xmlns:a="http://schemas.openxmlformats.org/drawingml/2006/main" xmlns:r="http://schemas.openxmlformats.org/officeDocument/2006/relationships" xmlns:p="http://schemas.openxmlformats.org/presentationml/2006/main" show="1" showMasterSp="1">
  <p:cSld>
    <p:spTree>
      <p:nvGrpSpPr>
        <p:cNvPr id="216" name=""/>
        <p:cNvGrpSpPr/>
        <p:nvPr/>
      </p:nvGrpSpPr>
      <p:grpSpPr>
        <a:xfrm rot="0">
          <a:off x="0" y="0"/>
          <a:ext cx="0" cy="0"/>
          <a:chOff x="0" y="0"/>
          <a:chExt cx="0" cy="0"/>
        </a:xfrm>
      </p:grpSpPr>
      <p:pic>
        <p:nvPicPr>
          <p:cNvPr id="2097191" name="Picture 4" descr="File0015"/>
          <p:cNvPicPr>
            <a:picLocks/>
          </p:cNvPicPr>
          <p:nvPr/>
        </p:nvPicPr>
        <p:blipFill>
          <a:blip xmlns:r="http://schemas.openxmlformats.org/officeDocument/2006/relationships" r:embed="rId1"/>
          <a:srcRect l="0" t="0" r="0" b="0"/>
          <a:stretch>
            <a:fillRect/>
          </a:stretch>
        </p:blipFill>
        <p:spPr>
          <a:xfrm rot="0">
            <a:off x="228600" y="533400"/>
            <a:ext cx="8686800" cy="6096000"/>
          </a:xfrm>
          <a:prstGeom prst="rect"/>
          <a:noFill/>
          <a:ln>
            <a:noFill/>
          </a:ln>
        </p:spPr>
      </p:pic>
      <p:cxnSp>
        <p:nvCxnSpPr>
          <p:cNvPr id="3145733" name="Straight Arrow Connector 3"/>
          <p:cNvCxnSpPr>
            <a:cxnSpLocks/>
          </p:cNvCxnSpPr>
          <p:nvPr/>
        </p:nvCxnSpPr>
        <p:spPr>
          <a:xfrm rot="16200000" flipH="1">
            <a:off x="3467100" y="342900"/>
            <a:ext cx="304800" cy="228600"/>
          </a:xfrm>
          <a:prstGeom prst="straightConnector1"/>
          <a:noFill/>
          <a:ln w="38100" cap="flat" cmpd="sng">
            <a:solidFill>
              <a:srgbClr val="4A7EBB">
                <a:alpha val="100000"/>
              </a:srgbClr>
            </a:solidFill>
            <a:prstDash val="solid"/>
            <a:round/>
            <a:tailEnd type="arrow" w="med" len="med"/>
          </a:ln>
        </p:spPr>
      </p:cxnSp>
      <p:cxnSp>
        <p:nvCxnSpPr>
          <p:cNvPr id="3145734" name="Straight Arrow Connector 5"/>
          <p:cNvCxnSpPr>
            <a:cxnSpLocks/>
          </p:cNvCxnSpPr>
          <p:nvPr/>
        </p:nvCxnSpPr>
        <p:spPr>
          <a:xfrm rot="0" flipH="1">
            <a:off x="2743200" y="457200"/>
            <a:ext cx="152400" cy="1066800"/>
          </a:xfrm>
          <a:prstGeom prst="straightConnector1"/>
          <a:noFill/>
          <a:ln w="57150" cap="flat" cmpd="sng">
            <a:solidFill>
              <a:srgbClr val="4A7EBB">
                <a:alpha val="100000"/>
              </a:srgbClr>
            </a:solidFill>
            <a:prstDash val="solid"/>
            <a:round/>
            <a:tailEnd type="arrow" w="med" len="med"/>
          </a:ln>
        </p:spPr>
      </p:cxnSp>
      <p:sp>
        <p:nvSpPr>
          <p:cNvPr id="1048802" name="TextBox 12"/>
          <p:cNvSpPr txBox="1"/>
          <p:nvPr/>
        </p:nvSpPr>
        <p:spPr>
          <a:xfrm rot="0">
            <a:off x="2819400" y="1447800"/>
            <a:ext cx="2895600" cy="523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800" lang="en-US">
                <a:solidFill>
                  <a:srgbClr val="FF0000"/>
                </a:solidFill>
                <a:latin typeface="Comic Sans MS" pitchFamily="66" charset="0"/>
                <a:ea typeface="Arial" pitchFamily="0" charset="0"/>
              </a:rPr>
              <a:t>reticular cells</a:t>
            </a:r>
          </a:p>
        </p:txBody>
      </p:sp>
      <p:cxnSp>
        <p:nvCxnSpPr>
          <p:cNvPr id="3145735" name="Straight Arrow Connector 9"/>
          <p:cNvCxnSpPr>
            <a:cxnSpLocks/>
          </p:cNvCxnSpPr>
          <p:nvPr/>
        </p:nvCxnSpPr>
        <p:spPr>
          <a:xfrm rot="16200000" flipH="1">
            <a:off x="4533900" y="2019300"/>
            <a:ext cx="533400" cy="152400"/>
          </a:xfrm>
          <a:prstGeom prst="straightConnector1"/>
          <a:noFill/>
          <a:ln w="9525" cap="flat" cmpd="sng">
            <a:solidFill>
              <a:srgbClr val="4A7EBB">
                <a:alpha val="100000"/>
              </a:srgbClr>
            </a:solidFill>
            <a:prstDash val="solid"/>
            <a:round/>
            <a:tailEnd type="arrow" w="med" len="med"/>
          </a:ln>
        </p:spPr>
      </p:cxnSp>
      <p:cxnSp>
        <p:nvCxnSpPr>
          <p:cNvPr id="3145736" name="Straight Arrow Connector 11"/>
          <p:cNvCxnSpPr>
            <a:cxnSpLocks/>
          </p:cNvCxnSpPr>
          <p:nvPr/>
        </p:nvCxnSpPr>
        <p:spPr>
          <a:xfrm rot="0">
            <a:off x="3276600" y="1905000"/>
            <a:ext cx="685800" cy="152400"/>
          </a:xfrm>
          <a:prstGeom prst="straightConnector1"/>
          <a:noFill/>
          <a:ln w="9525" cap="flat" cmpd="sng">
            <a:solidFill>
              <a:srgbClr val="4A7EBB">
                <a:alpha val="100000"/>
              </a:srgbClr>
            </a:solidFill>
            <a:prstDash val="solid"/>
            <a:round/>
            <a:tailEnd type="arrow" w="med" len="med"/>
          </a:ln>
        </p:spPr>
      </p:cxnSp>
      <p:sp>
        <p:nvSpPr>
          <p:cNvPr id="1048803" name="TextBox 12"/>
          <p:cNvSpPr txBox="1"/>
          <p:nvPr/>
        </p:nvSpPr>
        <p:spPr>
          <a:xfrm rot="0">
            <a:off x="6324600" y="1371600"/>
            <a:ext cx="3224212" cy="4619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400" lang="en-GB">
                <a:solidFill>
                  <a:srgbClr val="FF0000"/>
                </a:solidFill>
                <a:latin typeface="Arial" pitchFamily="0" charset="0"/>
                <a:ea typeface="Arial" pitchFamily="0" charset="0"/>
              </a:rPr>
              <a:t>Lymphocytes</a:t>
            </a:r>
          </a:p>
        </p:txBody>
      </p:sp>
      <p:cxnSp>
        <p:nvCxnSpPr>
          <p:cNvPr id="3145737" name="Straight Arrow Connector 14"/>
          <p:cNvCxnSpPr>
            <a:cxnSpLocks/>
          </p:cNvCxnSpPr>
          <p:nvPr/>
        </p:nvCxnSpPr>
        <p:spPr>
          <a:xfrm rot="5400000">
            <a:off x="7743032" y="1939130"/>
            <a:ext cx="300037" cy="88900"/>
          </a:xfrm>
          <a:prstGeom prst="straightConnector1"/>
          <a:noFill/>
          <a:ln w="9525" cap="flat" cmpd="sng">
            <a:solidFill>
              <a:srgbClr val="4A7EBB">
                <a:alpha val="100000"/>
              </a:srgbClr>
            </a:solidFill>
            <a:prstDash val="solid"/>
            <a:round/>
            <a:tailEnd type="arrow" w="med" len="med"/>
          </a:ln>
        </p:spPr>
      </p:cxnSp>
      <p:cxnSp>
        <p:nvCxnSpPr>
          <p:cNvPr id="3145738" name="Straight Arrow Connector 17"/>
          <p:cNvCxnSpPr>
            <a:cxnSpLocks/>
          </p:cNvCxnSpPr>
          <p:nvPr/>
        </p:nvCxnSpPr>
        <p:spPr>
          <a:xfrm rot="16200000" flipH="1">
            <a:off x="7924800" y="2057400"/>
            <a:ext cx="685800" cy="228600"/>
          </a:xfrm>
          <a:prstGeom prst="straightConnector1"/>
          <a:noFill/>
          <a:ln w="9525" cap="flat" cmpd="sng">
            <a:solidFill>
              <a:srgbClr val="4A7EBB">
                <a:alpha val="100000"/>
              </a:srgbClr>
            </a:solidFill>
            <a:prstDash val="solid"/>
            <a:round/>
            <a:tailEnd type="arrow" w="med" len="med"/>
          </a:ln>
        </p:spPr>
      </p:cxnSp>
      <p:sp>
        <p:nvSpPr>
          <p:cNvPr id="1048804" name="Rectangle 2"/>
          <p:cNvSpPr txBox="1"/>
          <p:nvPr/>
        </p:nvSpPr>
        <p:spPr>
          <a:xfrm rot="0">
            <a:off x="2362200" y="-76200"/>
            <a:ext cx="5105400" cy="457200"/>
          </a:xfrm>
          <a:prstGeom prst="rect"/>
          <a:noFill/>
          <a:ln>
            <a:noFill/>
          </a:ln>
        </p:spPr>
        <p:txBody>
          <a:bodyPr anchor="t"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r>
              <a:rPr altLang="en-US" b="1" sz="3200" lang="en-US">
                <a:solidFill>
                  <a:srgbClr val="FF0000"/>
                </a:solidFill>
                <a:latin typeface="Calibri" pitchFamily="34" charset="0"/>
                <a:ea typeface="Times New Roman" pitchFamily="18" charset="0"/>
              </a:rPr>
              <a:t>RETICULAR  CT</a:t>
            </a:r>
          </a:p>
        </p:txBody>
      </p:sp>
    </p:spTree>
  </p:cSld>
  <p:clrMapOvr>
    <a:masterClrMapping/>
  </p:clrMapOvr>
  <p:transition spd="fast" advClick="1"/>
</p:sld>
</file>

<file path=ppt/slides/slide28.xml><?xml version="1.0" encoding="utf-8"?>
<p:sld xmlns:a="http://schemas.openxmlformats.org/drawingml/2006/main" xmlns:r="http://schemas.openxmlformats.org/officeDocument/2006/relationships" xmlns:p="http://schemas.openxmlformats.org/presentationml/2006/main" show="1" showMasterSp="1">
  <p:cSld>
    <p:spTree>
      <p:nvGrpSpPr>
        <p:cNvPr id="217" name=""/>
        <p:cNvGrpSpPr/>
        <p:nvPr/>
      </p:nvGrpSpPr>
      <p:grpSpPr>
        <a:xfrm rot="0">
          <a:off x="0" y="0"/>
          <a:ext cx="0" cy="0"/>
          <a:chOff x="0" y="0"/>
          <a:chExt cx="0" cy="0"/>
        </a:xfrm>
      </p:grpSpPr>
      <p:sp>
        <p:nvSpPr>
          <p:cNvPr id="1048805" name="Title 1"/>
          <p:cNvSpPr/>
          <p:nvPr>
            <p:ph type="title" sz="full" idx="0"/>
          </p:nvPr>
        </p:nvSpPr>
        <p:spPr>
          <a:xfrm rot="0">
            <a:off x="762000" y="0"/>
            <a:ext cx="4495800" cy="4572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300" lang="en-US">
                <a:solidFill>
                  <a:srgbClr val="FF0000"/>
                </a:solidFill>
              </a:rPr>
              <a:t>2. DENSE CT</a:t>
            </a:r>
          </a:p>
        </p:txBody>
      </p:sp>
      <p:sp>
        <p:nvSpPr>
          <p:cNvPr id="1048806" name="Rectangle 3"/>
          <p:cNvSpPr/>
          <p:nvPr>
            <p:ph sz="half" idx="1"/>
          </p:nvPr>
        </p:nvSpPr>
        <p:spPr>
          <a:xfrm rot="0">
            <a:off x="0" y="533400"/>
            <a:ext cx="9144000" cy="6324600"/>
          </a:xfrm>
          <a:prstGeom prst="rect"/>
          <a:solidFill>
            <a:schemeClr val="lt1">
              <a:alpha val="100000"/>
            </a:schemeClr>
          </a:solidFill>
          <a:ln>
            <a:noFill/>
          </a:ln>
          <a:effectLst>
            <a:outerShdw algn="ctr" dir="2699999" dist="35921" kx="0" sx="100000" sy="100000">
              <a:srgbClr val="000000">
                <a:alpha val="100000"/>
              </a:srgbClr>
            </a:outerShdw>
          </a:effectLst>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457200" lvl="0" marL="457200">
              <a:spcBef>
                <a:spcPct val="0"/>
              </a:spcBef>
              <a:buClr>
                <a:srgbClr val="9900FF"/>
              </a:buClr>
              <a:buFont typeface="Calibri" pitchFamily="34" charset="0"/>
              <a:buChar char="–"/>
              <a:tabLst>
                <a:tab algn="l" pos="457200"/>
              </a:tabLst>
            </a:pPr>
            <a:r>
              <a:rPr altLang="en-US" lang="en-US">
                <a:solidFill>
                  <a:srgbClr val="0070C0"/>
                </a:solidFill>
              </a:rPr>
              <a:t>Contains abundant amount of fibers gathered into large bundles with fewer cells &amp; ground substance.</a:t>
            </a:r>
          </a:p>
          <a:p>
            <a:pPr eaLnBrk="1" hangingPunct="1" indent="-457200" lvl="0" marL="457200">
              <a:spcBef>
                <a:spcPct val="0"/>
              </a:spcBef>
              <a:buClr>
                <a:srgbClr val="FFFF00"/>
              </a:buClr>
              <a:buFont typeface="Wingdings 2" pitchFamily="18" charset="2"/>
              <a:buNone/>
            </a:pPr>
            <a:r>
              <a:rPr altLang="en-US" b="1" sz="4100" lang="en-US">
                <a:solidFill>
                  <a:srgbClr val="FF0000"/>
                </a:solidFill>
              </a:rPr>
              <a:t> a. </a:t>
            </a:r>
            <a:r>
              <a:rPr altLang="en-US" b="1" sz="3000" lang="en-US">
                <a:solidFill>
                  <a:srgbClr val="FF0000"/>
                </a:solidFill>
              </a:rPr>
              <a:t>DENSE REGULAR CT</a:t>
            </a:r>
          </a:p>
          <a:p>
            <a:pPr eaLnBrk="1" hangingPunct="1" indent="-393700" lvl="3" marL="393700">
              <a:spcBef>
                <a:spcPts val="600"/>
              </a:spcBef>
              <a:buSzPct val="96000"/>
              <a:buFont typeface="Calibri" pitchFamily="34" charset="0"/>
              <a:buChar char="–"/>
            </a:pPr>
            <a:r>
              <a:rPr altLang="en-US" sz="2200" lang="en-US">
                <a:solidFill>
                  <a:srgbClr val="FF00FF"/>
                </a:solidFill>
              </a:rPr>
              <a:t>Has tightly packed coarse collagen bundles arranged in parallel fashion to form cord-like cylinders (tendons, retinacula &amp; ligaments) or sheets (aponeurosis) &amp; capsule of some glands (spleen, suprarenal, etc), </a:t>
            </a:r>
            <a:r>
              <a:rPr altLang="en-US" sz="2200" lang="zh-CN">
                <a:solidFill>
                  <a:srgbClr val="FF00FF"/>
                </a:solidFill>
                <a:ea typeface="Times New Roman" pitchFamily="18" charset="0"/>
              </a:rPr>
              <a:t>interosseous membranes, fibrous </a:t>
            </a:r>
            <a:r>
              <a:rPr altLang="en-US" sz="2200" lang="zh-CN">
                <a:solidFill>
                  <a:srgbClr val="9900FF"/>
                </a:solidFill>
                <a:ea typeface="Times New Roman" pitchFamily="18" charset="0"/>
              </a:rPr>
              <a:t>sheaths around cartilage (perichondrium)</a:t>
            </a:r>
            <a:r>
              <a:rPr altLang="en-US" sz="2200" lang="zh-CN">
                <a:solidFill>
                  <a:srgbClr val="FF00FF"/>
                </a:solidFill>
                <a:ea typeface="Times New Roman" pitchFamily="18" charset="0"/>
              </a:rPr>
              <a:t> and </a:t>
            </a:r>
            <a:r>
              <a:rPr altLang="en-US" sz="2200" lang="zh-CN">
                <a:solidFill>
                  <a:srgbClr val="9900FF"/>
                </a:solidFill>
                <a:ea typeface="Times New Roman" pitchFamily="18" charset="0"/>
              </a:rPr>
              <a:t>sheaths around bone (fibrous periosteum). </a:t>
            </a:r>
          </a:p>
          <a:p>
            <a:pPr eaLnBrk="1" hangingPunct="1" indent="-457200" lvl="0" marL="457200">
              <a:spcBef>
                <a:spcPts val="600"/>
              </a:spcBef>
              <a:buSzPct val="96000"/>
              <a:buFont typeface="Calibri" pitchFamily="34" charset="0"/>
              <a:buChar char="–"/>
            </a:pPr>
            <a:r>
              <a:rPr altLang="en-US" sz="2600" lang="en-US">
                <a:solidFill>
                  <a:srgbClr val="0070C0"/>
                </a:solidFill>
              </a:rPr>
              <a:t>Fibroblasts and fibrocytes are arranged in rows between the collagen fibers so they appears elongated with their dash-like elongated nuclei.</a:t>
            </a:r>
          </a:p>
          <a:p>
            <a:pPr eaLnBrk="1" hangingPunct="1" indent="-457200" lvl="0" marL="457200">
              <a:spcBef>
                <a:spcPts val="600"/>
              </a:spcBef>
              <a:buSzPct val="96000"/>
              <a:buFont typeface="Calibri" pitchFamily="34" charset="0"/>
              <a:buChar char="–"/>
            </a:pPr>
            <a:r>
              <a:rPr altLang="en-US" sz="2600" lang="zh-CN">
                <a:solidFill>
                  <a:srgbClr val="00B050"/>
                </a:solidFill>
                <a:ea typeface="Tahoma" pitchFamily="34" charset="0"/>
              </a:rPr>
              <a:t>It can be collagenous type (e.g. </a:t>
            </a:r>
            <a:r>
              <a:rPr altLang="en-US" sz="2600" lang="en-US">
                <a:solidFill>
                  <a:srgbClr val="00B050"/>
                </a:solidFill>
              </a:rPr>
              <a:t>tendon,</a:t>
            </a:r>
            <a:r>
              <a:rPr altLang="en-US" sz="2600" lang="th-TH">
                <a:solidFill>
                  <a:srgbClr val="00B050"/>
                </a:solidFill>
                <a:cs typeface="Cordia New" pitchFamily="34" charset="-34"/>
              </a:rPr>
              <a:t>  </a:t>
            </a:r>
            <a:r>
              <a:rPr altLang="en-US" sz="2600" lang="en-US">
                <a:solidFill>
                  <a:srgbClr val="00B050"/>
                </a:solidFill>
              </a:rPr>
              <a:t>aponeurosis, retinacula, white ligaments) or elastic type (</a:t>
            </a:r>
            <a:r>
              <a:rPr altLang="en-US" sz="2600" lang="zh-CN">
                <a:solidFill>
                  <a:srgbClr val="00B050"/>
                </a:solidFill>
                <a:ea typeface="Tahoma" pitchFamily="34" charset="0"/>
              </a:rPr>
              <a:t>e.g. </a:t>
            </a:r>
            <a:r>
              <a:rPr altLang="en-US" sz="2600" lang="en-US">
                <a:solidFill>
                  <a:srgbClr val="00B050"/>
                </a:solidFill>
              </a:rPr>
              <a:t>ligamentum nuchae, ligamentum flavum)</a:t>
            </a:r>
          </a:p>
          <a:p>
            <a:pPr eaLnBrk="1" hangingPunct="1" indent="-457200" lvl="0" marL="457200">
              <a:spcBef>
                <a:spcPts val="600"/>
              </a:spcBef>
              <a:buSzPct val="96000"/>
              <a:buFont typeface="Calibri" pitchFamily="34" charset="0"/>
              <a:buChar char="–"/>
            </a:pPr>
            <a:r>
              <a:rPr altLang="en-US" sz="2600" lang="en-US">
                <a:solidFill>
                  <a:srgbClr val="7030A0"/>
                </a:solidFill>
              </a:rPr>
              <a:t>Dense collagenous CT type is also known as </a:t>
            </a:r>
            <a:r>
              <a:rPr altLang="en-US" b="1" sz="2600" lang="en-US">
                <a:solidFill>
                  <a:srgbClr val="FF0000"/>
                </a:solidFill>
              </a:rPr>
              <a:t>white fibrous </a:t>
            </a:r>
            <a:r>
              <a:rPr altLang="en-US" b="1" sz="2200" lang="en-US">
                <a:solidFill>
                  <a:srgbClr val="FF0000"/>
                </a:solidFill>
              </a:rPr>
              <a:t>CT.</a:t>
            </a:r>
          </a:p>
        </p:txBody>
      </p:sp>
    </p:spTree>
  </p:cSld>
  <p:clrMapOvr>
    <a:masterClrMapping/>
  </p:clrMapOvr>
  <p:transition spd="fast" advClick="1"/>
</p:sld>
</file>

<file path=ppt/slides/slide29.xml><?xml version="1.0" encoding="utf-8"?>
<p:sld xmlns:a="http://schemas.openxmlformats.org/drawingml/2006/main" xmlns:r="http://schemas.openxmlformats.org/officeDocument/2006/relationships" xmlns:p="http://schemas.openxmlformats.org/presentationml/2006/main" show="1" showMasterSp="1">
  <p:cSld>
    <p:spTree>
      <p:nvGrpSpPr>
        <p:cNvPr id="218" name=""/>
        <p:cNvGrpSpPr/>
        <p:nvPr/>
      </p:nvGrpSpPr>
      <p:grpSpPr>
        <a:xfrm rot="0">
          <a:off x="0" y="0"/>
          <a:ext cx="0" cy="0"/>
          <a:chOff x="0" y="0"/>
          <a:chExt cx="0" cy="0"/>
        </a:xfrm>
      </p:grpSpPr>
      <p:sp>
        <p:nvSpPr>
          <p:cNvPr id="1048807" name="Title 1"/>
          <p:cNvSpPr/>
          <p:nvPr>
            <p:ph type="title" sz="full" idx="0"/>
          </p:nvPr>
        </p:nvSpPr>
        <p:spPr>
          <a:xfrm rot="0">
            <a:off x="1143000" y="0"/>
            <a:ext cx="7791450" cy="6096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000" lang="en-US">
                <a:solidFill>
                  <a:srgbClr val="FF0066"/>
                </a:solidFill>
              </a:rPr>
              <a:t>Dense Regular Collagenous C.T</a:t>
            </a:r>
          </a:p>
        </p:txBody>
      </p:sp>
      <p:pic>
        <p:nvPicPr>
          <p:cNvPr id="2097192" name="Picture 2" descr="C:\Users\dr ali\Documents\CT Pictures Reduced\112_01.jpg"/>
          <p:cNvPicPr>
            <a:picLocks/>
          </p:cNvPicPr>
          <p:nvPr>
            <p:ph sz="full" idx="1"/>
          </p:nvPr>
        </p:nvPicPr>
        <p:blipFill>
          <a:blip xmlns:r="http://schemas.openxmlformats.org/officeDocument/2006/relationships" r:embed="rId1"/>
          <a:srcRect l="0" t="0" r="0" b="0"/>
          <a:stretch>
            <a:fillRect/>
          </a:stretch>
        </p:blipFill>
        <p:spPr>
          <a:xfrm rot="0">
            <a:off x="228600" y="609600"/>
            <a:ext cx="8686800" cy="6096000"/>
          </a:xfrm>
          <a:prstGeom prst="rect"/>
          <a:noFill/>
          <a:ln>
            <a:noFill/>
          </a:ln>
        </p:spPr>
      </p:pic>
      <p:sp>
        <p:nvSpPr>
          <p:cNvPr id="1048808" name="TextBox 5"/>
          <p:cNvSpPr txBox="1"/>
          <p:nvPr/>
        </p:nvSpPr>
        <p:spPr>
          <a:xfrm rot="0">
            <a:off x="1066800" y="914400"/>
            <a:ext cx="2819400" cy="523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800" lang="en-GB">
                <a:solidFill>
                  <a:srgbClr val="FF0066"/>
                </a:solidFill>
                <a:ea typeface="Arial" pitchFamily="0" charset="0"/>
              </a:rPr>
              <a:t>Tendon, teased</a:t>
            </a:r>
          </a:p>
        </p:txBody>
      </p:sp>
    </p:spTree>
  </p:cSld>
  <p:clrMapOvr>
    <a:masterClrMapping/>
  </p:clrMapOvr>
  <p:transition spd="fast" advClick="1"/>
</p:sld>
</file>

<file path=ppt/slides/slide30.xml><?xml version="1.0" encoding="utf-8"?>
<p:sld xmlns:a="http://schemas.openxmlformats.org/drawingml/2006/main" xmlns:r="http://schemas.openxmlformats.org/officeDocument/2006/relationships" xmlns:p="http://schemas.openxmlformats.org/presentationml/2006/main" show="1" showMasterSp="1">
  <p:cSld>
    <p:spTree>
      <p:nvGrpSpPr>
        <p:cNvPr id="219" name=""/>
        <p:cNvGrpSpPr/>
        <p:nvPr/>
      </p:nvGrpSpPr>
      <p:grpSpPr>
        <a:xfrm rot="0">
          <a:off x="0" y="0"/>
          <a:ext cx="0" cy="0"/>
          <a:chOff x="0" y="0"/>
          <a:chExt cx="0" cy="0"/>
        </a:xfrm>
      </p:grpSpPr>
      <p:sp>
        <p:nvSpPr>
          <p:cNvPr id="1048809" name="Rectangle 2"/>
          <p:cNvSpPr/>
          <p:nvPr>
            <p:ph type="title" sz="full" idx="4294967295"/>
          </p:nvPr>
        </p:nvSpPr>
        <p:spPr>
          <a:xfrm rot="0">
            <a:off x="3352800" y="164501"/>
            <a:ext cx="5867400" cy="216499"/>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2800" lang="en-US">
                <a:solidFill>
                  <a:srgbClr val="FF0000"/>
                </a:solidFill>
              </a:rPr>
              <a:t>Dense Regular Connective Tissue</a:t>
            </a:r>
          </a:p>
        </p:txBody>
      </p:sp>
      <p:pic>
        <p:nvPicPr>
          <p:cNvPr id="2097193" name="Picture 3" descr="Dense%20reg"/>
          <p:cNvPicPr>
            <a:picLocks/>
          </p:cNvPicPr>
          <p:nvPr>
            <p:ph sz="half" idx="4294967295"/>
          </p:nvPr>
        </p:nvPicPr>
        <p:blipFill>
          <a:blip xmlns:r="http://schemas.openxmlformats.org/officeDocument/2006/relationships" r:embed="rId1"/>
          <a:srcRect l="0" t="11731" r="0" b="0"/>
          <a:stretch>
            <a:fillRect/>
          </a:stretch>
        </p:blipFill>
        <p:spPr>
          <a:xfrm rot="0">
            <a:off x="3276600" y="533400"/>
            <a:ext cx="5867400" cy="5487987"/>
          </a:xfrm>
          <a:prstGeom prst="rect"/>
          <a:solidFill>
            <a:schemeClr val="lt1">
              <a:alpha val="100000"/>
            </a:schemeClr>
          </a:solidFill>
          <a:ln>
            <a:noFill/>
          </a:ln>
        </p:spPr>
      </p:pic>
      <p:sp>
        <p:nvSpPr>
          <p:cNvPr id="1048810" name="Text Box 5"/>
          <p:cNvSpPr txBox="1"/>
          <p:nvPr/>
        </p:nvSpPr>
        <p:spPr>
          <a:xfrm rot="0">
            <a:off x="2895600" y="6019800"/>
            <a:ext cx="6248400" cy="802641"/>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50000"/>
              </a:spcBef>
              <a:buFontTx/>
              <a:buNone/>
            </a:pPr>
            <a:r>
              <a:rPr altLang="en-US" b="1" sz="2400" lang="en-US">
                <a:solidFill>
                  <a:srgbClr val="FF0066"/>
                </a:solidFill>
                <a:ea typeface="Arial" pitchFamily="0" charset="0"/>
              </a:rPr>
              <a:t>NOTE the waviness of the fibers.  What function could this structural aspect provide?</a:t>
            </a:r>
          </a:p>
        </p:txBody>
      </p:sp>
      <p:sp>
        <p:nvSpPr>
          <p:cNvPr id="1048811" name="Rectangle 12"/>
          <p:cNvSpPr/>
          <p:nvPr/>
        </p:nvSpPr>
        <p:spPr>
          <a:xfrm rot="0">
            <a:off x="0" y="381000"/>
            <a:ext cx="3352800" cy="7292339"/>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350837" lvl="1" marL="350837">
              <a:spcBef>
                <a:spcPts val="600"/>
              </a:spcBef>
              <a:buFont typeface="Calibri" pitchFamily="34" charset="0"/>
            </a:pPr>
            <a:r>
              <a:rPr altLang="en-US" lang="en-US">
                <a:solidFill>
                  <a:srgbClr val="7030A0"/>
                </a:solidFill>
                <a:ea typeface="Times New Roman" pitchFamily="18" charset="0"/>
              </a:rPr>
              <a:t>The collagen bundles are arranged according to a definite pattern, with the linear orientation of fibroblasts in response to prolonged stresses exerted in the same direction. </a:t>
            </a:r>
          </a:p>
          <a:p>
            <a:pPr eaLnBrk="1" hangingPunct="1" indent="-350837" lvl="1" marL="350837">
              <a:spcBef>
                <a:spcPts val="600"/>
              </a:spcBef>
              <a:buFont typeface="Calibri" pitchFamily="34" charset="0"/>
            </a:pPr>
            <a:r>
              <a:rPr altLang="en-US" lang="en-US">
                <a:solidFill>
                  <a:srgbClr val="00B050"/>
                </a:solidFill>
                <a:ea typeface="Times New Roman" pitchFamily="18" charset="0"/>
              </a:rPr>
              <a:t>This arrangement offers great resistance to traction forces.</a:t>
            </a:r>
          </a:p>
        </p:txBody>
      </p:sp>
      <p:sp>
        <p:nvSpPr>
          <p:cNvPr id="1048812" name="TextBox 13"/>
          <p:cNvSpPr txBox="1"/>
          <p:nvPr/>
        </p:nvSpPr>
        <p:spPr>
          <a:xfrm rot="0">
            <a:off x="3352800" y="609600"/>
            <a:ext cx="1752600" cy="523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2800" lang="en-US">
                <a:solidFill>
                  <a:srgbClr val="FF0066"/>
                </a:solidFill>
                <a:ea typeface="Arial" pitchFamily="0" charset="0"/>
              </a:rPr>
              <a:t>Tendon</a:t>
            </a:r>
          </a:p>
        </p:txBody>
      </p:sp>
    </p:spTree>
  </p:cSld>
  <p:clrMapOvr>
    <a:masterClrMapping/>
  </p:clrMapOvr>
  <p:transition spd="fast" advClick="1"/>
</p:sld>
</file>

<file path=ppt/slides/slide31.xml><?xml version="1.0" encoding="utf-8"?>
<p:sld xmlns:a="http://schemas.openxmlformats.org/drawingml/2006/main" xmlns:r="http://schemas.openxmlformats.org/officeDocument/2006/relationships" xmlns:p="http://schemas.openxmlformats.org/presentationml/2006/main" show="1" showMasterSp="1">
  <p:cSld>
    <p:spTree>
      <p:nvGrpSpPr>
        <p:cNvPr id="220" name=""/>
        <p:cNvGrpSpPr/>
        <p:nvPr/>
      </p:nvGrpSpPr>
      <p:grpSpPr>
        <a:xfrm rot="0">
          <a:off x="0" y="0"/>
          <a:ext cx="0" cy="0"/>
          <a:chOff x="0" y="0"/>
          <a:chExt cx="0" cy="0"/>
        </a:xfrm>
      </p:grpSpPr>
      <p:sp>
        <p:nvSpPr>
          <p:cNvPr id="1048813" name="Title 1"/>
          <p:cNvSpPr/>
          <p:nvPr>
            <p:ph type="title" sz="full" idx="0"/>
          </p:nvPr>
        </p:nvSpPr>
        <p:spPr>
          <a:xfrm rot="0">
            <a:off x="1435100" y="0"/>
            <a:ext cx="6380392" cy="46678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4000" lang="en-US">
                <a:solidFill>
                  <a:srgbClr val="FF0066"/>
                </a:solidFill>
              </a:rPr>
              <a:t>b. DENSE IRREGULAR CT</a:t>
            </a:r>
          </a:p>
        </p:txBody>
      </p:sp>
      <p:sp>
        <p:nvSpPr>
          <p:cNvPr id="1048814" name="Content Placeholder 2"/>
          <p:cNvSpPr/>
          <p:nvPr>
            <p:ph sz="half" idx="1"/>
          </p:nvPr>
        </p:nvSpPr>
        <p:spPr>
          <a:xfrm rot="0">
            <a:off x="0" y="533400"/>
            <a:ext cx="9144000" cy="6324600"/>
          </a:xfrm>
          <a:prstGeom prst="rect"/>
          <a:noFill/>
          <a:ln>
            <a:noFill/>
          </a:ln>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algn="just" eaLnBrk="1" hangingPunct="1" indent="-457200" lvl="0" marL="457200">
              <a:spcBef>
                <a:spcPct val="0"/>
              </a:spcBef>
              <a:buFont typeface="Calibri" pitchFamily="34" charset="0"/>
              <a:buChar char="–"/>
            </a:pPr>
            <a:r>
              <a:rPr altLang="en-US" sz="2400" lang="en-US">
                <a:solidFill>
                  <a:srgbClr val="9900FF"/>
                </a:solidFill>
              </a:rPr>
              <a:t>Contains abundant amounts of fibers with less cells and ground substances.</a:t>
            </a:r>
            <a:endParaRPr sz="2000"/>
          </a:p>
          <a:p>
            <a:pPr eaLnBrk="1" hangingPunct="1" indent="-457200" lvl="0" marL="457200">
              <a:spcBef>
                <a:spcPct val="0"/>
              </a:spcBef>
              <a:buFont typeface="Calibri" pitchFamily="34" charset="0"/>
              <a:buChar char="–"/>
            </a:pPr>
            <a:r>
              <a:rPr altLang="en-US" sz="2400" lang="en-US">
                <a:solidFill>
                  <a:srgbClr val="0070C0"/>
                </a:solidFill>
              </a:rPr>
              <a:t>Has tightly packed coarse collagen bundles arranged   randomly in all directions, with  few elastic fibers.</a:t>
            </a:r>
            <a:endParaRPr sz="2000"/>
          </a:p>
          <a:p>
            <a:pPr algn="just" eaLnBrk="1" hangingPunct="1" indent="-457200" lvl="0" marL="457200">
              <a:spcBef>
                <a:spcPct val="0"/>
              </a:spcBef>
              <a:buFont typeface="Calibri" pitchFamily="34" charset="0"/>
              <a:buChar char="–"/>
            </a:pPr>
            <a:r>
              <a:rPr altLang="en-US" sz="2400" lang="en-US">
                <a:solidFill>
                  <a:srgbClr val="7030A0"/>
                </a:solidFill>
              </a:rPr>
              <a:t>Fibroblasts and other fewer cells are arranged between the collagen fibers.</a:t>
            </a:r>
            <a:endParaRPr sz="2000"/>
          </a:p>
          <a:p>
            <a:pPr algn="just" eaLnBrk="1" hangingPunct="1" indent="-457200" lvl="0" marL="457200">
              <a:lnSpc>
                <a:spcPct val="120000"/>
              </a:lnSpc>
              <a:spcBef>
                <a:spcPct val="0"/>
              </a:spcBef>
              <a:buNone/>
            </a:pPr>
            <a:r>
              <a:rPr altLang="en-US" b="1" sz="2800" lang="en-US">
                <a:solidFill>
                  <a:srgbClr val="FF0000"/>
                </a:solidFill>
              </a:rPr>
              <a:t>Location</a:t>
            </a:r>
            <a:endParaRPr sz="2400"/>
          </a:p>
          <a:p>
            <a:pPr eaLnBrk="1" hangingPunct="1" indent="-446087" lvl="3" marL="625475">
              <a:lnSpc>
                <a:spcPct val="120000"/>
              </a:lnSpc>
              <a:spcBef>
                <a:spcPct val="0"/>
              </a:spcBef>
              <a:buFont typeface="Calibri" pitchFamily="34" charset="0"/>
              <a:buChar char="–"/>
            </a:pPr>
            <a:r>
              <a:rPr altLang="en-US" sz="2400" lang="zh-CN">
                <a:solidFill>
                  <a:srgbClr val="FF00FF"/>
                </a:solidFill>
                <a:ea typeface="Times New Roman" pitchFamily="18" charset="0"/>
              </a:rPr>
              <a:t>reticular dermis (the deeper 4/5</a:t>
            </a:r>
            <a:r>
              <a:rPr altLang="en-US" baseline="30000" sz="2400" lang="zh-CN">
                <a:solidFill>
                  <a:srgbClr val="FF00FF"/>
                </a:solidFill>
                <a:ea typeface="Times New Roman" pitchFamily="18" charset="0"/>
              </a:rPr>
              <a:t>th</a:t>
            </a:r>
            <a:r>
              <a:rPr altLang="en-US" sz="2400" lang="zh-CN">
                <a:solidFill>
                  <a:srgbClr val="FF00FF"/>
                </a:solidFill>
                <a:ea typeface="Times New Roman" pitchFamily="18" charset="0"/>
              </a:rPr>
              <a:t> of the dermis of skin), </a:t>
            </a:r>
            <a:endParaRPr sz="2000"/>
          </a:p>
          <a:p>
            <a:pPr eaLnBrk="1" hangingPunct="1" indent="-446087" lvl="3" marL="625475">
              <a:lnSpc>
                <a:spcPct val="120000"/>
              </a:lnSpc>
              <a:spcBef>
                <a:spcPct val="0"/>
              </a:spcBef>
              <a:buFont typeface="Calibri" pitchFamily="34" charset="0"/>
              <a:buChar char="–"/>
            </a:pPr>
            <a:r>
              <a:rPr altLang="en-US" sz="2400" lang="zh-CN">
                <a:ea typeface="Times New Roman" pitchFamily="18" charset="0"/>
              </a:rPr>
              <a:t>capsule of organs, trabecula of glands &amp; fibrous joints</a:t>
            </a:r>
            <a:endParaRPr sz="2000"/>
          </a:p>
          <a:p>
            <a:pPr eaLnBrk="1" hangingPunct="1" indent="-446087" lvl="3" marL="625475">
              <a:lnSpc>
                <a:spcPct val="120000"/>
              </a:lnSpc>
              <a:spcBef>
                <a:spcPct val="0"/>
              </a:spcBef>
              <a:buFont typeface="Calibri" pitchFamily="34" charset="0"/>
              <a:buChar char="–"/>
            </a:pPr>
            <a:r>
              <a:rPr altLang="en-US" b="1" sz="2400" lang="zh-CN">
                <a:solidFill>
                  <a:srgbClr val="FF3399"/>
                </a:solidFill>
                <a:ea typeface="Arial Unicode MS" pitchFamily="34" charset="-128"/>
              </a:rPr>
              <a:t>Corpus Albicans (L., white body): </a:t>
            </a:r>
            <a:r>
              <a:rPr altLang="en-US" sz="2400" lang="zh-CN">
                <a:solidFill>
                  <a:srgbClr val="FF3399"/>
                </a:solidFill>
                <a:ea typeface="Arial Unicode MS" pitchFamily="34" charset="-128"/>
              </a:rPr>
              <a:t>a scar of white dense fibrous connective tissue in ovary</a:t>
            </a:r>
            <a:endParaRPr sz="2000"/>
          </a:p>
          <a:p>
            <a:pPr eaLnBrk="1" hangingPunct="1" indent="-446087" lvl="3" marL="625475">
              <a:spcBef>
                <a:spcPct val="0"/>
              </a:spcBef>
              <a:buFont typeface="Calibri" pitchFamily="34" charset="0"/>
              <a:buChar char="–"/>
            </a:pPr>
            <a:r>
              <a:rPr altLang="en-US" sz="2400" lang="zh-CN">
                <a:solidFill>
                  <a:srgbClr val="9900FF"/>
                </a:solidFill>
                <a:ea typeface="Times New Roman" pitchFamily="18" charset="0"/>
              </a:rPr>
              <a:t>Sheaths around skeletal muscles (epimysium), nerves (epineurium) and CNS (dura &amp; arachnoid maters).</a:t>
            </a:r>
            <a:endParaRPr sz="2000"/>
          </a:p>
          <a:p>
            <a:pPr eaLnBrk="1" hangingPunct="1" indent="-457200" lvl="0" marL="457200">
              <a:lnSpc>
                <a:spcPct val="120000"/>
              </a:lnSpc>
              <a:spcBef>
                <a:spcPct val="0"/>
              </a:spcBef>
            </a:pPr>
            <a:endParaRPr altLang="en-US" lang="en-US"/>
          </a:p>
        </p:txBody>
      </p:sp>
    </p:spTree>
  </p:cSld>
  <p:clrMapOvr>
    <a:masterClrMapping/>
  </p:clrMapOvr>
  <p:transition spd="fast" advClick="1"/>
</p:sld>
</file>

<file path=ppt/slides/slide32.xml><?xml version="1.0" encoding="utf-8"?>
<p:sld xmlns:a="http://schemas.openxmlformats.org/drawingml/2006/main" xmlns:r="http://schemas.openxmlformats.org/officeDocument/2006/relationships" xmlns:p="http://schemas.openxmlformats.org/presentationml/2006/main" show="1" showMasterSp="1">
  <p:cSld>
    <p:spTree>
      <p:nvGrpSpPr>
        <p:cNvPr id="221" name=""/>
        <p:cNvGrpSpPr/>
        <p:nvPr/>
      </p:nvGrpSpPr>
      <p:grpSpPr>
        <a:xfrm rot="0">
          <a:off x="0" y="0"/>
          <a:ext cx="0" cy="0"/>
          <a:chOff x="0" y="0"/>
          <a:chExt cx="0" cy="0"/>
        </a:xfrm>
      </p:grpSpPr>
      <p:sp>
        <p:nvSpPr>
          <p:cNvPr id="1048815" name="Rectangle 2"/>
          <p:cNvSpPr/>
          <p:nvPr>
            <p:ph type="title" sz="full" idx="4294967295"/>
          </p:nvPr>
        </p:nvSpPr>
        <p:spPr>
          <a:xfrm rot="0">
            <a:off x="3886200" y="-315912"/>
            <a:ext cx="48768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lang="en-US">
                <a:solidFill>
                  <a:srgbClr val="FF0066"/>
                </a:solidFill>
              </a:rPr>
              <a:t>Dense Irregular CT</a:t>
            </a:r>
          </a:p>
        </p:txBody>
      </p:sp>
      <p:sp>
        <p:nvSpPr>
          <p:cNvPr id="1048816" name="Rectangle 3"/>
          <p:cNvSpPr/>
          <p:nvPr>
            <p:ph type="body" sz="half" idx="4294967295"/>
          </p:nvPr>
        </p:nvSpPr>
        <p:spPr>
          <a:xfrm rot="0">
            <a:off x="0" y="0"/>
            <a:ext cx="3352800" cy="6629400"/>
          </a:xfrm>
          <a:prstGeom prst="rect"/>
          <a:noFill/>
          <a:ln>
            <a:noFill/>
          </a:ln>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lvl="0">
              <a:spcBef>
                <a:spcPts val="600"/>
              </a:spcBef>
              <a:buFont typeface="Wingdings 2" pitchFamily="18" charset="2"/>
              <a:buNone/>
            </a:pPr>
            <a:r>
              <a:rPr altLang="en-US" b="1" sz="3600" lang="en-US">
                <a:solidFill>
                  <a:srgbClr val="FF00FF"/>
                </a:solidFill>
              </a:rPr>
              <a:t>Locations:</a:t>
            </a:r>
          </a:p>
          <a:p>
            <a:pPr eaLnBrk="1" hangingPunct="1" indent="-350837" lvl="1" marL="350837">
              <a:spcBef>
                <a:spcPts val="600"/>
              </a:spcBef>
            </a:pPr>
            <a:r>
              <a:rPr altLang="en-US" b="1" sz="2800" lang="en-US">
                <a:solidFill>
                  <a:srgbClr val="0070C0"/>
                </a:solidFill>
              </a:rPr>
              <a:t>Deeper portion of dermis of skin.</a:t>
            </a:r>
          </a:p>
          <a:p>
            <a:pPr eaLnBrk="1" hangingPunct="1" indent="-350837" lvl="1" marL="350837">
              <a:spcBef>
                <a:spcPts val="600"/>
              </a:spcBef>
            </a:pPr>
            <a:r>
              <a:rPr altLang="en-US" b="1" sz="2800" lang="en-US">
                <a:solidFill>
                  <a:srgbClr val="0070C0"/>
                </a:solidFill>
              </a:rPr>
              <a:t>Capsules around some organs such as testes, lymph nodes, ganglia, sensory receptors, and trabeculae of some organs like spleen lymph node and glands.</a:t>
            </a:r>
          </a:p>
          <a:p>
            <a:pPr eaLnBrk="1" hangingPunct="1" indent="-350837" lvl="1" marL="350837">
              <a:spcBef>
                <a:spcPts val="600"/>
              </a:spcBef>
            </a:pPr>
            <a:r>
              <a:rPr altLang="en-US" b="1" sz="2800" lang="en-US">
                <a:solidFill>
                  <a:srgbClr val="0070C0"/>
                </a:solidFill>
              </a:rPr>
              <a:t>Stroma of some glands like inactive mammary gland</a:t>
            </a:r>
          </a:p>
        </p:txBody>
      </p:sp>
      <p:pic>
        <p:nvPicPr>
          <p:cNvPr id="2097194" name="Picture 7" descr="43_08"/>
          <p:cNvPicPr>
            <a:picLocks/>
          </p:cNvPicPr>
          <p:nvPr/>
        </p:nvPicPr>
        <p:blipFill>
          <a:blip xmlns:r="http://schemas.openxmlformats.org/officeDocument/2006/relationships" r:embed="rId1"/>
          <a:srcRect l="5417" t="12740" r="13333" b="0"/>
          <a:stretch>
            <a:fillRect/>
          </a:stretch>
        </p:blipFill>
        <p:spPr>
          <a:xfrm rot="0">
            <a:off x="3429000" y="620712"/>
            <a:ext cx="5715000" cy="6237287"/>
          </a:xfrm>
          <a:prstGeom prst="rect"/>
          <a:noFill/>
          <a:ln>
            <a:noFill/>
          </a:ln>
        </p:spPr>
      </p:pic>
    </p:spTree>
  </p:cSld>
  <p:clrMapOvr>
    <a:masterClrMapping/>
  </p:clrMapOvr>
  <p:transition spd="fast" advClick="1"/>
</p:sld>
</file>

<file path=ppt/slides/slide33.xml><?xml version="1.0" encoding="utf-8"?>
<p:sld xmlns:a="http://schemas.openxmlformats.org/drawingml/2006/main" xmlns:r="http://schemas.openxmlformats.org/officeDocument/2006/relationships" xmlns:p="http://schemas.openxmlformats.org/presentationml/2006/main" show="1" showMasterSp="1">
  <p:cSld>
    <p:spTree>
      <p:nvGrpSpPr>
        <p:cNvPr id="222" name=""/>
        <p:cNvGrpSpPr/>
        <p:nvPr/>
      </p:nvGrpSpPr>
      <p:grpSpPr>
        <a:xfrm rot="0">
          <a:off x="0" y="0"/>
          <a:ext cx="0" cy="0"/>
          <a:chOff x="0" y="0"/>
          <a:chExt cx="0" cy="0"/>
        </a:xfrm>
      </p:grpSpPr>
      <p:pic>
        <p:nvPicPr>
          <p:cNvPr id="2097195" name="Picture 2" descr="C:\Users\user\Desktop\Future WinJoe\8. Integumentary\14.JPG"/>
          <p:cNvPicPr>
            <a:picLocks/>
          </p:cNvPicPr>
          <p:nvPr>
            <p:ph sz="full" idx="1"/>
          </p:nvPr>
        </p:nvPicPr>
        <p:blipFill>
          <a:blip xmlns:r="http://schemas.openxmlformats.org/officeDocument/2006/relationships" r:embed="rId1"/>
          <a:srcRect l="0" t="0" r="0" b="0"/>
          <a:stretch>
            <a:fillRect/>
          </a:stretch>
        </p:blipFill>
        <p:spPr>
          <a:xfrm rot="0">
            <a:off x="685800" y="762000"/>
            <a:ext cx="7848600" cy="5886450"/>
          </a:xfrm>
          <a:prstGeom prst="rect"/>
          <a:noFill/>
          <a:ln>
            <a:noFill/>
          </a:ln>
        </p:spPr>
      </p:pic>
      <p:sp>
        <p:nvSpPr>
          <p:cNvPr id="1048817" name="Title 1"/>
          <p:cNvSpPr/>
          <p:nvPr>
            <p:ph type="title" sz="full" idx="0"/>
          </p:nvPr>
        </p:nvSpPr>
        <p:spPr>
          <a:xfrm rot="0">
            <a:off x="228600" y="0"/>
            <a:ext cx="8686800" cy="533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200" lang="en-US">
                <a:solidFill>
                  <a:srgbClr val="FF0066"/>
                </a:solidFill>
              </a:rPr>
              <a:t>Dense Irregular CT of the lower dermis</a:t>
            </a:r>
          </a:p>
        </p:txBody>
      </p:sp>
    </p:spTree>
  </p:cSld>
  <p:clrMapOvr>
    <a:masterClrMapping/>
  </p:clrMapOvr>
  <p:transition spd="fast" advClick="1"/>
</p:sld>
</file>

<file path=ppt/slides/slide34.xml><?xml version="1.0" encoding="utf-8"?>
<p:sld xmlns:a="http://schemas.openxmlformats.org/drawingml/2006/main" xmlns:r="http://schemas.openxmlformats.org/officeDocument/2006/relationships" xmlns:p="http://schemas.openxmlformats.org/presentationml/2006/main" show="1" showMasterSp="1">
  <p:cSld>
    <p:spTree>
      <p:nvGrpSpPr>
        <p:cNvPr id="223" name=""/>
        <p:cNvGrpSpPr/>
        <p:nvPr/>
      </p:nvGrpSpPr>
      <p:grpSpPr>
        <a:xfrm rot="0">
          <a:off x="0" y="0"/>
          <a:ext cx="0" cy="0"/>
          <a:chOff x="0" y="0"/>
          <a:chExt cx="0" cy="0"/>
        </a:xfrm>
      </p:grpSpPr>
      <p:pic>
        <p:nvPicPr>
          <p:cNvPr id="2097196" name="Picture 2" descr="C:\Users\user\Desktop\Future WinJoe\10. Digestive system\Acessory glands of GS\06.jpg"/>
          <p:cNvPicPr>
            <a:picLocks/>
          </p:cNvPicPr>
          <p:nvPr>
            <p:ph sz="full" idx="1"/>
          </p:nvPr>
        </p:nvPicPr>
        <p:blipFill>
          <a:blip xmlns:r="http://schemas.openxmlformats.org/officeDocument/2006/relationships" r:embed="rId1"/>
          <a:srcRect l="0" t="0" r="0" b="0"/>
          <a:stretch>
            <a:fillRect/>
          </a:stretch>
        </p:blipFill>
        <p:spPr>
          <a:xfrm rot="0">
            <a:off x="385762" y="457200"/>
            <a:ext cx="8377237" cy="6283325"/>
          </a:xfrm>
          <a:prstGeom prst="rect"/>
          <a:noFill/>
          <a:ln>
            <a:noFill/>
          </a:ln>
        </p:spPr>
      </p:pic>
      <p:sp>
        <p:nvSpPr>
          <p:cNvPr id="1048818" name="Title 1"/>
          <p:cNvSpPr/>
          <p:nvPr>
            <p:ph type="title" sz="full" idx="0"/>
          </p:nvPr>
        </p:nvSpPr>
        <p:spPr>
          <a:xfrm rot="0">
            <a:off x="0" y="-152400"/>
            <a:ext cx="9144000" cy="762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lvl="0"/>
            <a:r>
              <a:rPr altLang="en-US" b="1" sz="2800" lang="en-US">
                <a:solidFill>
                  <a:srgbClr val="FF0066"/>
                </a:solidFill>
              </a:rPr>
              <a:t>Dense Irregular CT trabecula of submandibular gland</a:t>
            </a:r>
          </a:p>
        </p:txBody>
      </p:sp>
    </p:spTree>
  </p:cSld>
  <p:clrMapOvr>
    <a:masterClrMapping/>
  </p:clrMapOvr>
  <p:transition spd="fast" advClick="1"/>
</p:sld>
</file>

<file path=ppt/slides/slide35.xml><?xml version="1.0" encoding="utf-8"?>
<p:sld xmlns:a="http://schemas.openxmlformats.org/drawingml/2006/main" xmlns:r="http://schemas.openxmlformats.org/officeDocument/2006/relationships" xmlns:p="http://schemas.openxmlformats.org/presentationml/2006/main" show="1" showMasterSp="1">
  <p:cSld>
    <p:spTree>
      <p:nvGrpSpPr>
        <p:cNvPr id="224" name=""/>
        <p:cNvGrpSpPr/>
        <p:nvPr/>
      </p:nvGrpSpPr>
      <p:grpSpPr>
        <a:xfrm rot="0">
          <a:off x="0" y="0"/>
          <a:ext cx="0" cy="0"/>
          <a:chOff x="0" y="0"/>
          <a:chExt cx="0" cy="0"/>
        </a:xfrm>
      </p:grpSpPr>
      <p:sp>
        <p:nvSpPr>
          <p:cNvPr id="1048819" name="Title 1"/>
          <p:cNvSpPr/>
          <p:nvPr>
            <p:ph type="title" sz="full" idx="0"/>
          </p:nvPr>
        </p:nvSpPr>
        <p:spPr>
          <a:xfrm rot="0">
            <a:off x="0" y="152400"/>
            <a:ext cx="9144000" cy="64738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lvl="0"/>
            <a:r>
              <a:rPr altLang="en-US" b="1" sz="4000" lang="en-US">
                <a:solidFill>
                  <a:srgbClr val="FF0066"/>
                </a:solidFill>
              </a:rPr>
              <a:t>Dense Irregular CT of mediastinum testis</a:t>
            </a:r>
          </a:p>
        </p:txBody>
      </p:sp>
      <p:pic>
        <p:nvPicPr>
          <p:cNvPr id="2097197" name="Picture 2"/>
          <p:cNvPicPr>
            <a:picLocks/>
          </p:cNvPicPr>
          <p:nvPr>
            <p:ph sz="full" idx="1"/>
          </p:nvPr>
        </p:nvPicPr>
        <p:blipFill>
          <a:blip xmlns:r="http://schemas.openxmlformats.org/officeDocument/2006/relationships" r:embed="rId1"/>
          <a:srcRect l="0" t="0" r="0" b="0"/>
          <a:stretch>
            <a:fillRect/>
          </a:stretch>
        </p:blipFill>
        <p:spPr>
          <a:xfrm rot="0">
            <a:off x="408530" y="1053694"/>
            <a:ext cx="8543572" cy="5648642"/>
          </a:xfrm>
          <a:prstGeom prst="rect"/>
          <a:noFill/>
          <a:ln>
            <a:noFill/>
          </a:ln>
        </p:spPr>
      </p:pic>
    </p:spTree>
  </p:cSld>
  <p:clrMapOvr>
    <a:masterClrMapping/>
  </p:clrMapOvr>
  <p:transition spd="fast" advClick="1"/>
</p:sld>
</file>

<file path=ppt/slides/slide36.xml><?xml version="1.0" encoding="utf-8"?>
<p:sld xmlns:a="http://schemas.openxmlformats.org/drawingml/2006/main" xmlns:r="http://schemas.openxmlformats.org/officeDocument/2006/relationships" xmlns:p="http://schemas.openxmlformats.org/presentationml/2006/main" show="1" showMasterSp="1">
  <p:cSld>
    <p:spTree>
      <p:nvGrpSpPr>
        <p:cNvPr id="225" name=""/>
        <p:cNvGrpSpPr/>
        <p:nvPr/>
      </p:nvGrpSpPr>
      <p:grpSpPr>
        <a:xfrm rot="0">
          <a:off x="0" y="0"/>
          <a:ext cx="0" cy="0"/>
          <a:chOff x="0" y="0"/>
          <a:chExt cx="0" cy="0"/>
        </a:xfrm>
      </p:grpSpPr>
      <p:pic>
        <p:nvPicPr>
          <p:cNvPr id="2097198" name="Picture 2"/>
          <p:cNvPicPr>
            <a:picLocks/>
          </p:cNvPicPr>
          <p:nvPr/>
        </p:nvPicPr>
        <p:blipFill>
          <a:blip xmlns:r="http://schemas.openxmlformats.org/officeDocument/2006/relationships" r:embed="rId1"/>
          <a:srcRect l="0" t="0" r="0" b="0"/>
          <a:stretch>
            <a:fillRect/>
          </a:stretch>
        </p:blipFill>
        <p:spPr>
          <a:xfrm rot="0">
            <a:off x="130175" y="609600"/>
            <a:ext cx="8769350" cy="6172200"/>
          </a:xfrm>
          <a:prstGeom prst="rect"/>
          <a:noFill/>
          <a:ln>
            <a:noFill/>
          </a:ln>
        </p:spPr>
      </p:pic>
      <p:sp>
        <p:nvSpPr>
          <p:cNvPr id="1048820" name="Rectangle 2"/>
          <p:cNvSpPr/>
          <p:nvPr/>
        </p:nvSpPr>
        <p:spPr>
          <a:xfrm rot="0">
            <a:off x="2209800" y="0"/>
            <a:ext cx="5029200"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 typeface="Arial" pitchFamily="0" charset="0"/>
              <a:buChar char="•"/>
              <a:defRPr baseline="0" b="0" sz="3200" i="0" u="none">
                <a:solidFill>
                  <a:schemeClr val="dk1"/>
                </a:solidFill>
                <a:latin typeface="Calibri" pitchFamily="34"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 typeface="Arial" pitchFamily="0" charset="0"/>
              <a:buChar char="–"/>
              <a:defRPr baseline="0" b="0" sz="2800" i="0" u="none">
                <a:solidFill>
                  <a:schemeClr val="dk1"/>
                </a:solidFill>
                <a:latin typeface="Calibri" pitchFamily="34"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 typeface="Arial" pitchFamily="0" charset="0"/>
              <a:buChar char="•"/>
              <a:defRPr baseline="0" b="0" sz="2400" i="0" u="none">
                <a:solidFill>
                  <a:schemeClr val="dk1"/>
                </a:solidFill>
                <a:latin typeface="Calibri" pitchFamily="34"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 typeface="Arial" pitchFamily="0" charset="0"/>
              <a:buChar char="»"/>
              <a:defRPr baseline="0" b="0" sz="2000" i="0" u="none">
                <a:solidFill>
                  <a:schemeClr val="dk1"/>
                </a:solidFill>
                <a:latin typeface="Calibri" pitchFamily="34" charset="0"/>
                <a:sym typeface="Arial" pitchFamily="0" charset="0"/>
              </a:defRPr>
            </a:lvl5pPr>
          </a:lstStyle>
          <a:p>
            <a:pPr eaLnBrk="1" hangingPunct="1" indent="0" lvl="0" marL="0">
              <a:spcBef>
                <a:spcPct val="0"/>
              </a:spcBef>
              <a:buFontTx/>
              <a:buNone/>
            </a:pPr>
            <a:r>
              <a:rPr altLang="en-US" b="1" sz="3600" lang="en-US">
                <a:solidFill>
                  <a:srgbClr val="0070C0"/>
                </a:solidFill>
                <a:ea typeface="Arial Unicode MS" pitchFamily="34" charset="-128"/>
              </a:rPr>
              <a:t>Corpus Albican (CA) </a:t>
            </a:r>
          </a:p>
        </p:txBody>
      </p:sp>
    </p:spTree>
  </p:cSld>
  <p:clrMapOvr>
    <a:masterClrMapping/>
  </p:clrMapOvr>
  <p:transition spd="fast" advClick="1"/>
</p:sld>
</file>

<file path=ppt/slides/slide37.xml><?xml version="1.0" encoding="utf-8"?>
<p:sld xmlns:a="http://schemas.openxmlformats.org/drawingml/2006/main" xmlns:r="http://schemas.openxmlformats.org/officeDocument/2006/relationships" xmlns:p="http://schemas.openxmlformats.org/presentationml/2006/main" show="1" showMasterSp="1">
  <p:cSld>
    <p:spTree>
      <p:nvGrpSpPr>
        <p:cNvPr id="226" name=""/>
        <p:cNvGrpSpPr/>
        <p:nvPr/>
      </p:nvGrpSpPr>
      <p:grpSpPr>
        <a:xfrm rot="0">
          <a:off x="0" y="0"/>
          <a:ext cx="0" cy="0"/>
          <a:chOff x="0" y="0"/>
          <a:chExt cx="0" cy="0"/>
        </a:xfrm>
      </p:grpSpPr>
      <p:sp>
        <p:nvSpPr>
          <p:cNvPr id="1048821" name="Rectangle 2"/>
          <p:cNvSpPr/>
          <p:nvPr>
            <p:ph type="title" sz="full" idx="0"/>
          </p:nvPr>
        </p:nvSpPr>
        <p:spPr>
          <a:xfrm rot="0">
            <a:off x="228600" y="0"/>
            <a:ext cx="8686800" cy="5334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3200" lang="en-US">
                <a:solidFill>
                  <a:srgbClr val="FF0066"/>
                </a:solidFill>
              </a:rPr>
              <a:t>Elastic C T in the wall of large artery (Aorta)</a:t>
            </a:r>
          </a:p>
        </p:txBody>
      </p:sp>
      <p:pic>
        <p:nvPicPr>
          <p:cNvPr id="2097199" name="Picture 4" descr="F11_04"/>
          <p:cNvPicPr>
            <a:picLocks/>
          </p:cNvPicPr>
          <p:nvPr/>
        </p:nvPicPr>
        <p:blipFill>
          <a:blip xmlns:r="http://schemas.openxmlformats.org/officeDocument/2006/relationships" r:embed="rId1"/>
          <a:srcRect l="0" t="0" r="0" b="0"/>
          <a:stretch>
            <a:fillRect/>
          </a:stretch>
        </p:blipFill>
        <p:spPr>
          <a:xfrm rot="0">
            <a:off x="76200" y="609600"/>
            <a:ext cx="8991600" cy="6019800"/>
          </a:xfrm>
          <a:prstGeom prst="rect"/>
          <a:noFill/>
          <a:ln>
            <a:noFill/>
          </a:ln>
        </p:spPr>
      </p:pic>
    </p:spTree>
  </p:cSld>
  <p:clrMapOvr>
    <a:masterClrMapping/>
  </p:clrMapOvr>
  <p:transition spd="fast" advClick="1"/>
</p:sld>
</file>

<file path=ppt/slides/slide38.xml><?xml version="1.0" encoding="utf-8"?>
<p:sld xmlns:a="http://schemas.openxmlformats.org/drawingml/2006/main" xmlns:r="http://schemas.openxmlformats.org/officeDocument/2006/relationships" xmlns:p="http://schemas.openxmlformats.org/presentationml/2006/main" show="1" showMasterSp="1">
  <p:cSld>
    <p:spTree>
      <p:nvGrpSpPr>
        <p:cNvPr id="227" name=""/>
        <p:cNvGrpSpPr/>
        <p:nvPr/>
      </p:nvGrpSpPr>
      <p:grpSpPr>
        <a:xfrm rot="0">
          <a:off x="0" y="0"/>
          <a:ext cx="0" cy="0"/>
          <a:chOff x="0" y="0"/>
          <a:chExt cx="0" cy="0"/>
        </a:xfrm>
      </p:grpSpPr>
      <p:sp>
        <p:nvSpPr>
          <p:cNvPr id="1048822" name="Title 1"/>
          <p:cNvSpPr/>
          <p:nvPr>
            <p:ph type="title" sz="full" idx="0"/>
          </p:nvPr>
        </p:nvSpPr>
        <p:spPr>
          <a:xfrm rot="0">
            <a:off x="304800" y="0"/>
            <a:ext cx="8534400" cy="609600"/>
          </a:xfrm>
          <a:prstGeom prst="rect"/>
          <a:noFill/>
          <a:ln w="9525" cap="flat" cmpd="sng">
            <a:solidFill>
              <a:schemeClr val="lt1">
                <a:alpha val="100000"/>
              </a:schemeClr>
            </a:solidFill>
            <a:prstDash val="solid"/>
            <a:miter/>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algn="l" eaLnBrk="1" hangingPunct="1" lvl="0"/>
            <a:r>
              <a:rPr altLang="en-US" b="1" sz="2800" lang="en-US">
                <a:solidFill>
                  <a:srgbClr val="FF00FF"/>
                </a:solidFill>
              </a:rPr>
              <a:t>CONNECTIVE TISSUES WITH SPECIAL PROPERTIES</a:t>
            </a:r>
          </a:p>
        </p:txBody>
      </p:sp>
      <p:pic>
        <p:nvPicPr>
          <p:cNvPr id="2097200" name="Picture 4"/>
          <p:cNvPicPr>
            <a:picLocks/>
          </p:cNvPicPr>
          <p:nvPr>
            <p:ph sz="half" idx="2"/>
          </p:nvPr>
        </p:nvPicPr>
        <p:blipFill>
          <a:blip xmlns:r="http://schemas.openxmlformats.org/officeDocument/2006/relationships" r:embed="rId1"/>
          <a:srcRect l="0" t="0" r="0" b="0"/>
          <a:stretch>
            <a:fillRect/>
          </a:stretch>
        </p:blipFill>
        <p:spPr>
          <a:xfrm rot="0">
            <a:off x="76200" y="3352800"/>
            <a:ext cx="4343400" cy="3505200"/>
          </a:xfrm>
          <a:prstGeom prst="rect"/>
          <a:noFill/>
          <a:ln>
            <a:noFill/>
          </a:ln>
        </p:spPr>
      </p:pic>
      <p:pic>
        <p:nvPicPr>
          <p:cNvPr id="2097201" name="Picture 4" descr="bon2_s"/>
          <p:cNvPicPr>
            <a:picLocks/>
          </p:cNvPicPr>
          <p:nvPr/>
        </p:nvPicPr>
        <p:blipFill>
          <a:blip xmlns:r="http://schemas.openxmlformats.org/officeDocument/2006/relationships" r:embed="rId2"/>
          <a:srcRect l="0" t="0" r="0" b="0"/>
          <a:stretch>
            <a:fillRect/>
          </a:stretch>
        </p:blipFill>
        <p:spPr>
          <a:xfrm rot="0">
            <a:off x="4495800" y="685800"/>
            <a:ext cx="4343400" cy="2743200"/>
          </a:xfrm>
          <a:prstGeom prst="rect"/>
          <a:solidFill>
            <a:schemeClr val="lt1"/>
          </a:solidFill>
          <a:ln>
            <a:noFill/>
          </a:ln>
        </p:spPr>
      </p:pic>
      <p:sp>
        <p:nvSpPr>
          <p:cNvPr id="1048823" name="Content Placeholder 5"/>
          <p:cNvSpPr/>
          <p:nvPr>
            <p:ph sz="half" idx="1"/>
          </p:nvPr>
        </p:nvSpPr>
        <p:spPr>
          <a:xfrm rot="0">
            <a:off x="0" y="762000"/>
            <a:ext cx="4038600" cy="5364162"/>
          </a:xfrm>
          <a:prstGeom prst="rect"/>
          <a:noFill/>
          <a:ln>
            <a:noFill/>
          </a:ln>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indent="-514350" lvl="0" marL="514350">
              <a:buFont typeface="Calibri" pitchFamily="34" charset="0"/>
              <a:buAutoNum type="arabicPeriod" startAt="1"/>
            </a:pPr>
            <a:r>
              <a:rPr altLang="en-US" b="1" sz="4000" lang="en-US">
                <a:solidFill>
                  <a:srgbClr val="0070C0"/>
                </a:solidFill>
              </a:rPr>
              <a:t>BONE TISSUE </a:t>
            </a:r>
          </a:p>
          <a:p>
            <a:pPr indent="-514350" lvl="0" marL="514350">
              <a:buFont typeface="Calibri" pitchFamily="34" charset="0"/>
              <a:buAutoNum type="arabicPeriod" startAt="1"/>
            </a:pPr>
            <a:r>
              <a:rPr altLang="en-US" b="1" sz="4000" lang="en-US">
                <a:solidFill>
                  <a:srgbClr val="0070C0"/>
                </a:solidFill>
              </a:rPr>
              <a:t>BLOOD TISSUE</a:t>
            </a:r>
          </a:p>
          <a:p>
            <a:pPr indent="-514350" lvl="0" marL="514350">
              <a:buFont typeface="Calibri" pitchFamily="34" charset="0"/>
              <a:buAutoNum type="arabicPeriod" startAt="1"/>
            </a:pPr>
            <a:r>
              <a:rPr altLang="en-US" b="1" sz="4000" lang="en-US">
                <a:solidFill>
                  <a:srgbClr val="0070C0"/>
                </a:solidFill>
              </a:rPr>
              <a:t>CARTILAGE</a:t>
            </a:r>
          </a:p>
        </p:txBody>
      </p:sp>
      <p:pic>
        <p:nvPicPr>
          <p:cNvPr id="2097202" name="Picture 6" descr="baso-eosinophil"/>
          <p:cNvPicPr>
            <a:picLocks/>
          </p:cNvPicPr>
          <p:nvPr/>
        </p:nvPicPr>
        <p:blipFill>
          <a:blip xmlns:r="http://schemas.openxmlformats.org/officeDocument/2006/relationships" r:embed="rId3"/>
          <a:srcRect l="0" t="16299" r="0" b="15790"/>
          <a:stretch>
            <a:fillRect/>
          </a:stretch>
        </p:blipFill>
        <p:spPr>
          <a:xfrm rot="0">
            <a:off x="4495800" y="3505200"/>
            <a:ext cx="4343400" cy="3048000"/>
          </a:xfrm>
          <a:prstGeom prst="rect"/>
          <a:solidFill>
            <a:schemeClr val="lt1"/>
          </a:solidFill>
          <a:ln>
            <a:noFill/>
          </a:ln>
        </p:spPr>
      </p:pic>
    </p:spTree>
  </p:cSld>
  <p:clrMapOvr>
    <a:masterClrMapping/>
  </p:clrMapOvr>
  <p:transition spd="fast" advClick="1"/>
</p:sld>
</file>

<file path=ppt/slides/slide39.xml><?xml version="1.0" encoding="utf-8"?>
<p:sld xmlns:a="http://schemas.openxmlformats.org/drawingml/2006/main" xmlns:r="http://schemas.openxmlformats.org/officeDocument/2006/relationships" xmlns:p="http://schemas.openxmlformats.org/presentationml/2006/main" show="1" showMasterSp="1">
  <p:cSld>
    <p:spTree>
      <p:nvGrpSpPr>
        <p:cNvPr id="228" name=""/>
        <p:cNvGrpSpPr/>
        <p:nvPr/>
      </p:nvGrpSpPr>
      <p:grpSpPr>
        <a:xfrm rot="0">
          <a:off x="0" y="0"/>
          <a:ext cx="0" cy="0"/>
          <a:chOff x="0" y="0"/>
          <a:chExt cx="0" cy="0"/>
        </a:xfrm>
      </p:grpSpPr>
      <p:sp>
        <p:nvSpPr>
          <p:cNvPr id="1048824" name="Title 1"/>
          <p:cNvSpPr/>
          <p:nvPr>
            <p:ph type="title" sz="full" idx="0"/>
          </p:nvPr>
        </p:nvSpPr>
        <p:spPr>
          <a:xfrm rot="0">
            <a:off x="228600" y="0"/>
            <a:ext cx="4114800" cy="609600"/>
          </a:xfrm>
          <a:prstGeom prst="rect"/>
          <a:noFill/>
          <a:ln w="9525" cap="flat" cmpd="sng">
            <a:solidFill>
              <a:schemeClr val="lt1">
                <a:alpha val="100000"/>
              </a:schemeClr>
            </a:solidFill>
            <a:prstDash val="solid"/>
            <a:miter/>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r>
              <a:rPr altLang="en-US" b="1" sz="5400" lang="en-US">
                <a:solidFill>
                  <a:srgbClr val="FF0066"/>
                </a:solidFill>
              </a:rPr>
              <a:t>CARTILAGE</a:t>
            </a:r>
          </a:p>
        </p:txBody>
      </p:sp>
      <p:sp>
        <p:nvSpPr>
          <p:cNvPr id="1048825" name="Content Placeholder 2"/>
          <p:cNvSpPr/>
          <p:nvPr>
            <p:ph sz="half" idx="1"/>
          </p:nvPr>
        </p:nvSpPr>
        <p:spPr>
          <a:xfrm rot="0">
            <a:off x="0" y="685800"/>
            <a:ext cx="4724400" cy="6324600"/>
          </a:xfrm>
          <a:prstGeom prst="rect"/>
          <a:noFill/>
          <a:ln>
            <a:noFill/>
          </a:ln>
        </p:spPr>
        <p:txBody>
          <a:bodyPr anchor="t" bIns="45720" lIns="91440" rIns="91440" tIns="45720" vert="horz"/>
          <a:lstStyle>
            <a:lvl1pPr indent="-342900" marL="342900">
              <a:lnSpc>
                <a:spcPct val="100000"/>
              </a:lnSpc>
              <a:spcBef>
                <a:spcPct val="20000"/>
              </a:spcBef>
              <a:spcAft>
                <a:spcPct val="0"/>
              </a:spcAft>
              <a:buFont typeface="Arial" pitchFamily="0" charset="0"/>
              <a:buChar char="•"/>
              <a:defRPr sz="2800">
                <a:solidFill>
                  <a:schemeClr val="dk1"/>
                </a:solidFill>
              </a:defRPr>
            </a:lvl1pPr>
            <a:lvl2pPr indent="-285750" marL="742950">
              <a:lnSpc>
                <a:spcPct val="100000"/>
              </a:lnSpc>
              <a:spcBef>
                <a:spcPct val="20000"/>
              </a:spcBef>
              <a:spcAft>
                <a:spcPct val="0"/>
              </a:spcAft>
              <a:buFont typeface="Arial" pitchFamily="0" charset="0"/>
              <a:buChar char="–"/>
              <a:defRPr sz="2400">
                <a:solidFill>
                  <a:schemeClr val="dk1"/>
                </a:solidFill>
              </a:defRPr>
            </a:lvl2pPr>
            <a:lvl3pPr indent="-228600" marL="1143000">
              <a:lnSpc>
                <a:spcPct val="100000"/>
              </a:lnSpc>
              <a:spcBef>
                <a:spcPct val="20000"/>
              </a:spcBef>
              <a:spcAft>
                <a:spcPct val="0"/>
              </a:spcAft>
              <a:buFont typeface="Arial" pitchFamily="0" charset="0"/>
              <a:buChar char="•"/>
              <a:defRPr sz="2000">
                <a:solidFill>
                  <a:schemeClr val="dk1"/>
                </a:solidFill>
              </a:defRPr>
            </a:lvl3pPr>
            <a:lvl4pPr indent="-228600" marL="1600200">
              <a:lnSpc>
                <a:spcPct val="100000"/>
              </a:lnSpc>
              <a:spcBef>
                <a:spcPct val="20000"/>
              </a:spcBef>
              <a:spcAft>
                <a:spcPct val="0"/>
              </a:spcAft>
              <a:buFont typeface="Arial" pitchFamily="0" charset="0"/>
              <a:buChar char="–"/>
              <a:defRPr sz="1800">
                <a:solidFill>
                  <a:schemeClr val="dk1"/>
                </a:solidFill>
              </a:defRPr>
            </a:lvl4pPr>
            <a:lvl5pPr indent="-228600" marL="2057400">
              <a:lnSpc>
                <a:spcPct val="100000"/>
              </a:lnSpc>
              <a:spcBef>
                <a:spcPct val="20000"/>
              </a:spcBef>
              <a:spcAft>
                <a:spcPct val="0"/>
              </a:spcAft>
              <a:buFont typeface="Arial" pitchFamily="0" charset="0"/>
              <a:buChar char="»"/>
              <a:defRPr sz="1800">
                <a:solidFill>
                  <a:schemeClr val="dk1"/>
                </a:solidFill>
              </a:defRPr>
            </a:lvl5pPr>
          </a:lstStyle>
          <a:p>
            <a:pPr eaLnBrk="1" hangingPunct="1" indent="-347662" lvl="0" marL="347662">
              <a:spcBef>
                <a:spcPts val="600"/>
              </a:spcBef>
              <a:buSzPct val="98000"/>
              <a:buFont typeface="Calibri" pitchFamily="34" charset="0"/>
              <a:buChar char="–"/>
            </a:pPr>
            <a:r>
              <a:rPr altLang="en-US" sz="2600" lang="en-US">
                <a:solidFill>
                  <a:srgbClr val="FF00FF"/>
                </a:solidFill>
              </a:rPr>
              <a:t>belongs to the skeletal (supportive) tissues which provide flexible support to some organs. </a:t>
            </a:r>
          </a:p>
          <a:p>
            <a:pPr eaLnBrk="1" hangingPunct="1" indent="-347662" lvl="0" marL="347662">
              <a:spcBef>
                <a:spcPts val="600"/>
              </a:spcBef>
              <a:buFont typeface="Wingdings 2" pitchFamily="18" charset="2"/>
              <a:buNone/>
            </a:pPr>
            <a:r>
              <a:rPr altLang="en-US" b="1" sz="2600" lang="en-US"/>
              <a:t>Cartilage consists of:-</a:t>
            </a:r>
          </a:p>
          <a:p>
            <a:pPr eaLnBrk="1" hangingPunct="1" indent="-347662" lvl="0" marL="347662">
              <a:spcBef>
                <a:spcPts val="600"/>
              </a:spcBef>
              <a:buFont typeface="Wingdings 2" pitchFamily="18" charset="2"/>
              <a:buNone/>
            </a:pPr>
            <a:r>
              <a:rPr altLang="en-US" b="1" sz="2600" lang="en-US">
                <a:solidFill>
                  <a:srgbClr val="FF0000"/>
                </a:solidFill>
              </a:rPr>
              <a:t>1-</a:t>
            </a:r>
            <a:r>
              <a:rPr altLang="en-US" b="1" sz="2600" lang="en-US"/>
              <a:t> </a:t>
            </a:r>
            <a:r>
              <a:rPr altLang="en-US" b="1" sz="2600" lang="en-US">
                <a:solidFill>
                  <a:srgbClr val="FF0000"/>
                </a:solidFill>
              </a:rPr>
              <a:t>Cartilage</a:t>
            </a:r>
            <a:r>
              <a:rPr altLang="en-US" b="1" sz="2600" lang="en-US"/>
              <a:t> </a:t>
            </a:r>
            <a:r>
              <a:rPr altLang="en-US" b="1" sz="2600" lang="en-US">
                <a:solidFill>
                  <a:srgbClr val="FF0000"/>
                </a:solidFill>
              </a:rPr>
              <a:t>cells: </a:t>
            </a:r>
            <a:r>
              <a:rPr altLang="en-US" b="1" sz="2600" lang="en-US">
                <a:solidFill>
                  <a:srgbClr val="FF00FF"/>
                </a:solidFill>
              </a:rPr>
              <a:t>chondroblasts </a:t>
            </a:r>
            <a:r>
              <a:rPr altLang="en-US" sz="2600" lang="en-US">
                <a:solidFill>
                  <a:srgbClr val="FF00FF"/>
                </a:solidFill>
              </a:rPr>
              <a:t>and</a:t>
            </a:r>
            <a:r>
              <a:rPr altLang="en-US" b="1" sz="2600" lang="en-US">
                <a:solidFill>
                  <a:srgbClr val="FF00FF"/>
                </a:solidFill>
              </a:rPr>
              <a:t> chondrocytes</a:t>
            </a:r>
          </a:p>
          <a:p>
            <a:pPr eaLnBrk="1" hangingPunct="1" indent="-347662" lvl="0" marL="347662">
              <a:spcBef>
                <a:spcPts val="600"/>
              </a:spcBef>
              <a:buFont typeface="Calibri" pitchFamily="34" charset="0"/>
              <a:buChar char="–"/>
            </a:pPr>
            <a:r>
              <a:rPr altLang="en-US" b="1" sz="2600" lang="en-US">
                <a:solidFill>
                  <a:srgbClr val="9900FF"/>
                </a:solidFill>
              </a:rPr>
              <a:t>chondrocytes</a:t>
            </a:r>
            <a:r>
              <a:rPr altLang="en-US" b="1" sz="2200" lang="en-US">
                <a:solidFill>
                  <a:srgbClr val="9900FF"/>
                </a:solidFill>
              </a:rPr>
              <a:t> </a:t>
            </a:r>
            <a:r>
              <a:rPr altLang="en-US" sz="2600" lang="en-US">
                <a:solidFill>
                  <a:srgbClr val="9900FF"/>
                </a:solidFill>
              </a:rPr>
              <a:t>are</a:t>
            </a:r>
            <a:r>
              <a:rPr altLang="en-US" b="1" sz="2600" lang="en-US">
                <a:solidFill>
                  <a:srgbClr val="9900FF"/>
                </a:solidFill>
              </a:rPr>
              <a:t> </a:t>
            </a:r>
            <a:r>
              <a:rPr altLang="en-US" sz="2600" lang="en-US">
                <a:solidFill>
                  <a:srgbClr val="9900FF"/>
                </a:solidFill>
              </a:rPr>
              <a:t>located in </a:t>
            </a:r>
            <a:r>
              <a:rPr altLang="en-US" b="1" sz="2600" lang="en-US">
                <a:solidFill>
                  <a:srgbClr val="9900FF"/>
                </a:solidFill>
              </a:rPr>
              <a:t> lacunae</a:t>
            </a:r>
            <a:r>
              <a:rPr altLang="en-US" sz="2600" lang="en-US">
                <a:solidFill>
                  <a:srgbClr val="9900FF"/>
                </a:solidFill>
              </a:rPr>
              <a:t> surrounded by an intercellular cartilage matrix.</a:t>
            </a:r>
          </a:p>
          <a:p>
            <a:pPr eaLnBrk="1" hangingPunct="1" indent="-347662" lvl="0" marL="347662">
              <a:spcBef>
                <a:spcPts val="600"/>
              </a:spcBef>
              <a:buFont typeface="Calibri" pitchFamily="34" charset="0"/>
              <a:buAutoNum type="arabicPeriod" startAt="2"/>
            </a:pPr>
            <a:r>
              <a:rPr altLang="en-US" b="1" sz="2600" lang="en-US">
                <a:solidFill>
                  <a:srgbClr val="FF0000"/>
                </a:solidFill>
              </a:rPr>
              <a:t>Extracellular matrix: </a:t>
            </a:r>
          </a:p>
          <a:p>
            <a:pPr eaLnBrk="1" hangingPunct="1" indent="-457200" lvl="1" marL="857250">
              <a:spcBef>
                <a:spcPts val="600"/>
              </a:spcBef>
              <a:buFont typeface="Calibri" pitchFamily="34" charset="0"/>
              <a:buAutoNum type="alphaLcParenR" startAt="1"/>
            </a:pPr>
            <a:r>
              <a:rPr altLang="en-US" b="1" sz="2200" lang="en-US">
                <a:solidFill>
                  <a:srgbClr val="FF0000"/>
                </a:solidFill>
              </a:rPr>
              <a:t>Collagenous and elastic fibers</a:t>
            </a:r>
          </a:p>
          <a:p>
            <a:pPr eaLnBrk="1" hangingPunct="1" indent="-457200" lvl="1" marL="857250">
              <a:spcBef>
                <a:spcPts val="600"/>
              </a:spcBef>
              <a:buFont typeface="Calibri" pitchFamily="34" charset="0"/>
              <a:buAutoNum type="alphaLcParenR" startAt="1"/>
            </a:pPr>
            <a:r>
              <a:rPr altLang="en-US" b="1" sz="2200" lang="en-US">
                <a:solidFill>
                  <a:srgbClr val="FF0000"/>
                </a:solidFill>
              </a:rPr>
              <a:t>Ground substance: </a:t>
            </a:r>
            <a:r>
              <a:rPr altLang="en-US" b="1" sz="2200" lang="en-US">
                <a:solidFill>
                  <a:srgbClr val="0070C0"/>
                </a:solidFill>
              </a:rPr>
              <a:t>enriched with glycosaminoglycans and proteoglycan aggregates.</a:t>
            </a:r>
          </a:p>
          <a:p>
            <a:pPr eaLnBrk="1" hangingPunct="1" indent="-347662" lvl="0" marL="347662">
              <a:spcBef>
                <a:spcPts val="600"/>
              </a:spcBef>
              <a:buFont typeface="Wingdings 2" pitchFamily="18" charset="2"/>
              <a:buNone/>
            </a:pPr>
            <a:endParaRPr altLang="en-US" b="1" sz="2600" lang="en-US"/>
          </a:p>
          <a:p>
            <a:pPr eaLnBrk="1" hangingPunct="1" indent="-347662" lvl="0" marL="347662">
              <a:spcBef>
                <a:spcPts val="600"/>
              </a:spcBef>
              <a:buFont typeface="Wingdings 2" pitchFamily="18" charset="2"/>
              <a:buNone/>
            </a:pPr>
            <a:endParaRPr altLang="en-US" sz="3000" lang="en-US">
              <a:solidFill>
                <a:srgbClr val="9900FF"/>
              </a:solidFill>
            </a:endParaRPr>
          </a:p>
        </p:txBody>
      </p:sp>
      <p:pic>
        <p:nvPicPr>
          <p:cNvPr id="2097203" name="Picture 4"/>
          <p:cNvPicPr>
            <a:picLocks/>
          </p:cNvPicPr>
          <p:nvPr>
            <p:ph sz="half" idx="2"/>
          </p:nvPr>
        </p:nvPicPr>
        <p:blipFill>
          <a:blip xmlns:r="http://schemas.openxmlformats.org/officeDocument/2006/relationships" r:embed="rId1"/>
          <a:srcRect l="0" t="0" r="0" b="0"/>
          <a:stretch>
            <a:fillRect/>
          </a:stretch>
        </p:blipFill>
        <p:spPr>
          <a:xfrm rot="0">
            <a:off x="4191000" y="990600"/>
            <a:ext cx="5715000" cy="5454650"/>
          </a:xfrm>
          <a:prstGeom prst="rect"/>
          <a:noFill/>
          <a:ln>
            <a:noFill/>
          </a:ln>
        </p:spPr>
      </p:pic>
    </p:spTree>
  </p:cSld>
  <p:clrMapOvr>
    <a:masterClrMapping/>
  </p:clrMapOvr>
  <p:transition spd="fast" advClick="1"/>
</p:sld>
</file>

<file path=ppt/slides/slide40.xml><?xml version="1.0" encoding="utf-8"?>
<p:sld xmlns:a="http://schemas.openxmlformats.org/drawingml/2006/main" xmlns:r="http://schemas.openxmlformats.org/officeDocument/2006/relationships" xmlns:p="http://schemas.openxmlformats.org/presentationml/2006/main" show="1" showMasterSp="1">
  <p:cSld>
    <p:spTree>
      <p:nvGrpSpPr>
        <p:cNvPr id="229" name=""/>
        <p:cNvGrpSpPr/>
        <p:nvPr/>
      </p:nvGrpSpPr>
      <p:grpSpPr>
        <a:xfrm rot="0">
          <a:off x="0" y="0"/>
          <a:ext cx="0" cy="0"/>
          <a:chOff x="0" y="0"/>
          <a:chExt cx="0" cy="0"/>
        </a:xfrm>
      </p:grpSpPr>
      <p:sp>
        <p:nvSpPr>
          <p:cNvPr id="1048826" name="Rectangle 2"/>
          <p:cNvSpPr/>
          <p:nvPr/>
        </p:nvSpPr>
        <p:spPr>
          <a:xfrm rot="0">
            <a:off x="0" y="0"/>
            <a:ext cx="9144000" cy="7330439"/>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lvl="0"/>
            <a:r>
              <a:rPr altLang="en-US" b="1" sz="2800" lang="en-US">
                <a:latin typeface="Calibri" pitchFamily="34" charset="0"/>
              </a:rPr>
              <a:t>       </a:t>
            </a:r>
            <a:r>
              <a:rPr altLang="en-US" b="1" sz="3600" lang="en-US">
                <a:solidFill>
                  <a:srgbClr val="FF0000"/>
                </a:solidFill>
                <a:latin typeface="Calibri" pitchFamily="34" charset="0"/>
              </a:rPr>
              <a:t>Characteristics of Cartilage</a:t>
            </a:r>
          </a:p>
          <a:p>
            <a:pPr eaLnBrk="1" hangingPunct="1" lvl="0">
              <a:buFont typeface="Calibri" pitchFamily="34" charset="0"/>
              <a:buAutoNum type="arabicPeriod" startAt="1"/>
            </a:pPr>
            <a:r>
              <a:rPr altLang="en-US" sz="2800" lang="en-US">
                <a:solidFill>
                  <a:srgbClr val="7030A0"/>
                </a:solidFill>
                <a:latin typeface="Calibri" pitchFamily="34" charset="0"/>
              </a:rPr>
              <a:t>Cartilage is avascular (has no blood supply) so, healing is poor or slow after injury.</a:t>
            </a:r>
          </a:p>
          <a:p>
            <a:pPr eaLnBrk="1" hangingPunct="1" lvl="0">
              <a:buFont typeface="Calibri" pitchFamily="34" charset="0"/>
              <a:buAutoNum type="arabicPeriod" startAt="1"/>
            </a:pPr>
            <a:r>
              <a:rPr altLang="en-US" sz="2800" lang="en-US">
                <a:solidFill>
                  <a:srgbClr val="FF00FF"/>
                </a:solidFill>
                <a:latin typeface="Calibri" pitchFamily="34" charset="0"/>
              </a:rPr>
              <a:t>It has no lymphatic vessels or nerves either. </a:t>
            </a:r>
          </a:p>
          <a:p>
            <a:pPr eaLnBrk="1" hangingPunct="1" lvl="0">
              <a:buFont typeface="Calibri" pitchFamily="34" charset="0"/>
              <a:buAutoNum type="arabicPeriod" startAt="1"/>
            </a:pPr>
            <a:r>
              <a:rPr altLang="en-US" b="1" sz="2800" lang="en-US">
                <a:solidFill>
                  <a:srgbClr val="FF0066"/>
                </a:solidFill>
                <a:latin typeface="Calibri" pitchFamily="34" charset="0"/>
              </a:rPr>
              <a:t>Chondroblasts</a:t>
            </a:r>
            <a:r>
              <a:rPr altLang="en-US" sz="2800" lang="en-US">
                <a:solidFill>
                  <a:srgbClr val="984807"/>
                </a:solidFill>
                <a:latin typeface="Calibri" pitchFamily="34" charset="0"/>
              </a:rPr>
              <a:t> and </a:t>
            </a:r>
            <a:r>
              <a:rPr altLang="en-US" b="1" sz="2800" lang="en-US">
                <a:solidFill>
                  <a:srgbClr val="FF0066"/>
                </a:solidFill>
                <a:latin typeface="Calibri" pitchFamily="34" charset="0"/>
              </a:rPr>
              <a:t>chondrocytes</a:t>
            </a:r>
            <a:r>
              <a:rPr altLang="en-US" sz="2800" lang="en-US">
                <a:solidFill>
                  <a:srgbClr val="984807"/>
                </a:solidFill>
                <a:latin typeface="Calibri" pitchFamily="34" charset="0"/>
              </a:rPr>
              <a:t> synthesize and secrete the cartilage matrix.</a:t>
            </a:r>
          </a:p>
          <a:p>
            <a:pPr eaLnBrk="1" hangingPunct="1" lvl="0">
              <a:buFont typeface="Calibri" pitchFamily="34" charset="0"/>
              <a:buAutoNum type="arabicPeriod" startAt="1"/>
            </a:pPr>
            <a:r>
              <a:rPr altLang="en-US" b="1" sz="2800" lang="en-US">
                <a:solidFill>
                  <a:srgbClr val="FF0066"/>
                </a:solidFill>
                <a:latin typeface="Calibri" pitchFamily="34" charset="0"/>
              </a:rPr>
              <a:t>Chondrocytes </a:t>
            </a:r>
            <a:r>
              <a:rPr altLang="en-US" sz="2800" lang="en-US">
                <a:latin typeface="Calibri" pitchFamily="34" charset="0"/>
              </a:rPr>
              <a:t>are located in matrix cavities called </a:t>
            </a:r>
            <a:r>
              <a:rPr altLang="en-US" b="1" sz="2800" lang="en-US">
                <a:solidFill>
                  <a:srgbClr val="FF0066"/>
                </a:solidFill>
                <a:latin typeface="Calibri" pitchFamily="34" charset="0"/>
              </a:rPr>
              <a:t>lacunae</a:t>
            </a:r>
            <a:r>
              <a:rPr altLang="en-US" sz="2800" lang="en-US">
                <a:latin typeface="Calibri" pitchFamily="34" charset="0"/>
              </a:rPr>
              <a:t>.</a:t>
            </a:r>
          </a:p>
          <a:p>
            <a:pPr eaLnBrk="1" hangingPunct="1" lvl="0">
              <a:buFont typeface="Calibri" pitchFamily="34" charset="0"/>
              <a:buAutoNum type="arabicPeriod" startAt="1"/>
            </a:pPr>
            <a:r>
              <a:rPr altLang="en-US" sz="2800" lang="en-US">
                <a:solidFill>
                  <a:srgbClr val="00B050"/>
                </a:solidFill>
                <a:latin typeface="Calibri" pitchFamily="34" charset="0"/>
              </a:rPr>
              <a:t>Chondrocytes derived by mitotic division of one parent cell exist as clusters of 4 to 8 cells known as </a:t>
            </a:r>
            <a:r>
              <a:rPr altLang="en-US" b="1" sz="2800" lang="en-US">
                <a:solidFill>
                  <a:srgbClr val="FF0066"/>
                </a:solidFill>
                <a:latin typeface="Calibri" pitchFamily="34" charset="0"/>
              </a:rPr>
              <a:t>isogenous groups (cell nests)</a:t>
            </a:r>
            <a:r>
              <a:rPr altLang="en-US" sz="2800" lang="en-US">
                <a:solidFill>
                  <a:srgbClr val="00B050"/>
                </a:solidFill>
                <a:latin typeface="Calibri" pitchFamily="34" charset="0"/>
              </a:rPr>
              <a:t>.  </a:t>
            </a:r>
          </a:p>
          <a:p>
            <a:pPr eaLnBrk="1" hangingPunct="1" lvl="0">
              <a:buFont typeface="Calibri" pitchFamily="34" charset="0"/>
              <a:buAutoNum type="arabicPeriod" startAt="1"/>
            </a:pPr>
            <a:r>
              <a:rPr altLang="en-US" sz="2800" lang="en-US">
                <a:solidFill>
                  <a:srgbClr val="00B0F0"/>
                </a:solidFill>
                <a:latin typeface="Calibri" pitchFamily="34" charset="0"/>
              </a:rPr>
              <a:t>Cytoplasm of chondrocytes is basophilic, rich in glycogen, lipids and phosphatase enzymes.</a:t>
            </a:r>
          </a:p>
          <a:p>
            <a:pPr eaLnBrk="1" hangingPunct="1" lvl="0">
              <a:buFont typeface="Calibri" pitchFamily="34" charset="0"/>
              <a:buAutoNum type="arabicPeriod" startAt="1"/>
            </a:pPr>
            <a:r>
              <a:rPr altLang="en-US" sz="2800" lang="en-US">
                <a:solidFill>
                  <a:srgbClr val="002060"/>
                </a:solidFill>
                <a:latin typeface="Calibri" pitchFamily="34" charset="0"/>
              </a:rPr>
              <a:t>Cartilage is usually covered or surrounded by a capsule-like sheath of dense CT known as </a:t>
            </a:r>
            <a:r>
              <a:rPr altLang="en-US" b="1" sz="2800" lang="en-US">
                <a:solidFill>
                  <a:srgbClr val="FF0066"/>
                </a:solidFill>
                <a:latin typeface="Calibri" pitchFamily="34" charset="0"/>
              </a:rPr>
              <a:t>Perichondrium, </a:t>
            </a:r>
            <a:r>
              <a:rPr altLang="en-US" sz="2800" lang="en-US">
                <a:solidFill>
                  <a:srgbClr val="FF00FF"/>
                </a:solidFill>
                <a:latin typeface="Calibri" pitchFamily="34" charset="0"/>
              </a:rPr>
              <a:t>formed of two layers: outer fibrous layer &amp; inner chondrogenic layer.</a:t>
            </a:r>
          </a:p>
        </p:txBody>
      </p:sp>
    </p:spTree>
  </p:cSld>
  <p:clrMapOvr>
    <a:masterClrMapping/>
  </p:clrMapOvr>
  <p:transition spd="fast" advClick="1"/>
</p:sld>
</file>

<file path=ppt/slides/slide41.xml><?xml version="1.0" encoding="utf-8"?>
<p:sld xmlns:a="http://schemas.openxmlformats.org/drawingml/2006/main" xmlns:r="http://schemas.openxmlformats.org/officeDocument/2006/relationships" xmlns:p="http://schemas.openxmlformats.org/presentationml/2006/main" show="1" showMasterSp="1">
  <p:cSld>
    <p:spTree>
      <p:nvGrpSpPr>
        <p:cNvPr id="230" name=""/>
        <p:cNvGrpSpPr/>
        <p:nvPr/>
      </p:nvGrpSpPr>
      <p:grpSpPr>
        <a:xfrm rot="0">
          <a:off x="0" y="0"/>
          <a:ext cx="0" cy="0"/>
          <a:chOff x="0" y="0"/>
          <a:chExt cx="0" cy="0"/>
        </a:xfrm>
      </p:grpSpPr>
      <p:sp>
        <p:nvSpPr>
          <p:cNvPr id="1048827"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endParaRPr altLang="en-US" lang="en-US"/>
          </a:p>
        </p:txBody>
      </p:sp>
      <p:pic>
        <p:nvPicPr>
          <p:cNvPr id="2097204" name="Picture 3" descr="hyc40he"/>
          <p:cNvPicPr>
            <a:picLocks/>
          </p:cNvPicPr>
          <p:nvPr>
            <p:ph sz="full" idx="1"/>
          </p:nvPr>
        </p:nvPicPr>
        <p:blipFill>
          <a:blip xmlns:r="http://schemas.openxmlformats.org/officeDocument/2006/relationships" r:embed="rId1"/>
          <a:srcRect l="0" t="0" r="0" b="0"/>
          <a:stretch>
            <a:fillRect/>
          </a:stretch>
        </p:blipFill>
        <p:spPr>
          <a:xfrm rot="0">
            <a:off x="152400" y="76200"/>
            <a:ext cx="8839200" cy="6629400"/>
          </a:xfrm>
          <a:prstGeom prst="rect"/>
          <a:noFill/>
          <a:ln>
            <a:noFill/>
          </a:ln>
        </p:spPr>
      </p:pic>
    </p:spTree>
  </p:cSld>
  <p:clrMapOvr>
    <a:masterClrMapping/>
  </p:clrMapOvr>
  <p:transition spd="fast" advClick="1"/>
</p:sld>
</file>

<file path=ppt/slides/slide42.xml><?xml version="1.0" encoding="utf-8"?>
<p:sld xmlns:a="http://schemas.openxmlformats.org/drawingml/2006/main" xmlns:r="http://schemas.openxmlformats.org/officeDocument/2006/relationships" xmlns:p="http://schemas.openxmlformats.org/presentationml/2006/main" show="1" showMasterSp="1">
  <p:cSld>
    <p:spTree>
      <p:nvGrpSpPr>
        <p:cNvPr id="231" name=""/>
        <p:cNvGrpSpPr/>
        <p:nvPr/>
      </p:nvGrpSpPr>
      <p:grpSpPr>
        <a:xfrm rot="0">
          <a:off x="0" y="0"/>
          <a:ext cx="0" cy="0"/>
          <a:chOff x="0" y="0"/>
          <a:chExt cx="0" cy="0"/>
        </a:xfrm>
      </p:grpSpPr>
      <p:sp>
        <p:nvSpPr>
          <p:cNvPr id="1048828" name="Rectangle 2"/>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dk1"/>
                </a:solidFill>
                <a:latin typeface="Calibri" pitchFamily="34" charset="0"/>
                <a:sym typeface="Arial" pitchFamily="0" charset="0"/>
              </a:defRPr>
            </a:lvl1pPr>
          </a:lstStyle>
          <a:p>
            <a:pPr eaLnBrk="1" hangingPunct="1" lvl="0"/>
            <a:endParaRPr altLang="en-US" lang="en-US"/>
          </a:p>
        </p:txBody>
      </p:sp>
      <p:pic>
        <p:nvPicPr>
          <p:cNvPr id="2097205" name="Picture 3" descr="cartani"/>
          <p:cNvPicPr>
            <a:picLocks/>
          </p:cNvPicPr>
          <p:nvPr>
            <p:ph sz="full" idx="1"/>
          </p:nvPr>
        </p:nvPicPr>
        <p:blipFill>
          <a:blip xmlns:r="http://schemas.openxmlformats.org/officeDocument/2006/relationships" r:embed="rId1"/>
          <a:srcRect l="0" t="0" r="0" b="0"/>
          <a:stretch>
            <a:fillRect/>
          </a:stretch>
        </p:blipFill>
        <p:spPr>
          <a:xfrm rot="0">
            <a:off x="0" y="0"/>
            <a:ext cx="9144000" cy="6858000"/>
          </a:xfrm>
          <a:prstGeom prst="rect"/>
          <a:noFill/>
          <a:ln>
            <a:noFill/>
          </a:ln>
        </p:spPr>
      </p:pic>
    </p:spTree>
  </p:cSld>
  <p:clrMapOvr>
    <a:masterClrMapping/>
  </p:clrMapOvr>
  <p:transition spd="fast" advClick="1"/>
</p:sld>
</file>

<file path=ppt/slides/slide43.xml><?xml version="1.0" encoding="utf-8"?>
<p:sld xmlns:a="http://schemas.openxmlformats.org/drawingml/2006/main" xmlns:r="http://schemas.openxmlformats.org/officeDocument/2006/relationships" xmlns:p="http://schemas.openxmlformats.org/presentationml/2006/main" show="1" showMasterSp="1">
  <p:cSld>
    <p:spTree>
      <p:nvGrpSpPr>
        <p:cNvPr id="233" name=""/>
        <p:cNvGrpSpPr/>
        <p:nvPr/>
      </p:nvGrpSpPr>
      <p:grpSpPr>
        <a:xfrm rot="0">
          <a:off x="0" y="0"/>
          <a:ext cx="0" cy="0"/>
          <a:chOff x="0" y="0"/>
          <a:chExt cx="0" cy="0"/>
        </a:xfrm>
      </p:grpSpPr>
      <p:sp>
        <p:nvSpPr>
          <p:cNvPr id="1048834" name="Rectangle 3"/>
          <p:cNvSpPr/>
          <p:nvPr>
            <p:ph type="subTitle" sz="full" idx="1"/>
          </p:nvPr>
        </p:nvSpPr>
        <p:spPr>
          <a:xfrm rot="0">
            <a:off x="0" y="304800"/>
            <a:ext cx="9144000" cy="6553200"/>
          </a:xfrm>
          <a:prstGeom prst="rect"/>
          <a:noFill/>
          <a:ln>
            <a:noFill/>
          </a:ln>
        </p:spPr>
        <p:txBody>
          <a:bodyPr anchor="t" bIns="45720" lIns="91440" rIns="91440" tIns="45720" vert="horz"/>
          <a:lstStyle>
            <a:lvl1pPr algn="ctr" marL="0">
              <a:buNone/>
              <a:defRPr sz="3200">
                <a:solidFill>
                  <a:schemeClr val="dk1"/>
                </a:solidFill>
              </a:defRPr>
            </a:lvl1pPr>
            <a:lvl2pPr algn="ctr" marL="457200">
              <a:buNone/>
            </a:lvl2pPr>
            <a:lvl3pPr algn="ctr" marL="914400">
              <a:buNone/>
            </a:lvl3pPr>
            <a:lvl4pPr algn="ctr" marL="1371600">
              <a:buNone/>
            </a:lvl4pPr>
            <a:lvl5pPr algn="ctr" marL="1828800">
              <a:buNone/>
            </a:lvl5pPr>
          </a:lstStyle>
          <a:p>
            <a:pPr algn="l" eaLnBrk="1" hangingPunct="1" indent="-520700" lvl="0" marL="520700">
              <a:spcBef>
                <a:spcPct val="0"/>
              </a:spcBef>
              <a:buFont typeface="Calibri" pitchFamily="34" charset="0"/>
              <a:buChar char="–"/>
              <a:tabLst>
                <a:tab algn="l" pos="517525"/>
              </a:tabLst>
            </a:pPr>
            <a:r>
              <a:rPr altLang="en-US" lang="en-US">
                <a:solidFill>
                  <a:srgbClr val="FF00FF"/>
                </a:solidFill>
              </a:rPr>
              <a:t>Variations in the composition of cartilage matrix components produce three types of cartilages adapted to local biomechanical needs:</a:t>
            </a:r>
          </a:p>
          <a:p>
            <a:pPr algn="l" eaLnBrk="1" hangingPunct="1" indent="-520700" lvl="0" marL="520700">
              <a:spcBef>
                <a:spcPct val="0"/>
              </a:spcBef>
              <a:buFont typeface="Wingdings 2" pitchFamily="18" charset="2"/>
              <a:buChar char=""/>
            </a:pPr>
            <a:endParaRPr altLang="en-US" b="1" sz="2800" lang="en-US">
              <a:solidFill>
                <a:srgbClr val="FF00FF"/>
              </a:solidFill>
            </a:endParaRPr>
          </a:p>
          <a:p>
            <a:pPr algn="l" eaLnBrk="1" hangingPunct="1" indent="-914400" lvl="3" marL="2178050">
              <a:spcBef>
                <a:spcPts val="1200"/>
              </a:spcBef>
              <a:buFont typeface="Calibri" pitchFamily="34" charset="0"/>
              <a:buAutoNum type="arabicPeriod" startAt="1"/>
            </a:pPr>
            <a:r>
              <a:rPr altLang="en-US" b="1" sz="5400" lang="en-US">
                <a:solidFill>
                  <a:srgbClr val="9900FF"/>
                </a:solidFill>
              </a:rPr>
              <a:t>Hyaline cartilage</a:t>
            </a:r>
          </a:p>
          <a:p>
            <a:pPr algn="l" eaLnBrk="1" hangingPunct="1" indent="-914400" lvl="3" marL="2178050">
              <a:spcBef>
                <a:spcPts val="1200"/>
              </a:spcBef>
              <a:buFont typeface="Calibri" pitchFamily="34" charset="0"/>
              <a:buAutoNum type="arabicPeriod" startAt="1"/>
            </a:pPr>
            <a:r>
              <a:rPr altLang="en-US" b="1" sz="5400" lang="en-US">
                <a:solidFill>
                  <a:srgbClr val="9900FF"/>
                </a:solidFill>
              </a:rPr>
              <a:t>Elastic cartilage</a:t>
            </a:r>
          </a:p>
          <a:p>
            <a:pPr algn="l" eaLnBrk="1" hangingPunct="1" indent="-914400" lvl="3" marL="2178050">
              <a:spcBef>
                <a:spcPts val="1200"/>
              </a:spcBef>
              <a:buFont typeface="Calibri" pitchFamily="34" charset="0"/>
              <a:buAutoNum type="arabicPeriod" startAt="1"/>
            </a:pPr>
            <a:r>
              <a:rPr altLang="en-US" b="1" sz="5400" lang="en-US">
                <a:solidFill>
                  <a:srgbClr val="9900FF"/>
                </a:solidFill>
              </a:rPr>
              <a:t>Fibrocartilage</a:t>
            </a:r>
            <a:r>
              <a:rPr altLang="en-US" sz="5400" lang="ar-SA">
                <a:solidFill>
                  <a:srgbClr val="9900FF"/>
                </a:solidFill>
                <a:ea typeface="Arial" pitchFamily="0" charset="0"/>
              </a:rPr>
              <a:t> </a:t>
            </a:r>
          </a:p>
          <a:p>
            <a:pPr algn="l" eaLnBrk="1" hangingPunct="1" indent="-520700" lvl="0" marL="520700">
              <a:spcBef>
                <a:spcPct val="0"/>
              </a:spcBef>
              <a:buFont typeface="Wingdings 2" pitchFamily="18" charset="2"/>
              <a:buChar char=""/>
            </a:pPr>
            <a:endParaRPr altLang="en-US" lang="en-US"/>
          </a:p>
        </p:txBody>
      </p:sp>
    </p:spTree>
  </p:cSld>
  <p:clrMapOvr>
    <a:masterClrMapping/>
  </p:clrMapOvr>
  <p:transition spd="fast" advClick="1"/>
</p:sld>
</file>

<file path=ppt/slides/slide44.xml><?xml version="1.0" encoding="utf-8"?>
<p:sld xmlns:a="http://schemas.openxmlformats.org/drawingml/2006/main" xmlns:r="http://schemas.openxmlformats.org/officeDocument/2006/relationships" xmlns:p="http://schemas.openxmlformats.org/presentationml/2006/main" show="1" showMasterSp="1">
  <p:cSld>
    <p:spTree>
      <p:nvGrpSpPr>
        <p:cNvPr id="234" name=""/>
        <p:cNvGrpSpPr/>
        <p:nvPr/>
      </p:nvGrpSpPr>
      <p:grpSpPr>
        <a:xfrm rot="0">
          <a:off x="0" y="0"/>
          <a:ext cx="0" cy="0"/>
          <a:chOff x="0" y="0"/>
          <a:chExt cx="0" cy="0"/>
        </a:xfrm>
      </p:grpSpPr>
      <p:pic>
        <p:nvPicPr>
          <p:cNvPr id="2097206" name="Picture 2"/>
          <p:cNvPicPr>
            <a:picLocks/>
          </p:cNvPicPr>
          <p:nvPr/>
        </p:nvPicPr>
        <p:blipFill>
          <a:blip xmlns:r="http://schemas.openxmlformats.org/officeDocument/2006/relationships" r:embed="rId1"/>
          <a:srcRect l="0" t="0" r="0" b="0"/>
          <a:stretch>
            <a:fillRect/>
          </a:stretch>
        </p:blipFill>
        <p:spPr>
          <a:xfrm rot="0">
            <a:off x="76200" y="0"/>
            <a:ext cx="8915400" cy="6858000"/>
          </a:xfrm>
          <a:prstGeom prst="rect"/>
          <a:noFill/>
          <a:ln>
            <a:noFill/>
          </a:ln>
        </p:spPr>
      </p:pic>
    </p:spTree>
  </p:cSld>
  <p:clrMapOvr>
    <a:masterClrMapping/>
  </p:clrMapOvr>
  <p:transition spd="fast" advClick="1"/>
</p:sld>
</file>

<file path=ppt/slides/slide45.xml><?xml version="1.0" encoding="utf-8"?>
<p:sld xmlns:a="http://schemas.openxmlformats.org/drawingml/2006/main" xmlns:r="http://schemas.openxmlformats.org/officeDocument/2006/relationships" xmlns:p="http://schemas.openxmlformats.org/presentationml/2006/main" showMasterSp="1">
  <p:cSld>
    <p:spTree>
      <p:nvGrpSpPr>
        <p:cNvPr id="235" name=""/>
        <p:cNvGrpSpPr/>
        <p:nvPr/>
      </p:nvGrpSpPr>
      <p:grpSpPr>
        <a:xfrm rot="0">
          <a:off x="0" y="0"/>
          <a:ext cx="0" cy="0"/>
          <a:chOff x="0" y="0"/>
          <a:chExt cx="0" cy="0"/>
        </a:xfrm>
      </p:grpSpPr>
      <p:sp>
        <p:nvSpPr>
          <p:cNvPr id="1048835" name="Text Box 3"/>
          <p:cNvSpPr txBox="1"/>
          <p:nvPr/>
        </p:nvSpPr>
        <p:spPr>
          <a:xfrm rot="0">
            <a:off x="228600" y="1101725"/>
            <a:ext cx="8763000" cy="294386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sz="2000" lang="en-US">
                <a:solidFill>
                  <a:srgbClr val="003399"/>
                </a:solidFill>
                <a:latin typeface="Rockwell" pitchFamily="18" charset="0"/>
              </a:rPr>
              <a:t>The cells of muscle tissue are long narrow called </a:t>
            </a:r>
            <a:r>
              <a:rPr altLang="en-US" b="1" sz="2000" lang="en-US">
                <a:solidFill>
                  <a:srgbClr val="FF0000"/>
                </a:solidFill>
                <a:latin typeface="Rockwell" pitchFamily="18" charset="0"/>
              </a:rPr>
              <a:t>muscle fibers</a:t>
            </a:r>
          </a:p>
          <a:p>
            <a:pPr eaLnBrk="1" hangingPunct="1" indent="0" lvl="0" marL="0">
              <a:spcBef>
                <a:spcPct val="50000"/>
              </a:spcBef>
              <a:buFontTx/>
              <a:buNone/>
            </a:pPr>
            <a:endParaRPr altLang="en-US" b="1" sz="300" lang="en-US">
              <a:solidFill>
                <a:srgbClr val="FF0000"/>
              </a:solidFill>
              <a:latin typeface="Rockwell" pitchFamily="18" charset="0"/>
            </a:endParaRPr>
          </a:p>
          <a:p>
            <a:pPr eaLnBrk="1" hangingPunct="1" indent="0" lvl="0" marL="0">
              <a:spcBef>
                <a:spcPct val="50000"/>
              </a:spcBef>
              <a:buFontTx/>
              <a:buNone/>
            </a:pPr>
            <a:r>
              <a:rPr altLang="en-US" sz="2000" lang="en-US">
                <a:solidFill>
                  <a:srgbClr val="003399"/>
                </a:solidFill>
                <a:latin typeface="Rockwell" pitchFamily="18" charset="0"/>
              </a:rPr>
              <a:t>The cell membrane of muscle fiber is called </a:t>
            </a:r>
            <a:r>
              <a:rPr altLang="en-US" b="1" sz="2000" lang="en-US">
                <a:solidFill>
                  <a:srgbClr val="FF0000"/>
                </a:solidFill>
                <a:latin typeface="Rockwell" pitchFamily="18" charset="0"/>
              </a:rPr>
              <a:t>sarcolemma</a:t>
            </a:r>
            <a:r>
              <a:rPr altLang="en-US" sz="2000" lang="en-US">
                <a:solidFill>
                  <a:srgbClr val="003399"/>
                </a:solidFill>
                <a:latin typeface="Rockwell" pitchFamily="18" charset="0"/>
              </a:rPr>
              <a:t>, the cytoplasm is called </a:t>
            </a:r>
            <a:r>
              <a:rPr altLang="en-US" b="1" sz="2000" lang="en-US">
                <a:solidFill>
                  <a:srgbClr val="FF0000"/>
                </a:solidFill>
                <a:latin typeface="Rockwell" pitchFamily="18" charset="0"/>
              </a:rPr>
              <a:t>sarcoplasm</a:t>
            </a:r>
            <a:r>
              <a:rPr altLang="en-US" sz="2000" lang="en-US">
                <a:solidFill>
                  <a:srgbClr val="003399"/>
                </a:solidFill>
                <a:latin typeface="Rockwell" pitchFamily="18" charset="0"/>
              </a:rPr>
              <a:t>, the smooth endoplasmic reticulum is called </a:t>
            </a:r>
            <a:r>
              <a:rPr altLang="en-US" b="1" sz="2000" lang="en-US">
                <a:solidFill>
                  <a:srgbClr val="FF0000"/>
                </a:solidFill>
                <a:latin typeface="Rockwell" pitchFamily="18" charset="0"/>
              </a:rPr>
              <a:t>sarcoplasmic reticulum</a:t>
            </a:r>
            <a:r>
              <a:rPr altLang="en-US" sz="2000" lang="en-US">
                <a:solidFill>
                  <a:srgbClr val="003399"/>
                </a:solidFill>
                <a:latin typeface="Rockwell" pitchFamily="18" charset="0"/>
              </a:rPr>
              <a:t>, the mitochondria is called </a:t>
            </a:r>
            <a:r>
              <a:rPr altLang="en-US" b="1" sz="2000" lang="en-US">
                <a:solidFill>
                  <a:srgbClr val="FF0000"/>
                </a:solidFill>
                <a:latin typeface="Rockwell" pitchFamily="18" charset="0"/>
              </a:rPr>
              <a:t>sarcosome</a:t>
            </a:r>
          </a:p>
          <a:p>
            <a:pPr eaLnBrk="1" hangingPunct="1" indent="0" lvl="0" marL="0">
              <a:spcBef>
                <a:spcPct val="50000"/>
              </a:spcBef>
              <a:buFontTx/>
              <a:buNone/>
            </a:pPr>
            <a:endParaRPr altLang="en-US" b="1" sz="400" lang="en-US">
              <a:solidFill>
                <a:srgbClr val="003399"/>
              </a:solidFill>
              <a:latin typeface="Rockwell" pitchFamily="18" charset="0"/>
            </a:endParaRPr>
          </a:p>
          <a:p>
            <a:pPr eaLnBrk="1" hangingPunct="1" indent="0" lvl="0" marL="0">
              <a:spcBef>
                <a:spcPct val="50000"/>
              </a:spcBef>
              <a:buFontTx/>
              <a:buNone/>
            </a:pPr>
            <a:r>
              <a:rPr altLang="en-US" sz="2000" lang="en-US">
                <a:solidFill>
                  <a:srgbClr val="003399"/>
                </a:solidFill>
                <a:latin typeface="Rockwell" pitchFamily="18" charset="0"/>
              </a:rPr>
              <a:t>Muscle fibers are either</a:t>
            </a:r>
            <a:r>
              <a:rPr altLang="en-US" b="1" sz="2000" lang="en-US">
                <a:solidFill>
                  <a:srgbClr val="003399"/>
                </a:solidFill>
                <a:latin typeface="Rockwell" pitchFamily="18" charset="0"/>
              </a:rPr>
              <a:t> </a:t>
            </a:r>
            <a:r>
              <a:rPr altLang="en-US" b="1" sz="2000" lang="en-US">
                <a:solidFill>
                  <a:srgbClr val="FF0000"/>
                </a:solidFill>
                <a:latin typeface="Rockwell" pitchFamily="18" charset="0"/>
              </a:rPr>
              <a:t>striated </a:t>
            </a:r>
            <a:r>
              <a:rPr altLang="en-US" sz="2000" lang="en-US">
                <a:solidFill>
                  <a:srgbClr val="003399"/>
                </a:solidFill>
                <a:latin typeface="Rockwell" pitchFamily="18" charset="0"/>
              </a:rPr>
              <a:t>or</a:t>
            </a:r>
            <a:r>
              <a:rPr altLang="en-US" b="1" sz="2000" lang="en-US">
                <a:solidFill>
                  <a:srgbClr val="FF0000"/>
                </a:solidFill>
                <a:latin typeface="Rockwell" pitchFamily="18" charset="0"/>
              </a:rPr>
              <a:t> non-striated</a:t>
            </a:r>
            <a:r>
              <a:rPr altLang="en-US" b="1" sz="2000" lang="en-US">
                <a:solidFill>
                  <a:srgbClr val="003399"/>
                </a:solidFill>
                <a:latin typeface="Rockwell" pitchFamily="18" charset="0"/>
              </a:rPr>
              <a:t> </a:t>
            </a:r>
            <a:r>
              <a:rPr altLang="en-US" sz="2000" lang="en-US">
                <a:solidFill>
                  <a:srgbClr val="003399"/>
                </a:solidFill>
                <a:latin typeface="Rockwell" pitchFamily="18" charset="0"/>
              </a:rPr>
              <a:t>according to whether or not they have transverse striations</a:t>
            </a:r>
          </a:p>
          <a:p>
            <a:pPr eaLnBrk="1" hangingPunct="1" indent="0" lvl="0" marL="0">
              <a:spcBef>
                <a:spcPct val="50000"/>
              </a:spcBef>
              <a:buFontTx/>
              <a:buNone/>
            </a:pPr>
            <a:endParaRPr altLang="en-US" sz="400" lang="en-US">
              <a:solidFill>
                <a:srgbClr val="003399"/>
              </a:solidFill>
              <a:latin typeface="Rockwell" pitchFamily="18" charset="0"/>
            </a:endParaRPr>
          </a:p>
          <a:p>
            <a:pPr eaLnBrk="1" hangingPunct="1" indent="0" lvl="0" marL="0">
              <a:spcBef>
                <a:spcPct val="50000"/>
              </a:spcBef>
              <a:buFontTx/>
              <a:buNone/>
            </a:pPr>
            <a:r>
              <a:rPr altLang="en-US" sz="2000" lang="en-US">
                <a:solidFill>
                  <a:srgbClr val="003399"/>
                </a:solidFill>
                <a:latin typeface="Rockwell" pitchFamily="18" charset="0"/>
              </a:rPr>
              <a:t>Muscle fibers are either </a:t>
            </a:r>
            <a:r>
              <a:rPr altLang="en-US" b="1" sz="2000" lang="en-US">
                <a:solidFill>
                  <a:srgbClr val="FF0000"/>
                </a:solidFill>
                <a:latin typeface="Rockwell" pitchFamily="18" charset="0"/>
              </a:rPr>
              <a:t>voluntary</a:t>
            </a:r>
            <a:r>
              <a:rPr altLang="en-US" sz="2000" lang="en-US">
                <a:solidFill>
                  <a:srgbClr val="FF0000"/>
                </a:solidFill>
                <a:latin typeface="Rockwell" pitchFamily="18" charset="0"/>
              </a:rPr>
              <a:t> </a:t>
            </a:r>
            <a:r>
              <a:rPr altLang="en-US" sz="2000" lang="en-US">
                <a:solidFill>
                  <a:srgbClr val="003399"/>
                </a:solidFill>
                <a:latin typeface="Rockwell" pitchFamily="18" charset="0"/>
              </a:rPr>
              <a:t>or</a:t>
            </a:r>
            <a:r>
              <a:rPr altLang="en-US" sz="2000" lang="en-US">
                <a:solidFill>
                  <a:srgbClr val="FF0000"/>
                </a:solidFill>
                <a:latin typeface="Rockwell" pitchFamily="18" charset="0"/>
              </a:rPr>
              <a:t> </a:t>
            </a:r>
            <a:r>
              <a:rPr altLang="en-US" b="1" sz="2000" lang="en-US">
                <a:solidFill>
                  <a:srgbClr val="FF0000"/>
                </a:solidFill>
                <a:latin typeface="Rockwell" pitchFamily="18" charset="0"/>
              </a:rPr>
              <a:t>involuntary</a:t>
            </a:r>
          </a:p>
        </p:txBody>
      </p:sp>
      <p:sp>
        <p:nvSpPr>
          <p:cNvPr id="1048836" name="Text Box 5"/>
          <p:cNvSpPr txBox="1"/>
          <p:nvPr/>
        </p:nvSpPr>
        <p:spPr>
          <a:xfrm rot="0">
            <a:off x="381000" y="5029200"/>
            <a:ext cx="4724400" cy="13112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480060" lvl="1" marL="800100">
              <a:spcBef>
                <a:spcPct val="50000"/>
              </a:spcBef>
            </a:pPr>
            <a:r>
              <a:rPr altLang="en-US" sz="2000" lang="en-US">
                <a:solidFill>
                  <a:srgbClr val="003399"/>
                </a:solidFill>
                <a:latin typeface="Rockwell" pitchFamily="18" charset="0"/>
              </a:rPr>
              <a:t>Skeletal muscle</a:t>
            </a:r>
          </a:p>
          <a:p>
            <a:pPr eaLnBrk="1" hangingPunct="1" indent="-480060" lvl="1" marL="800100">
              <a:spcBef>
                <a:spcPct val="50000"/>
              </a:spcBef>
            </a:pPr>
            <a:r>
              <a:rPr altLang="en-US" sz="2000" lang="en-US">
                <a:solidFill>
                  <a:srgbClr val="003399"/>
                </a:solidFill>
                <a:latin typeface="Rockwell" pitchFamily="18" charset="0"/>
              </a:rPr>
              <a:t>Cardiac muscle</a:t>
            </a:r>
          </a:p>
          <a:p>
            <a:pPr eaLnBrk="1" hangingPunct="1" indent="-480060" lvl="1" marL="800100">
              <a:spcBef>
                <a:spcPct val="50000"/>
              </a:spcBef>
            </a:pPr>
            <a:r>
              <a:rPr altLang="en-US" sz="2000" lang="en-US">
                <a:solidFill>
                  <a:srgbClr val="003399"/>
                </a:solidFill>
                <a:latin typeface="Rockwell" pitchFamily="18" charset="0"/>
              </a:rPr>
              <a:t>Smooth muscle</a:t>
            </a:r>
          </a:p>
        </p:txBody>
      </p:sp>
      <p:sp>
        <p:nvSpPr>
          <p:cNvPr id="1048837" name="Text Box 2"/>
          <p:cNvSpPr txBox="1"/>
          <p:nvPr/>
        </p:nvSpPr>
        <p:spPr>
          <a:xfrm rot="0">
            <a:off x="457200" y="381000"/>
            <a:ext cx="8229600" cy="457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514350" lvl="0" marL="514350">
              <a:spcBef>
                <a:spcPct val="50000"/>
              </a:spcBef>
            </a:pPr>
            <a:r>
              <a:rPr altLang="en-US" b="1" sz="2400" lang="en-US">
                <a:solidFill>
                  <a:srgbClr val="003399"/>
                </a:solidFill>
                <a:latin typeface="Rockwell" pitchFamily="18" charset="0"/>
              </a:rPr>
              <a:t> </a:t>
            </a:r>
            <a:r>
              <a:rPr altLang="en-US" b="1" sz="2400" lang="en-US" u="sng">
                <a:solidFill>
                  <a:srgbClr val="003399"/>
                </a:solidFill>
                <a:latin typeface="Rockwell" pitchFamily="18" charset="0"/>
              </a:rPr>
              <a:t>Muscular tissue</a:t>
            </a:r>
          </a:p>
        </p:txBody>
      </p:sp>
      <p:pic>
        <p:nvPicPr>
          <p:cNvPr id="2097207" name="Picture 6" descr="smooth_muscle_fiber"/>
          <p:cNvPicPr>
            <a:picLocks/>
          </p:cNvPicPr>
          <p:nvPr/>
        </p:nvPicPr>
        <p:blipFill>
          <a:blip xmlns:r="http://schemas.openxmlformats.org/officeDocument/2006/relationships" r:embed="rId1"/>
          <a:srcRect l="0" t="0" r="0" b="0"/>
          <a:stretch>
            <a:fillRect/>
          </a:stretch>
        </p:blipFill>
        <p:spPr>
          <a:xfrm rot="0">
            <a:off x="5638800" y="4267200"/>
            <a:ext cx="3141662" cy="1979612"/>
          </a:xfrm>
          <a:prstGeom prst="rect"/>
          <a:noFill/>
          <a:ln>
            <a:noFill/>
          </a:ln>
        </p:spPr>
      </p:pic>
      <p:sp>
        <p:nvSpPr>
          <p:cNvPr id="1048838" name="TextBox 7"/>
          <p:cNvSpPr txBox="1"/>
          <p:nvPr/>
        </p:nvSpPr>
        <p:spPr>
          <a:xfrm rot="0">
            <a:off x="304800" y="4419600"/>
            <a:ext cx="3180081" cy="396240"/>
          </a:xfrm>
          <a:prstGeom prst="rect"/>
          <a:noFill/>
          <a:ln>
            <a:noFill/>
          </a:ln>
        </p:spPr>
        <p:txBody>
          <a:bodyPr anchor="t" bIns="45720" lIns="91440" rIns="91440" tIns="45720" vert="horz" wrap="none">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0"/>
              </a:spcBef>
              <a:buFontTx/>
              <a:buNone/>
            </a:pPr>
            <a:r>
              <a:rPr altLang="en-US" b="1" sz="2000" lang="en-US">
                <a:solidFill>
                  <a:srgbClr val="003399"/>
                </a:solidFill>
              </a:rPr>
              <a:t>Types of Muscular Tissue: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1">
  <p:cSld>
    <p:spTree>
      <p:nvGrpSpPr>
        <p:cNvPr id="236" name=""/>
        <p:cNvGrpSpPr/>
        <p:nvPr/>
      </p:nvGrpSpPr>
      <p:grpSpPr>
        <a:xfrm rot="0">
          <a:off x="0" y="0"/>
          <a:ext cx="0" cy="0"/>
          <a:chOff x="0" y="0"/>
          <a:chExt cx="0" cy="0"/>
        </a:xfrm>
      </p:grpSpPr>
      <p:pic>
        <p:nvPicPr>
          <p:cNvPr id="2097208" name="Picture 2" descr="Muscle_tissue_(1)"/>
          <p:cNvPicPr>
            <a:picLocks/>
          </p:cNvPicPr>
          <p:nvPr/>
        </p:nvPicPr>
        <p:blipFill>
          <a:blip xmlns:r="http://schemas.openxmlformats.org/officeDocument/2006/relationships" r:embed="rId1"/>
          <a:srcRect l="0" t="0" r="0" b="0"/>
          <a:stretch>
            <a:fillRect/>
          </a:stretch>
        </p:blipFill>
        <p:spPr>
          <a:xfrm rot="0">
            <a:off x="1806575" y="304800"/>
            <a:ext cx="5356225" cy="6391275"/>
          </a:xfrm>
          <a:prstGeom prst="rect"/>
          <a:solidFill>
            <a:srgbClr val="C9C9FF"/>
          </a:solidFill>
          <a:ln>
            <a:noFill/>
          </a:ln>
        </p:spPr>
      </p:pic>
      <p:sp>
        <p:nvSpPr>
          <p:cNvPr id="1048839" name="Text Box 3"/>
          <p:cNvSpPr txBox="1"/>
          <p:nvPr/>
        </p:nvSpPr>
        <p:spPr>
          <a:xfrm rot="0">
            <a:off x="6629400" y="762000"/>
            <a:ext cx="2209800" cy="396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sz="2000" lang="en-US">
                <a:solidFill>
                  <a:srgbClr val="000099"/>
                </a:solidFill>
                <a:latin typeface="Rockwell" pitchFamily="18" charset="0"/>
              </a:rPr>
              <a:t>Skeletal muscle</a:t>
            </a:r>
          </a:p>
        </p:txBody>
      </p:sp>
      <p:sp>
        <p:nvSpPr>
          <p:cNvPr id="1048840" name="Text Box 4"/>
          <p:cNvSpPr txBox="1"/>
          <p:nvPr/>
        </p:nvSpPr>
        <p:spPr>
          <a:xfrm rot="0">
            <a:off x="6781800" y="5638800"/>
            <a:ext cx="2209800" cy="396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sz="2000" lang="en-US">
                <a:solidFill>
                  <a:srgbClr val="000099"/>
                </a:solidFill>
                <a:latin typeface="Rockwell" pitchFamily="18" charset="0"/>
              </a:rPr>
              <a:t>Smooth muscle</a:t>
            </a:r>
          </a:p>
        </p:txBody>
      </p:sp>
      <p:sp>
        <p:nvSpPr>
          <p:cNvPr id="1048841" name="Text Box 5"/>
          <p:cNvSpPr txBox="1"/>
          <p:nvPr/>
        </p:nvSpPr>
        <p:spPr>
          <a:xfrm rot="0">
            <a:off x="6934200" y="3581400"/>
            <a:ext cx="2209800" cy="396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sz="2000" lang="en-US">
                <a:solidFill>
                  <a:srgbClr val="000099"/>
                </a:solidFill>
                <a:latin typeface="Rockwell" pitchFamily="18" charset="0"/>
              </a:rPr>
              <a:t>Cardiac muscle</a:t>
            </a:r>
          </a:p>
        </p:txBody>
      </p:sp>
      <p:sp>
        <p:nvSpPr>
          <p:cNvPr id="1048842" name="Text Box 26"/>
          <p:cNvSpPr txBox="1"/>
          <p:nvPr/>
        </p:nvSpPr>
        <p:spPr>
          <a:xfrm rot="0">
            <a:off x="7010400" y="76200"/>
            <a:ext cx="19812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sz="1800" i="1" lang="en-US">
                <a:solidFill>
                  <a:srgbClr val="003399"/>
                </a:solidFill>
                <a:latin typeface="Calibri" pitchFamily="34" charset="0"/>
              </a:rPr>
              <a:t>Muscular tissue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1">
  <p:cSld>
    <p:spTree>
      <p:nvGrpSpPr>
        <p:cNvPr id="237" name=""/>
        <p:cNvGrpSpPr/>
        <p:nvPr/>
      </p:nvGrpSpPr>
      <p:grpSpPr>
        <a:xfrm rot="0">
          <a:off x="0" y="0"/>
          <a:ext cx="0" cy="0"/>
          <a:chOff x="0" y="0"/>
          <a:chExt cx="0" cy="0"/>
        </a:xfrm>
      </p:grpSpPr>
      <p:graphicFrame>
        <p:nvGraphicFramePr>
          <p:cNvPr id="4194305" name=""/>
          <p:cNvGraphicFramePr>
            <a:graphicFrameLocks/>
          </p:cNvGraphicFramePr>
          <p:nvPr/>
        </p:nvGraphicFramePr>
        <p:xfrm rot="0">
          <a:off x="381000" y="955675"/>
          <a:ext cx="8382000" cy="4683125"/>
        </p:xfrm>
        <a:graphic>
          <a:graphicData uri="http://schemas.openxmlformats.org/drawingml/2006/table">
            <a:tbl>
              <a:tblPr/>
              <a:tblGrid>
                <a:gridCol w="2667000"/>
                <a:gridCol w="2743200"/>
                <a:gridCol w="2971800"/>
              </a:tblGrid>
              <a:tr h="508000">
                <a:tc>
                  <a:txBody>
                    <a:bodyPr/>
                    <a:p>
                      <a:pPr algn="ctr" eaLnBrk="1" hangingPunct="1" lvl="0">
                        <a:spcBef>
                          <a:spcPct val="20000"/>
                        </a:spcBef>
                      </a:pPr>
                      <a:r>
                        <a:rPr altLang="en-US" b="1" sz="2000" i="1" lang="en-US">
                          <a:solidFill>
                            <a:srgbClr val="000099"/>
                          </a:solidFill>
                          <a:latin typeface="Rockwell" pitchFamily="18" charset="0"/>
                        </a:rPr>
                        <a:t>Skeletal muscle</a:t>
                      </a:r>
                    </a:p>
                  </a:txBody>
                  <a:tcPr marL="91440" marR="91440" marT="45701" marB="45701" anchor="t" vert="horz">
                    <a:lnL w="28575" cap="flat" cmpd="sng">
                      <a:solidFill>
                        <a:schemeClr val="dk1">
                          <a:alpha val="100000"/>
                        </a:schemeClr>
                      </a:solidFill>
                      <a:prstDash val="solid"/>
                      <a:round/>
                    </a:lnL>
                    <a:lnR w="12700" cap="flat" cmpd="sng">
                      <a:solidFill>
                        <a:schemeClr val="dk1">
                          <a:alpha val="100000"/>
                        </a:schemeClr>
                      </a:solidFill>
                      <a:prstDash val="solid"/>
                      <a:round/>
                    </a:lnR>
                    <a:lnT w="28575" cap="flat" cmpd="sng">
                      <a:solidFill>
                        <a:schemeClr val="dk1">
                          <a:alpha val="100000"/>
                        </a:schemeClr>
                      </a:solidFill>
                      <a:prstDash val="solid"/>
                      <a:round/>
                    </a:lnT>
                    <a:lnB w="12700" cap="flat" cmpd="sng">
                      <a:solidFill>
                        <a:schemeClr val="dk1">
                          <a:alpha val="100000"/>
                        </a:schemeClr>
                      </a:solidFill>
                      <a:prstDash val="solid"/>
                      <a:round/>
                    </a:lnB>
                    <a:solidFill>
                      <a:srgbClr val="C9C9FF"/>
                    </a:solidFill>
                  </a:tcPr>
                </a:tc>
                <a:tc>
                  <a:txBody>
                    <a:bodyPr/>
                    <a:p>
                      <a:pPr algn="ctr" eaLnBrk="1" hangingPunct="1" lvl="0">
                        <a:spcBef>
                          <a:spcPct val="20000"/>
                        </a:spcBef>
                      </a:pPr>
                      <a:r>
                        <a:rPr altLang="en-US" b="1" sz="2000" i="1" lang="en-US">
                          <a:solidFill>
                            <a:srgbClr val="000099"/>
                          </a:solidFill>
                          <a:latin typeface="Rockwell" pitchFamily="18" charset="0"/>
                        </a:rPr>
                        <a:t>Cardiac muscle</a:t>
                      </a:r>
                    </a:p>
                  </a:txBody>
                  <a:tcPr marL="91440" marR="91440" marT="45701" marB="45701" anchor="t" vert="horz">
                    <a:lnL w="12700" cap="flat" cmpd="sng">
                      <a:solidFill>
                        <a:schemeClr val="dk1">
                          <a:alpha val="100000"/>
                        </a:schemeClr>
                      </a:solidFill>
                      <a:prstDash val="solid"/>
                      <a:round/>
                    </a:lnL>
                    <a:lnR w="12700" cap="flat" cmpd="sng">
                      <a:solidFill>
                        <a:schemeClr val="dk1">
                          <a:alpha val="100000"/>
                        </a:schemeClr>
                      </a:solidFill>
                      <a:prstDash val="solid"/>
                      <a:round/>
                    </a:lnR>
                    <a:lnT w="28575" cap="flat" cmpd="sng">
                      <a:solidFill>
                        <a:schemeClr val="dk1">
                          <a:alpha val="100000"/>
                        </a:schemeClr>
                      </a:solidFill>
                      <a:prstDash val="solid"/>
                      <a:round/>
                    </a:lnT>
                    <a:lnB w="12700" cap="flat" cmpd="sng">
                      <a:solidFill>
                        <a:schemeClr val="dk1">
                          <a:alpha val="100000"/>
                        </a:schemeClr>
                      </a:solidFill>
                      <a:prstDash val="solid"/>
                      <a:round/>
                    </a:lnB>
                    <a:solidFill>
                      <a:srgbClr val="C9C9FF"/>
                    </a:solidFill>
                  </a:tcPr>
                </a:tc>
                <a:tc>
                  <a:txBody>
                    <a:bodyPr/>
                    <a:p>
                      <a:pPr algn="ctr" eaLnBrk="1" hangingPunct="1" lvl="0">
                        <a:spcBef>
                          <a:spcPct val="20000"/>
                        </a:spcBef>
                      </a:pPr>
                      <a:r>
                        <a:rPr altLang="en-US" b="1" sz="2000" i="1" lang="en-US">
                          <a:solidFill>
                            <a:srgbClr val="000099"/>
                          </a:solidFill>
                          <a:latin typeface="Rockwell" pitchFamily="18" charset="0"/>
                        </a:rPr>
                        <a:t>Smooth muscle</a:t>
                      </a:r>
                    </a:p>
                  </a:txBody>
                  <a:tcPr marL="91440" marR="91440" marT="45701" marB="45701" anchor="t" vert="horz">
                    <a:lnL w="12700" cap="flat" cmpd="sng">
                      <a:solidFill>
                        <a:schemeClr val="dk1">
                          <a:alpha val="100000"/>
                        </a:schemeClr>
                      </a:solidFill>
                      <a:prstDash val="solid"/>
                      <a:round/>
                    </a:lnL>
                    <a:lnR w="28575" cap="flat" cmpd="sng">
                      <a:solidFill>
                        <a:schemeClr val="dk1">
                          <a:alpha val="100000"/>
                        </a:schemeClr>
                      </a:solidFill>
                      <a:prstDash val="solid"/>
                      <a:round/>
                    </a:lnR>
                    <a:lnT w="28575" cap="flat" cmpd="sng">
                      <a:solidFill>
                        <a:schemeClr val="dk1">
                          <a:alpha val="100000"/>
                        </a:schemeClr>
                      </a:solidFill>
                      <a:prstDash val="solid"/>
                      <a:round/>
                    </a:lnT>
                    <a:lnB w="12700" cap="flat" cmpd="sng">
                      <a:solidFill>
                        <a:schemeClr val="dk1">
                          <a:alpha val="100000"/>
                        </a:schemeClr>
                      </a:solidFill>
                      <a:prstDash val="solid"/>
                      <a:round/>
                    </a:lnB>
                    <a:solidFill>
                      <a:srgbClr val="C9C9FF"/>
                    </a:solidFill>
                  </a:tcPr>
                </a:tc>
              </a:tr>
              <a:tr h="1004887">
                <a:tc>
                  <a:txBody>
                    <a:bodyPr/>
                    <a:p>
                      <a:pPr algn="ctr" eaLnBrk="1" hangingPunct="1" lvl="0">
                        <a:spcBef>
                          <a:spcPct val="20000"/>
                        </a:spcBef>
                      </a:pPr>
                      <a:r>
                        <a:rPr altLang="en-US" b="0" sz="2000" lang="en-US">
                          <a:solidFill>
                            <a:srgbClr val="000099"/>
                          </a:solidFill>
                          <a:latin typeface="Rockwell" pitchFamily="18" charset="0"/>
                        </a:rPr>
                        <a:t>Attached to the skeleton</a:t>
                      </a:r>
                    </a:p>
                  </a:txBody>
                  <a:tcPr marL="91440" marR="91440" marT="45701" marB="45701" anchor="t" vert="horz">
                    <a:lnL w="28575"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 Found in the myocardium of the heart</a:t>
                      </a:r>
                    </a:p>
                  </a:txBody>
                  <a:tcPr marL="91440" marR="91440" marT="45701" marB="45701"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Found in the blood vessels &amp; viscera</a:t>
                      </a:r>
                    </a:p>
                  </a:txBody>
                  <a:tcPr marL="91440" marR="91440" marT="45701" marB="45701" anchor="t" vert="horz">
                    <a:lnL w="12700" cap="flat" cmpd="sng">
                      <a:solidFill>
                        <a:schemeClr val="dk1">
                          <a:alpha val="100000"/>
                        </a:schemeClr>
                      </a:solidFill>
                      <a:prstDash val="solid"/>
                      <a:round/>
                    </a:lnL>
                    <a:lnR w="28575"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r>
              <a:tr h="457200">
                <a:tc>
                  <a:txBody>
                    <a:bodyPr/>
                    <a:p>
                      <a:pPr algn="ctr" eaLnBrk="1" hangingPunct="1" lvl="0">
                        <a:spcBef>
                          <a:spcPct val="20000"/>
                        </a:spcBef>
                      </a:pPr>
                      <a:r>
                        <a:rPr altLang="en-US" b="0" sz="2000" lang="en-US">
                          <a:solidFill>
                            <a:srgbClr val="000099"/>
                          </a:solidFill>
                          <a:latin typeface="Rockwell" pitchFamily="18" charset="0"/>
                        </a:rPr>
                        <a:t> Striated </a:t>
                      </a:r>
                    </a:p>
                  </a:txBody>
                  <a:tcPr marL="91440" marR="91440" marT="45701" marB="45701" anchor="t" vert="horz">
                    <a:lnL w="28575"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 Striated</a:t>
                      </a:r>
                    </a:p>
                  </a:txBody>
                  <a:tcPr marL="91440" marR="91440" marT="45701" marB="45701"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 Non-striated</a:t>
                      </a:r>
                    </a:p>
                  </a:txBody>
                  <a:tcPr marL="91440" marR="91440" marT="45701" marB="45701" anchor="t" vert="horz">
                    <a:lnL w="12700" cap="flat" cmpd="sng">
                      <a:solidFill>
                        <a:schemeClr val="dk1">
                          <a:alpha val="100000"/>
                        </a:schemeClr>
                      </a:solidFill>
                      <a:prstDash val="solid"/>
                      <a:round/>
                    </a:lnL>
                    <a:lnR w="28575"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r>
              <a:tr h="487362">
                <a:tc>
                  <a:txBody>
                    <a:bodyPr/>
                    <a:p>
                      <a:pPr algn="ctr" eaLnBrk="1" hangingPunct="1" lvl="0">
                        <a:spcBef>
                          <a:spcPct val="20000"/>
                        </a:spcBef>
                      </a:pPr>
                      <a:r>
                        <a:rPr altLang="en-US" b="0" sz="2000" lang="en-US">
                          <a:solidFill>
                            <a:srgbClr val="000099"/>
                          </a:solidFill>
                          <a:latin typeface="Rockwell" pitchFamily="18" charset="0"/>
                        </a:rPr>
                        <a:t>Voluntary</a:t>
                      </a:r>
                    </a:p>
                    <a:p>
                      <a:pPr algn="ctr" eaLnBrk="1" hangingPunct="1" lvl="0">
                        <a:spcBef>
                          <a:spcPct val="20000"/>
                        </a:spcBef>
                        <a:buFontTx/>
                        <a:buChar char="-"/>
                      </a:pPr>
                      <a:endParaRPr altLang="en-US" sz="500" lang="en-US">
                        <a:solidFill>
                          <a:srgbClr val="000099"/>
                        </a:solidFill>
                        <a:latin typeface="Rockwell" pitchFamily="18" charset="0"/>
                      </a:endParaRPr>
                    </a:p>
                  </a:txBody>
                  <a:tcPr marL="91440" marR="91440" marT="45701" marB="45701" anchor="t" vert="horz">
                    <a:lnL w="28575"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 Involuntary</a:t>
                      </a:r>
                    </a:p>
                  </a:txBody>
                  <a:tcPr marL="91440" marR="91440" marT="45701" marB="45701"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c>
                  <a:txBody>
                    <a:bodyPr/>
                    <a:p>
                      <a:pPr algn="ctr" eaLnBrk="1" hangingPunct="1" lvl="0">
                        <a:spcBef>
                          <a:spcPct val="20000"/>
                        </a:spcBef>
                      </a:pPr>
                      <a:r>
                        <a:rPr altLang="en-US" b="0" sz="2000" lang="en-US">
                          <a:solidFill>
                            <a:srgbClr val="000099"/>
                          </a:solidFill>
                          <a:latin typeface="Rockwell" pitchFamily="18" charset="0"/>
                        </a:rPr>
                        <a:t>  Involuntary</a:t>
                      </a:r>
                    </a:p>
                  </a:txBody>
                  <a:tcPr marL="91440" marR="91440" marT="45701" marB="45701" anchor="t" vert="horz">
                    <a:lnL w="12700" cap="flat" cmpd="sng">
                      <a:solidFill>
                        <a:schemeClr val="dk1">
                          <a:alpha val="100000"/>
                        </a:schemeClr>
                      </a:solidFill>
                      <a:prstDash val="solid"/>
                      <a:round/>
                    </a:lnL>
                    <a:lnR w="28575"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solidFill>
                      <a:srgbClr val="FFF6D1"/>
                    </a:solidFill>
                  </a:tcPr>
                </a:tc>
              </a:tr>
              <a:tr h="2225675">
                <a:tc>
                  <a:txBody>
                    <a:bodyPr/>
                    <a:p>
                      <a:pPr algn="l" eaLnBrk="1" hangingPunct="1" lvl="0">
                        <a:spcBef>
                          <a:spcPct val="20000"/>
                        </a:spcBef>
                      </a:pPr>
                      <a:endParaRPr altLang="en-US" sz="2000" lang="en-US">
                        <a:solidFill>
                          <a:srgbClr val="000099"/>
                        </a:solidFill>
                        <a:latin typeface="Rockwell" pitchFamily="18" charset="0"/>
                      </a:endParaRPr>
                    </a:p>
                    <a:p>
                      <a:pPr algn="l" eaLnBrk="1" hangingPunct="1" lvl="0">
                        <a:spcBef>
                          <a:spcPct val="20000"/>
                        </a:spcBef>
                      </a:pPr>
                      <a:endParaRPr altLang="en-US" sz="2000" lang="en-US">
                        <a:solidFill>
                          <a:srgbClr val="000099"/>
                        </a:solidFill>
                        <a:latin typeface="Rockwell" pitchFamily="18" charset="0"/>
                      </a:endParaRPr>
                    </a:p>
                    <a:p>
                      <a:pPr algn="l" eaLnBrk="1" hangingPunct="1" lvl="0">
                        <a:spcBef>
                          <a:spcPct val="20000"/>
                        </a:spcBef>
                      </a:pPr>
                      <a:endParaRPr altLang="en-US" sz="2000" lang="en-US">
                        <a:solidFill>
                          <a:srgbClr val="000099"/>
                        </a:solidFill>
                        <a:latin typeface="Rockwell" pitchFamily="18" charset="0"/>
                      </a:endParaRPr>
                    </a:p>
                    <a:p>
                      <a:pPr algn="l" eaLnBrk="1" hangingPunct="1" lvl="0">
                        <a:spcBef>
                          <a:spcPct val="20000"/>
                        </a:spcBef>
                      </a:pPr>
                      <a:endParaRPr altLang="en-US" sz="2000" lang="en-US">
                        <a:solidFill>
                          <a:srgbClr val="000099"/>
                        </a:solidFill>
                        <a:latin typeface="Rockwell" pitchFamily="18" charset="0"/>
                      </a:endParaRPr>
                    </a:p>
                    <a:p>
                      <a:pPr algn="l" eaLnBrk="1" hangingPunct="1" lvl="0">
                        <a:spcBef>
                          <a:spcPct val="20000"/>
                        </a:spcBef>
                      </a:pPr>
                      <a:endParaRPr altLang="en-US" sz="2000" lang="en-US">
                        <a:solidFill>
                          <a:srgbClr val="000099"/>
                        </a:solidFill>
                        <a:latin typeface="Rockwell" pitchFamily="18" charset="0"/>
                      </a:endParaRPr>
                    </a:p>
                    <a:p>
                      <a:pPr algn="l" eaLnBrk="1" hangingPunct="1" lvl="0">
                        <a:spcBef>
                          <a:spcPct val="20000"/>
                        </a:spcBef>
                      </a:pPr>
                      <a:endParaRPr altLang="en-US" sz="2000" lang="en-US">
                        <a:solidFill>
                          <a:srgbClr val="000099"/>
                        </a:solidFill>
                        <a:latin typeface="Rockwell" pitchFamily="18" charset="0"/>
                      </a:endParaRPr>
                    </a:p>
                  </a:txBody>
                  <a:tcPr marL="91440" marR="91440" marT="45701" marB="45701" anchor="t" vert="horz">
                    <a:lnL w="28575"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28575" cap="flat" cmpd="sng">
                      <a:solidFill>
                        <a:schemeClr val="dk1">
                          <a:alpha val="100000"/>
                        </a:schemeClr>
                      </a:solidFill>
                      <a:prstDash val="solid"/>
                      <a:round/>
                    </a:lnB>
                    <a:solidFill>
                      <a:srgbClr val="DDDDFF"/>
                    </a:solidFill>
                  </a:tcPr>
                </a:tc>
                <a:tc>
                  <a:txBody>
                    <a:bodyPr/>
                    <a:p>
                      <a:pPr algn="l" eaLnBrk="1" hangingPunct="1" lvl="0">
                        <a:spcBef>
                          <a:spcPct val="20000"/>
                        </a:spcBef>
                      </a:pPr>
                      <a:endParaRPr altLang="en-US" sz="2000" lang="en-US">
                        <a:solidFill>
                          <a:srgbClr val="000099"/>
                        </a:solidFill>
                        <a:latin typeface="Rockwell" pitchFamily="18" charset="0"/>
                      </a:endParaRPr>
                    </a:p>
                  </a:txBody>
                  <a:tcPr marL="91440" marR="91440" marT="45701" marB="45701" anchor="t" vert="horz">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28575" cap="flat" cmpd="sng">
                      <a:solidFill>
                        <a:schemeClr val="dk1">
                          <a:alpha val="100000"/>
                        </a:schemeClr>
                      </a:solidFill>
                      <a:prstDash val="solid"/>
                      <a:round/>
                    </a:lnB>
                    <a:solidFill>
                      <a:srgbClr val="DDDDFF"/>
                    </a:solidFill>
                  </a:tcPr>
                </a:tc>
                <a:tc>
                  <a:txBody>
                    <a:bodyPr/>
                    <a:p>
                      <a:pPr algn="l" eaLnBrk="1" hangingPunct="1" lvl="0">
                        <a:spcBef>
                          <a:spcPct val="20000"/>
                        </a:spcBef>
                      </a:pPr>
                      <a:endParaRPr altLang="en-US" sz="2000" lang="en-US">
                        <a:solidFill>
                          <a:srgbClr val="000099"/>
                        </a:solidFill>
                        <a:latin typeface="Rockwell" pitchFamily="18" charset="0"/>
                      </a:endParaRPr>
                    </a:p>
                  </a:txBody>
                  <a:tcPr marL="91440" marR="91440" marT="45701" marB="45701" anchor="t" vert="horz">
                    <a:lnL w="12700" cap="flat" cmpd="sng">
                      <a:solidFill>
                        <a:schemeClr val="dk1">
                          <a:alpha val="100000"/>
                        </a:schemeClr>
                      </a:solidFill>
                      <a:prstDash val="solid"/>
                      <a:round/>
                    </a:lnL>
                    <a:lnR w="28575" cap="flat" cmpd="sng">
                      <a:solidFill>
                        <a:schemeClr val="dk1">
                          <a:alpha val="100000"/>
                        </a:schemeClr>
                      </a:solidFill>
                      <a:prstDash val="solid"/>
                      <a:round/>
                    </a:lnR>
                    <a:lnT w="12700" cap="flat" cmpd="sng">
                      <a:solidFill>
                        <a:schemeClr val="dk1">
                          <a:alpha val="100000"/>
                        </a:schemeClr>
                      </a:solidFill>
                      <a:prstDash val="solid"/>
                      <a:round/>
                    </a:lnT>
                    <a:lnB w="28575" cap="flat" cmpd="sng">
                      <a:solidFill>
                        <a:schemeClr val="dk1">
                          <a:alpha val="100000"/>
                        </a:schemeClr>
                      </a:solidFill>
                      <a:prstDash val="solid"/>
                      <a:round/>
                    </a:lnB>
                    <a:solidFill>
                      <a:srgbClr val="DDDDFF"/>
                    </a:solidFill>
                  </a:tcPr>
                </a:tc>
              </a:tr>
            </a:tbl>
          </a:graphicData>
        </a:graphic>
      </p:graphicFrame>
      <p:pic>
        <p:nvPicPr>
          <p:cNvPr id="2097209" name="Picture 36" descr="12-11a copy"/>
          <p:cNvPicPr>
            <a:picLocks/>
          </p:cNvPicPr>
          <p:nvPr/>
        </p:nvPicPr>
        <p:blipFill>
          <a:blip xmlns:r="http://schemas.openxmlformats.org/officeDocument/2006/relationships" r:embed="rId1"/>
          <a:srcRect l="0" t="0" r="0" b="0"/>
          <a:stretch>
            <a:fillRect/>
          </a:stretch>
        </p:blipFill>
        <p:spPr>
          <a:xfrm rot="0">
            <a:off x="457200" y="3581400"/>
            <a:ext cx="2514600" cy="1828800"/>
          </a:xfrm>
          <a:prstGeom prst="rect"/>
          <a:noFill/>
          <a:ln w="9525" cap="flat" cmpd="sng">
            <a:solidFill>
              <a:srgbClr val="B9B9FF">
                <a:alpha val="100000"/>
              </a:srgbClr>
            </a:solidFill>
            <a:prstDash val="solid"/>
            <a:round/>
          </a:ln>
        </p:spPr>
      </p:pic>
      <p:pic>
        <p:nvPicPr>
          <p:cNvPr id="2097210" name="Picture 37" descr="12-11b copy"/>
          <p:cNvPicPr>
            <a:picLocks/>
          </p:cNvPicPr>
          <p:nvPr/>
        </p:nvPicPr>
        <p:blipFill>
          <a:blip xmlns:r="http://schemas.openxmlformats.org/officeDocument/2006/relationships" r:embed="rId2"/>
          <a:srcRect l="0" t="0" r="0" b="0"/>
          <a:stretch>
            <a:fillRect/>
          </a:stretch>
        </p:blipFill>
        <p:spPr>
          <a:xfrm rot="0">
            <a:off x="3124200" y="3581400"/>
            <a:ext cx="2632075" cy="1828800"/>
          </a:xfrm>
          <a:prstGeom prst="rect"/>
          <a:noFill/>
          <a:ln w="9525" cap="flat" cmpd="sng">
            <a:solidFill>
              <a:srgbClr val="B9B9FF">
                <a:alpha val="100000"/>
              </a:srgbClr>
            </a:solidFill>
            <a:prstDash val="solid"/>
            <a:round/>
          </a:ln>
        </p:spPr>
      </p:pic>
      <p:pic>
        <p:nvPicPr>
          <p:cNvPr id="2097211" name="Picture 38" descr="12-11c"/>
          <p:cNvPicPr>
            <a:picLocks/>
          </p:cNvPicPr>
          <p:nvPr/>
        </p:nvPicPr>
        <p:blipFill>
          <a:blip xmlns:r="http://schemas.openxmlformats.org/officeDocument/2006/relationships" r:embed="rId3"/>
          <a:srcRect l="0" t="0" r="0" b="0"/>
          <a:stretch>
            <a:fillRect/>
          </a:stretch>
        </p:blipFill>
        <p:spPr>
          <a:xfrm rot="0">
            <a:off x="5867400" y="3581400"/>
            <a:ext cx="2760662" cy="1824037"/>
          </a:xfrm>
          <a:prstGeom prst="rect"/>
          <a:noFill/>
          <a:ln w="9525" cap="flat" cmpd="sng">
            <a:solidFill>
              <a:srgbClr val="B9B9FF">
                <a:alpha val="100000"/>
              </a:srgbClr>
            </a:solidFill>
            <a:prstDash val="solid"/>
            <a:round/>
          </a:ln>
        </p:spPr>
      </p:pic>
      <p:sp>
        <p:nvSpPr>
          <p:cNvPr id="1048843" name="Text Box 26"/>
          <p:cNvSpPr txBox="1"/>
          <p:nvPr/>
        </p:nvSpPr>
        <p:spPr>
          <a:xfrm rot="0">
            <a:off x="7010400" y="76200"/>
            <a:ext cx="19812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sz="1800" i="1" lang="en-US">
                <a:solidFill>
                  <a:srgbClr val="003399"/>
                </a:solidFill>
                <a:latin typeface="Calibri" pitchFamily="34" charset="0"/>
              </a:rPr>
              <a:t>Muscular tissue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1">
  <p:cSld>
    <p:spTree>
      <p:nvGrpSpPr>
        <p:cNvPr id="238" name=""/>
        <p:cNvGrpSpPr/>
        <p:nvPr/>
      </p:nvGrpSpPr>
      <p:grpSpPr>
        <a:xfrm rot="0">
          <a:off x="0" y="0"/>
          <a:ext cx="0" cy="0"/>
          <a:chOff x="0" y="0"/>
          <a:chExt cx="0" cy="0"/>
        </a:xfrm>
      </p:grpSpPr>
      <p:sp>
        <p:nvSpPr>
          <p:cNvPr id="1048844" name="Text Box 3"/>
          <p:cNvSpPr txBox="1"/>
          <p:nvPr/>
        </p:nvSpPr>
        <p:spPr>
          <a:xfrm rot="0">
            <a:off x="304800" y="990600"/>
            <a:ext cx="8610600" cy="435864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342900" lvl="0" marL="342900">
              <a:spcBef>
                <a:spcPct val="50000"/>
              </a:spcBef>
              <a:buFontTx/>
              <a:buNone/>
            </a:pPr>
            <a:r>
              <a:rPr altLang="en-US" sz="2000" lang="en-US">
                <a:solidFill>
                  <a:srgbClr val="003399"/>
                </a:solidFill>
                <a:latin typeface="Rockwell" pitchFamily="18" charset="0"/>
              </a:rPr>
              <a:t> The nervous tissue is the basic tissue from which the nervous system is made</a:t>
            </a:r>
          </a:p>
          <a:p>
            <a:pPr eaLnBrk="1" hangingPunct="1" indent="-342900" lvl="0" marL="342900">
              <a:spcBef>
                <a:spcPct val="50000"/>
              </a:spcBef>
              <a:buFontTx/>
              <a:buNone/>
            </a:pPr>
            <a:r>
              <a:rPr altLang="en-US" sz="2000" lang="en-US">
                <a:solidFill>
                  <a:srgbClr val="003399"/>
                </a:solidFill>
                <a:latin typeface="Rockwell" pitchFamily="18" charset="0"/>
              </a:rPr>
              <a:t>The nervous system includes:</a:t>
            </a:r>
          </a:p>
          <a:p>
            <a:pPr eaLnBrk="1" hangingPunct="1" indent="-480060" lvl="1" marL="800100">
              <a:spcBef>
                <a:spcPct val="50000"/>
              </a:spcBef>
            </a:pPr>
            <a:r>
              <a:rPr altLang="en-US" b="1" sz="2000" lang="en-US">
                <a:solidFill>
                  <a:srgbClr val="003399"/>
                </a:solidFill>
                <a:latin typeface="Rockwell" pitchFamily="18" charset="0"/>
              </a:rPr>
              <a:t>Central nervous system: </a:t>
            </a:r>
            <a:r>
              <a:rPr altLang="en-US" sz="2000" lang="en-US">
                <a:solidFill>
                  <a:srgbClr val="003399"/>
                </a:solidFill>
                <a:latin typeface="Rockwell" pitchFamily="18" charset="0"/>
              </a:rPr>
              <a:t>the brain and spinal cord</a:t>
            </a:r>
          </a:p>
          <a:p>
            <a:pPr eaLnBrk="1" hangingPunct="1" indent="-480060" lvl="1" marL="800100">
              <a:spcBef>
                <a:spcPct val="50000"/>
              </a:spcBef>
            </a:pPr>
            <a:r>
              <a:rPr altLang="en-US" b="1" sz="2000" lang="en-US">
                <a:solidFill>
                  <a:srgbClr val="003399"/>
                </a:solidFill>
                <a:latin typeface="Rockwell" pitchFamily="18" charset="0"/>
              </a:rPr>
              <a:t>Peripheral nervous system: </a:t>
            </a:r>
            <a:r>
              <a:rPr altLang="en-US" sz="2000" lang="en-US">
                <a:solidFill>
                  <a:srgbClr val="003399"/>
                </a:solidFill>
                <a:latin typeface="Rockwell" pitchFamily="18" charset="0"/>
              </a:rPr>
              <a:t>peripheral nerves (spinal &amp; cranial nerves) and nerve ganglia (spinal ganglion &amp; autonomic ganglion)</a:t>
            </a:r>
          </a:p>
          <a:p>
            <a:pPr eaLnBrk="1" hangingPunct="1" indent="-342900" lvl="0" marL="342900">
              <a:spcBef>
                <a:spcPct val="50000"/>
              </a:spcBef>
              <a:buFontTx/>
              <a:buNone/>
            </a:pPr>
            <a:r>
              <a:rPr altLang="en-US" sz="2000" lang="en-US">
                <a:solidFill>
                  <a:srgbClr val="003399"/>
                </a:solidFill>
                <a:latin typeface="Rockwell" pitchFamily="18" charset="0"/>
              </a:rPr>
              <a:t>Histologically, the nervous tissue is formed of </a:t>
            </a:r>
            <a:r>
              <a:rPr altLang="en-US" b="1" sz="2000" lang="en-US">
                <a:solidFill>
                  <a:srgbClr val="003399"/>
                </a:solidFill>
                <a:latin typeface="Rockwell" pitchFamily="18" charset="0"/>
              </a:rPr>
              <a:t>neurons</a:t>
            </a:r>
            <a:r>
              <a:rPr altLang="en-US" sz="2000" lang="en-US">
                <a:solidFill>
                  <a:srgbClr val="003399"/>
                </a:solidFill>
                <a:latin typeface="Rockwell" pitchFamily="18" charset="0"/>
              </a:rPr>
              <a:t> and </a:t>
            </a:r>
            <a:r>
              <a:rPr altLang="en-US" b="1" sz="2000" lang="en-US">
                <a:solidFill>
                  <a:srgbClr val="003399"/>
                </a:solidFill>
                <a:latin typeface="Rockwell" pitchFamily="18" charset="0"/>
              </a:rPr>
              <a:t>neuroglia</a:t>
            </a:r>
          </a:p>
          <a:p>
            <a:pPr eaLnBrk="1" hangingPunct="1" indent="-342900" lvl="0" marL="342900">
              <a:spcBef>
                <a:spcPct val="50000"/>
              </a:spcBef>
              <a:buFontTx/>
              <a:buNone/>
            </a:pPr>
            <a:r>
              <a:rPr altLang="en-US" b="1" sz="2000" lang="en-US">
                <a:solidFill>
                  <a:srgbClr val="003399"/>
                </a:solidFill>
                <a:latin typeface="Rockwell" pitchFamily="18" charset="0"/>
              </a:rPr>
              <a:t>The Neuron </a:t>
            </a:r>
            <a:r>
              <a:rPr altLang="en-US" sz="2000" lang="en-US">
                <a:solidFill>
                  <a:srgbClr val="003399"/>
                </a:solidFill>
                <a:latin typeface="Rockwell" pitchFamily="18" charset="0"/>
              </a:rPr>
              <a:t>is the structural and functional unit of the nervous system. </a:t>
            </a:r>
          </a:p>
          <a:p>
            <a:pPr eaLnBrk="1" hangingPunct="1" indent="-342900" lvl="0" marL="342900">
              <a:spcBef>
                <a:spcPct val="50000"/>
              </a:spcBef>
              <a:buFontTx/>
              <a:buNone/>
            </a:pPr>
            <a:r>
              <a:rPr altLang="en-US" b="1" sz="2000" lang="en-US">
                <a:solidFill>
                  <a:srgbClr val="003399"/>
                </a:solidFill>
                <a:latin typeface="Rockwell" pitchFamily="18" charset="0"/>
              </a:rPr>
              <a:t>Neuroglia </a:t>
            </a:r>
            <a:r>
              <a:rPr altLang="en-US" sz="2000" lang="en-US">
                <a:solidFill>
                  <a:srgbClr val="003399"/>
                </a:solidFill>
                <a:latin typeface="Rockwell" pitchFamily="18" charset="0"/>
              </a:rPr>
              <a:t>is the interstitial tissue of the nervous system. It consists of large number of branching cells which bind and connect the neurons together and with the blood vessels</a:t>
            </a:r>
          </a:p>
        </p:txBody>
      </p:sp>
      <p:sp>
        <p:nvSpPr>
          <p:cNvPr id="1048845" name="Text Box 2"/>
          <p:cNvSpPr txBox="1"/>
          <p:nvPr/>
        </p:nvSpPr>
        <p:spPr>
          <a:xfrm rot="0">
            <a:off x="457200" y="381000"/>
            <a:ext cx="8229600" cy="457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514350" lvl="0" marL="514350">
              <a:spcBef>
                <a:spcPct val="50000"/>
              </a:spcBef>
            </a:pPr>
            <a:r>
              <a:rPr altLang="en-US" b="1" sz="2400" lang="en-US">
                <a:solidFill>
                  <a:srgbClr val="003399"/>
                </a:solidFill>
                <a:latin typeface="Rockwell" pitchFamily="18" charset="0"/>
              </a:rPr>
              <a:t> </a:t>
            </a:r>
            <a:r>
              <a:rPr altLang="en-US" b="1" sz="2400" lang="en-US" u="sng">
                <a:solidFill>
                  <a:srgbClr val="003399"/>
                </a:solidFill>
                <a:latin typeface="Rockwell" pitchFamily="18" charset="0"/>
              </a:rPr>
              <a:t>Nervous tissue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1">
  <p:cSld>
    <p:spTree>
      <p:nvGrpSpPr>
        <p:cNvPr id="239" name=""/>
        <p:cNvGrpSpPr/>
        <p:nvPr/>
      </p:nvGrpSpPr>
      <p:grpSpPr>
        <a:xfrm rot="0">
          <a:off x="0" y="0"/>
          <a:ext cx="0" cy="0"/>
          <a:chOff x="0" y="0"/>
          <a:chExt cx="0" cy="0"/>
        </a:xfrm>
      </p:grpSpPr>
      <p:pic>
        <p:nvPicPr>
          <p:cNvPr id="2097212" name="Picture 2" descr="untitled8a"/>
          <p:cNvPicPr>
            <a:picLocks/>
          </p:cNvPicPr>
          <p:nvPr/>
        </p:nvPicPr>
        <p:blipFill>
          <a:blip xmlns:r="http://schemas.openxmlformats.org/officeDocument/2006/relationships" r:embed="rId1"/>
          <a:srcRect l="0" t="0" r="0" b="0"/>
          <a:stretch>
            <a:fillRect/>
          </a:stretch>
        </p:blipFill>
        <p:spPr>
          <a:xfrm rot="0">
            <a:off x="2514600" y="304800"/>
            <a:ext cx="4003675" cy="6305550"/>
          </a:xfrm>
          <a:prstGeom prst="rect"/>
          <a:noFill/>
          <a:ln>
            <a:noFill/>
          </a:ln>
        </p:spPr>
      </p:pic>
      <p:sp>
        <p:nvSpPr>
          <p:cNvPr id="1048846" name="Text Box 3"/>
          <p:cNvSpPr txBox="1"/>
          <p:nvPr/>
        </p:nvSpPr>
        <p:spPr>
          <a:xfrm rot="0">
            <a:off x="6324600" y="1752600"/>
            <a:ext cx="2667000" cy="10064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b="1" sz="2000" lang="en-US">
                <a:solidFill>
                  <a:srgbClr val="000099"/>
                </a:solidFill>
                <a:latin typeface="Rockwell" pitchFamily="18" charset="0"/>
              </a:rPr>
              <a:t>Central and peripheral nervous system</a:t>
            </a:r>
          </a:p>
        </p:txBody>
      </p:sp>
      <p:sp>
        <p:nvSpPr>
          <p:cNvPr id="1048847" name="Text Box 26"/>
          <p:cNvSpPr txBox="1"/>
          <p:nvPr/>
        </p:nvSpPr>
        <p:spPr>
          <a:xfrm rot="0">
            <a:off x="7010400" y="76200"/>
            <a:ext cx="19812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sz="1800" i="1" lang="en-US">
                <a:solidFill>
                  <a:srgbClr val="003399"/>
                </a:solidFill>
                <a:latin typeface="Calibri" pitchFamily="34" charset="0"/>
              </a:rPr>
              <a:t>Nervous tissue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1">
  <p:cSld>
    <p:spTree>
      <p:nvGrpSpPr>
        <p:cNvPr id="240" name=""/>
        <p:cNvGrpSpPr/>
        <p:nvPr/>
      </p:nvGrpSpPr>
      <p:grpSpPr>
        <a:xfrm rot="0">
          <a:off x="0" y="0"/>
          <a:ext cx="0" cy="0"/>
          <a:chOff x="0" y="0"/>
          <a:chExt cx="0" cy="0"/>
        </a:xfrm>
      </p:grpSpPr>
      <p:sp>
        <p:nvSpPr>
          <p:cNvPr id="1048848" name="Text Box 2"/>
          <p:cNvSpPr txBox="1"/>
          <p:nvPr/>
        </p:nvSpPr>
        <p:spPr>
          <a:xfrm rot="0">
            <a:off x="304800" y="381000"/>
            <a:ext cx="4392612" cy="457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b="1" sz="2400" lang="en-US" u="sng">
                <a:solidFill>
                  <a:srgbClr val="000099"/>
                </a:solidFill>
                <a:latin typeface="Rockwell" pitchFamily="18" charset="0"/>
              </a:rPr>
              <a:t>The Neuron</a:t>
            </a:r>
          </a:p>
        </p:txBody>
      </p:sp>
      <p:sp>
        <p:nvSpPr>
          <p:cNvPr id="1048849" name="Text Box 3"/>
          <p:cNvSpPr txBox="1"/>
          <p:nvPr/>
        </p:nvSpPr>
        <p:spPr>
          <a:xfrm rot="0">
            <a:off x="381000" y="990600"/>
            <a:ext cx="8229600" cy="17684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sz="2000" lang="en-US">
                <a:solidFill>
                  <a:srgbClr val="008000"/>
                </a:solidFill>
                <a:latin typeface="Rockwell" pitchFamily="18" charset="0"/>
              </a:rPr>
              <a:t>The neuron is the structural and functional unit of the nervous system</a:t>
            </a:r>
          </a:p>
          <a:p>
            <a:pPr eaLnBrk="1" hangingPunct="1" indent="0" lvl="0" marL="0">
              <a:spcBef>
                <a:spcPct val="50000"/>
              </a:spcBef>
              <a:buFontTx/>
              <a:buNone/>
            </a:pPr>
            <a:r>
              <a:rPr altLang="en-US" sz="2000" lang="en-US">
                <a:solidFill>
                  <a:srgbClr val="003399"/>
                </a:solidFill>
                <a:latin typeface="Rockwell" pitchFamily="18" charset="0"/>
              </a:rPr>
              <a:t>The neuron consists of:</a:t>
            </a:r>
          </a:p>
          <a:p>
            <a:pPr eaLnBrk="1" hangingPunct="1" indent="-274320" lvl="1" marL="457200">
              <a:spcBef>
                <a:spcPct val="50000"/>
              </a:spcBef>
              <a:buBlip>
                <a:blip xmlns:r="http://schemas.openxmlformats.org/officeDocument/2006/relationships" r:embed="rId1"/>
              </a:buBlip>
            </a:pPr>
            <a:r>
              <a:rPr altLang="en-US" sz="2000" lang="en-US">
                <a:solidFill>
                  <a:srgbClr val="003399"/>
                </a:solidFill>
                <a:latin typeface="Rockwell" pitchFamily="18" charset="0"/>
              </a:rPr>
              <a:t> Cell body</a:t>
            </a:r>
          </a:p>
          <a:p>
            <a:pPr eaLnBrk="1" hangingPunct="1" indent="-274320" lvl="1" marL="457200">
              <a:spcBef>
                <a:spcPct val="50000"/>
              </a:spcBef>
              <a:buBlip>
                <a:blip xmlns:r="http://schemas.openxmlformats.org/officeDocument/2006/relationships" r:embed="rId1"/>
              </a:buBlip>
            </a:pPr>
            <a:r>
              <a:rPr altLang="en-US" sz="2000" lang="en-US">
                <a:solidFill>
                  <a:srgbClr val="003399"/>
                </a:solidFill>
                <a:latin typeface="Rockwell" pitchFamily="18" charset="0"/>
              </a:rPr>
              <a:t> Processes (Axon &amp; Dendrites)</a:t>
            </a:r>
          </a:p>
        </p:txBody>
      </p:sp>
      <p:sp>
        <p:nvSpPr>
          <p:cNvPr id="1048850" name="Text Box 5"/>
          <p:cNvSpPr txBox="1"/>
          <p:nvPr/>
        </p:nvSpPr>
        <p:spPr>
          <a:xfrm rot="0">
            <a:off x="381000" y="3276600"/>
            <a:ext cx="4392612" cy="4572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eaLnBrk="1" hangingPunct="1" indent="0" lvl="0" marL="0">
              <a:spcBef>
                <a:spcPct val="50000"/>
              </a:spcBef>
              <a:buFontTx/>
              <a:buNone/>
            </a:pPr>
            <a:r>
              <a:rPr altLang="en-US" b="1" sz="2400" lang="en-US" u="sng">
                <a:solidFill>
                  <a:srgbClr val="000099"/>
                </a:solidFill>
                <a:latin typeface="Rockwell" pitchFamily="18" charset="0"/>
              </a:rPr>
              <a:t>The Neuroglia</a:t>
            </a:r>
          </a:p>
        </p:txBody>
      </p:sp>
      <p:sp>
        <p:nvSpPr>
          <p:cNvPr id="1048851" name="Text Box 6"/>
          <p:cNvSpPr txBox="1"/>
          <p:nvPr/>
        </p:nvSpPr>
        <p:spPr>
          <a:xfrm rot="0">
            <a:off x="304800" y="3962400"/>
            <a:ext cx="5010150" cy="2530475"/>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0" charset="0"/>
                <a:ea typeface="Arial" pitchFamily="0" charset="0"/>
                <a:sym typeface="Arial" pitchFamily="0" charset="0"/>
              </a:defRPr>
            </a:lvl5pPr>
          </a:lstStyle>
          <a:p>
            <a:pPr eaLnBrk="1" hangingPunct="1" indent="-342900" lvl="0" marL="342900">
              <a:spcBef>
                <a:spcPct val="50000"/>
              </a:spcBef>
            </a:pPr>
            <a:r>
              <a:rPr altLang="en-US" sz="2000" lang="en-US">
                <a:solidFill>
                  <a:schemeClr val="accent2"/>
                </a:solidFill>
                <a:effectLst>
                  <a:outerShdw algn="tl" blurRad="38100" dir="2700000" dist="38100">
                    <a:srgbClr val="C0C0C0"/>
                  </a:outerShdw>
                </a:effectLst>
                <a:latin typeface="Sylfaen" pitchFamily="18" charset="0"/>
              </a:rPr>
              <a:t> </a:t>
            </a:r>
            <a:r>
              <a:rPr altLang="en-US" sz="2000" lang="en-US">
                <a:solidFill>
                  <a:schemeClr val="accent2"/>
                </a:solidFill>
                <a:latin typeface="Rockwell" pitchFamily="18" charset="0"/>
              </a:rPr>
              <a:t>They are classified into neuroglia proper &amp; other types of neuroglia</a:t>
            </a:r>
          </a:p>
          <a:p>
            <a:pPr eaLnBrk="1" hangingPunct="1" indent="-342900" lvl="0" marL="342900">
              <a:spcBef>
                <a:spcPct val="50000"/>
              </a:spcBef>
            </a:pPr>
            <a:r>
              <a:rPr altLang="en-US" sz="2000" lang="en-US" u="sng">
                <a:solidFill>
                  <a:schemeClr val="accent2"/>
                </a:solidFill>
                <a:latin typeface="Rockwell" pitchFamily="18" charset="0"/>
              </a:rPr>
              <a:t>Neuroglia proper:</a:t>
            </a:r>
          </a:p>
          <a:p>
            <a:pPr eaLnBrk="1" hangingPunct="1" indent="-480060" lvl="1" marL="800100">
              <a:spcBef>
                <a:spcPct val="50000"/>
              </a:spcBef>
              <a:buFontTx/>
              <a:buAutoNum type="arabicPeriod" startAt="1"/>
            </a:pPr>
            <a:r>
              <a:rPr altLang="en-US" sz="2000" lang="en-US">
                <a:solidFill>
                  <a:srgbClr val="008000"/>
                </a:solidFill>
                <a:latin typeface="Rockwell" pitchFamily="18" charset="0"/>
              </a:rPr>
              <a:t>Astrocytes</a:t>
            </a:r>
          </a:p>
          <a:p>
            <a:pPr eaLnBrk="1" hangingPunct="1" indent="-480060" lvl="1" marL="800100">
              <a:spcBef>
                <a:spcPct val="50000"/>
              </a:spcBef>
              <a:buFontTx/>
              <a:buAutoNum type="arabicPeriod" startAt="1"/>
            </a:pPr>
            <a:r>
              <a:rPr altLang="en-US" sz="2000" lang="en-US">
                <a:solidFill>
                  <a:srgbClr val="008000"/>
                </a:solidFill>
                <a:latin typeface="Rockwell" pitchFamily="18" charset="0"/>
              </a:rPr>
              <a:t>Microglia</a:t>
            </a:r>
          </a:p>
          <a:p>
            <a:pPr eaLnBrk="1" hangingPunct="1" indent="-480060" lvl="1" marL="800100">
              <a:spcBef>
                <a:spcPct val="50000"/>
              </a:spcBef>
              <a:buFontTx/>
              <a:buAutoNum type="arabicPeriod" startAt="1"/>
            </a:pPr>
            <a:r>
              <a:rPr altLang="en-US" sz="2000" lang="en-US">
                <a:solidFill>
                  <a:srgbClr val="008000"/>
                </a:solidFill>
                <a:latin typeface="Rockwell" pitchFamily="18" charset="0"/>
              </a:rPr>
              <a:t>Oligodendroglia</a:t>
            </a:r>
          </a:p>
        </p:txBody>
      </p:sp>
      <p:sp>
        <p:nvSpPr>
          <p:cNvPr id="1048852" name="Text Box 26"/>
          <p:cNvSpPr txBox="1"/>
          <p:nvPr/>
        </p:nvSpPr>
        <p:spPr>
          <a:xfrm rot="0">
            <a:off x="7010400" y="76200"/>
            <a:ext cx="19812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0" charset="0"/>
                <a:ea typeface="Arial" pitchFamily="0" charset="0"/>
                <a:sym typeface="Arial" pitchFamily="0"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0" charset="0"/>
                <a:ea typeface="Arial" pitchFamily="0" charset="0"/>
                <a:sym typeface="Arial" pitchFamily="0"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0" charset="0"/>
                <a:ea typeface="Arial" pitchFamily="0" charset="0"/>
                <a:sym typeface="Arial" pitchFamily="0"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0" charset="0"/>
                <a:ea typeface="Arial" pitchFamily="0" charset="0"/>
                <a:sym typeface="Arial" pitchFamily="0" charset="0"/>
              </a:defRPr>
            </a:lvl5pPr>
          </a:lstStyle>
          <a:p>
            <a:pPr algn="ctr" eaLnBrk="1" hangingPunct="1" indent="0" lvl="0" marL="0">
              <a:spcBef>
                <a:spcPct val="50000"/>
              </a:spcBef>
              <a:buFontTx/>
              <a:buNone/>
            </a:pPr>
            <a:r>
              <a:rPr altLang="en-US" sz="1800" i="1" lang="en-US">
                <a:solidFill>
                  <a:srgbClr val="003399"/>
                </a:solidFill>
                <a:latin typeface="Calibri" pitchFamily="34" charset="0"/>
              </a:rPr>
              <a:t>Nervous tissue</a:t>
            </a:r>
          </a:p>
        </p:txBody>
      </p:sp>
      <p:pic>
        <p:nvPicPr>
          <p:cNvPr id="2097213" name="Picture 8" descr="F02_01.jpg"/>
          <p:cNvPicPr>
            <a:picLocks/>
          </p:cNvPicPr>
          <p:nvPr/>
        </p:nvPicPr>
        <p:blipFill>
          <a:blip xmlns:r="http://schemas.openxmlformats.org/officeDocument/2006/relationships" r:embed="rId2"/>
          <a:srcRect l="0" t="0" r="0" b="0"/>
          <a:stretch>
            <a:fillRect/>
          </a:stretch>
        </p:blipFill>
        <p:spPr>
          <a:xfrm rot="0">
            <a:off x="5343525" y="1752600"/>
            <a:ext cx="3571875" cy="3533775"/>
          </a:xfrm>
          <a:prstGeom prst="rect"/>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1">
  <p:cSld>
    <p:spTree>
      <p:nvGrpSpPr>
        <p:cNvPr id="241" name=""/>
        <p:cNvGrpSpPr/>
        <p:nvPr/>
      </p:nvGrpSpPr>
      <p:grpSpPr>
        <a:xfrm rot="0">
          <a:off x="0" y="0"/>
          <a:ext cx="0" cy="0"/>
          <a:chOff x="0" y="0"/>
          <a:chExt cx="0" cy="0"/>
        </a:xfrm>
      </p:grpSpPr>
      <p:sp>
        <p:nvSpPr>
          <p:cNvPr id="1048853" name="WordArt 2"/>
          <p:cNvSpPr/>
          <p:nvPr/>
        </p:nvSpPr>
        <p:spPr>
          <a:xfrm rot="0">
            <a:off x="2514600" y="3581400"/>
            <a:ext cx="4233862" cy="695325"/>
          </a:xfrm>
          <a:prstGeom prst="rect"/>
        </p:spPr>
        <p:txBody>
          <a:bodyPr anchor="t" bIns="45720" fromWordArt="1" lIns="91440" rIns="91440" tIns="45720" vert="horz" wrap="none">
            <a:prstTxWarp prst="textPlain">
              <a:avLst>
                <a:gd fmla="val 50000" name="adj"/>
              </a:avLst>
            </a:prstTxWarp>
          </a:bodyPr>
          <a:p>
            <a:pPr algn="ctr"/>
            <a:r>
              <a:rPr b="0" sz="4400" i="0" kern="10" normalizeH="0" spc="0">
                <a:ln w="28575" cap="flat" cmpd="sng">
                  <a:solidFill>
                    <a:srgbClr val="B9B9FF">
                      <a:alpha val="100000"/>
                    </a:srgbClr>
                  </a:solidFill>
                  <a:prstDash val="solid"/>
                  <a:round/>
                </a:ln>
                <a:gradFill rotWithShape="0">
                  <a:gsLst>
                    <a:gs pos="0">
                      <a:srgbClr val="A603AB">
                        <a:alpha val="100000"/>
                      </a:srgbClr>
                    </a:gs>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gradFill>
                <a:effectLst>
                  <a:outerShdw algn="bl" dir="2699999" dist="35921" kx="2115830" sx="100000" sy="50000">
                    <a:srgbClr val="C0C0C0">
                      <a:alpha val="79999"/>
                    </a:srgbClr>
                  </a:outerShdw>
                </a:effectLst>
                <a:latin typeface="Rockwell Extra Bold"/>
                <a:ea typeface="Rockwell Extra Bold"/>
              </a:rPr>
              <a:t>GOOD LUCK</a:t>
            </a: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Default Color Sche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extraClrScheme>
  </a:extraClrSchemeLst>
</a:theme>
</file>

<file path=ppt/theme/theme3.xml><?xml version="1.0" encoding="utf-8"?>
<a:theme xmlns:a="http://schemas.openxmlformats.org/drawingml/2006/main" name="Office 主题">
  <a:themeElements>
    <a:clrScheme name="Default Color Sche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extraClrScheme>
  </a:extraClrSchemeLst>
</a:theme>
</file>

<file path=ppt/theme/theme4.xml><?xml version="1.0" encoding="utf-8"?>
<a:theme xmlns:a="http://schemas.openxmlformats.org/drawingml/2006/main" name="Office 主题">
  <a:themeElements>
    <a:clrScheme name="Default Color Sche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extraClrScheme>
  </a:extraClrSchemeLst>
</a:theme>
</file>

<file path=ppt/theme/theme5.xml><?xml version="1.0" encoding="utf-8"?>
<a:theme xmlns:a="http://schemas.openxmlformats.org/drawingml/2006/main" name="Office 主题">
  <a:themeElements>
    <a:clrScheme name="Default Color Sche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extraClrScheme>
  </a:extraClrSchemeLst>
</a:theme>
</file>

<file path=ppt/theme/theme6.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7.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Slide 1</dc:title>
  <dc:creator>al-hasoob</dc:creator>
  <cp:lastModifiedBy>Tilahun</cp:lastModifiedBy>
  <dcterms:created xsi:type="dcterms:W3CDTF">2010-03-07T21:00:10Z</dcterms:created>
  <dcterms:modified xsi:type="dcterms:W3CDTF">2025-08-11T19:56:03Z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1555973d88804b629e9d90cc8969e0d8</vt:lpwstr>
  </property>
</Properties>
</file>